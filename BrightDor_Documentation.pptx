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4572"/>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914400"/>
          </a:xfrm>
          <a:prstGeom prst="rect">
            <a:avLst/>
          </a:prstGeom>
          <a:noFill/>
        </p:spPr>
        <p:txBody>
          <a:bodyPr wrap="square">
            <a:spAutoFit/>
          </a:bodyPr>
          <a:lstStyle/>
          <a:p>
            <a:pPr algn="l">
              <a:defRPr sz="5200" b="1">
                <a:solidFill>
                  <a:srgbClr val="C4A574"/>
                </a:solidFill>
                <a:latin typeface="Calibri"/>
              </a:defRPr>
            </a:pPr>
            <a:r>
              <a:t>BRIGHTDOR</a:t>
            </a:r>
          </a:p>
        </p:txBody>
      </p:sp>
      <p:sp>
        <p:nvSpPr>
          <p:cNvPr id="5" name="TextBox 4"/>
          <p:cNvSpPr txBox="1"/>
          <p:nvPr/>
        </p:nvSpPr>
        <p:spPr>
          <a:xfrm>
            <a:off x="1097280" y="2331720"/>
            <a:ext cx="10058400" cy="548640"/>
          </a:xfrm>
          <a:prstGeom prst="rect">
            <a:avLst/>
          </a:prstGeom>
          <a:noFill/>
        </p:spPr>
        <p:txBody>
          <a:bodyPr wrap="square">
            <a:spAutoFit/>
          </a:bodyPr>
          <a:lstStyle/>
          <a:p>
            <a:pPr algn="l">
              <a:defRPr sz="2200" b="0">
                <a:solidFill>
                  <a:srgbClr val="FFFFFF"/>
                </a:solidFill>
                <a:latin typeface="Calibri"/>
              </a:defRPr>
            </a:pPr>
            <a:r>
              <a:t>Documentation Project</a:t>
            </a:r>
          </a:p>
        </p:txBody>
      </p:sp>
      <p:sp>
        <p:nvSpPr>
          <p:cNvPr id="6" name="TextBox 5"/>
          <p:cNvSpPr txBox="1"/>
          <p:nvPr/>
        </p:nvSpPr>
        <p:spPr>
          <a:xfrm>
            <a:off x="1097280" y="3200400"/>
            <a:ext cx="10058400" cy="457200"/>
          </a:xfrm>
          <a:prstGeom prst="rect">
            <a:avLst/>
          </a:prstGeom>
          <a:noFill/>
        </p:spPr>
        <p:txBody>
          <a:bodyPr wrap="square">
            <a:spAutoFit/>
          </a:bodyPr>
          <a:lstStyle/>
          <a:p>
            <a:pPr algn="l">
              <a:defRPr sz="1600" b="0">
                <a:solidFill>
                  <a:srgbClr val="A1A1AA"/>
                </a:solidFill>
                <a:latin typeface="Calibri"/>
              </a:defRPr>
            </a:pPr>
            <a:r>
              <a:t>Marketplace Jasa Pernikahan Premium &amp; Undangan Digital</a:t>
            </a:r>
          </a:p>
        </p:txBody>
      </p:sp>
      <p:sp>
        <p:nvSpPr>
          <p:cNvPr id="7" name="TextBox 6"/>
          <p:cNvSpPr txBox="1"/>
          <p:nvPr/>
        </p:nvSpPr>
        <p:spPr>
          <a:xfrm>
            <a:off x="1097280" y="4754880"/>
            <a:ext cx="10058400" cy="320040"/>
          </a:xfrm>
          <a:prstGeom prst="rect">
            <a:avLst/>
          </a:prstGeom>
          <a:noFill/>
        </p:spPr>
        <p:txBody>
          <a:bodyPr wrap="square">
            <a:spAutoFit/>
          </a:bodyPr>
          <a:lstStyle/>
          <a:p>
            <a:pPr algn="l">
              <a:defRPr sz="1300" b="0">
                <a:solidFill>
                  <a:srgbClr val="A1A1AA"/>
                </a:solidFill>
                <a:latin typeface="Calibri"/>
              </a:defRPr>
            </a:pPr>
            <a:r>
              <a:t>Laravel 11  |  Filament v5  |  SQLite  |  33 Tables</a:t>
            </a:r>
          </a:p>
        </p:txBody>
      </p:sp>
      <p:sp>
        <p:nvSpPr>
          <p:cNvPr id="8" name="TextBox 7"/>
          <p:cNvSpPr txBox="1"/>
          <p:nvPr/>
        </p:nvSpPr>
        <p:spPr>
          <a:xfrm>
            <a:off x="1097280" y="5074920"/>
            <a:ext cx="10058400" cy="320040"/>
          </a:xfrm>
          <a:prstGeom prst="rect">
            <a:avLst/>
          </a:prstGeom>
          <a:noFill/>
        </p:spPr>
        <p:txBody>
          <a:bodyPr wrap="square">
            <a:spAutoFit/>
          </a:bodyPr>
          <a:lstStyle/>
          <a:p>
            <a:pPr algn="l">
              <a:defRPr sz="1300" b="0">
                <a:solidFill>
                  <a:srgbClr val="A1A1AA"/>
                </a:solidFill>
                <a:latin typeface="Calibri"/>
              </a:defRPr>
            </a:pPr>
            <a:r>
              <a:t>Teknologi Informasi — 2026</a:t>
            </a:r>
          </a:p>
        </p:txBody>
      </p:sp>
      <p:sp>
        <p:nvSpPr>
          <p:cNvPr id="9" name="Rectangle 8"/>
          <p:cNvSpPr/>
          <p:nvPr/>
        </p:nvSpPr>
        <p:spPr>
          <a:xfrm>
            <a:off x="10515600" y="0"/>
            <a:ext cx="1676095" cy="68580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0" y="2926080"/>
            <a:ext cx="1463040" cy="548640"/>
          </a:xfrm>
          <a:prstGeom prst="rect">
            <a:avLst/>
          </a:prstGeom>
          <a:noFill/>
        </p:spPr>
        <p:txBody>
          <a:bodyPr wrap="square">
            <a:spAutoFit/>
          </a:bodyPr>
          <a:lstStyle/>
          <a:p>
            <a:pPr algn="ctr">
              <a:defRPr sz="2800" b="1">
                <a:solidFill>
                  <a:srgbClr val="141414"/>
                </a:solidFill>
                <a:latin typeface="Calibri"/>
              </a:defRPr>
            </a:pPr>
            <a: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BrightDor</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Marketplace Jasa Pernikahan Premium &amp; Undangan Digital</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2 / 14</a:t>
            </a:r>
          </a:p>
        </p:txBody>
      </p:sp>
      <p:sp>
        <p:nvSpPr>
          <p:cNvPr id="8" name="Rounded Rectangle 7"/>
          <p:cNvSpPr/>
          <p:nvPr/>
        </p:nvSpPr>
        <p:spPr>
          <a:xfrm>
            <a:off x="731520" y="1371600"/>
            <a:ext cx="10698480" cy="16459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463040"/>
            <a:ext cx="4572000" cy="365760"/>
          </a:xfrm>
          <a:prstGeom prst="rect">
            <a:avLst/>
          </a:prstGeom>
          <a:noFill/>
        </p:spPr>
        <p:txBody>
          <a:bodyPr wrap="square">
            <a:spAutoFit/>
          </a:bodyPr>
          <a:lstStyle/>
          <a:p>
            <a:pPr algn="l">
              <a:defRPr sz="1800" b="1">
                <a:solidFill>
                  <a:srgbClr val="141414"/>
                </a:solidFill>
                <a:latin typeface="Calibri"/>
              </a:defRPr>
            </a:pPr>
            <a:r>
              <a:t>Tentang BrightDor</a:t>
            </a:r>
          </a:p>
        </p:txBody>
      </p:sp>
      <p:sp>
        <p:nvSpPr>
          <p:cNvPr id="10" name="TextBox 9"/>
          <p:cNvSpPr txBox="1"/>
          <p:nvPr/>
        </p:nvSpPr>
        <p:spPr>
          <a:xfrm>
            <a:off x="1005840" y="1874519"/>
            <a:ext cx="10241280" cy="1005840"/>
          </a:xfrm>
          <a:prstGeom prst="rect">
            <a:avLst/>
          </a:prstGeom>
          <a:noFill/>
        </p:spPr>
        <p:txBody>
          <a:bodyPr wrap="square">
            <a:spAutoFit/>
          </a:bodyPr>
          <a:lstStyle/>
          <a:p>
            <a:pPr algn="l">
              <a:defRPr sz="1300" b="0">
                <a:solidFill>
                  <a:srgbClr val="52525B"/>
                </a:solidFill>
                <a:latin typeface="Calibri"/>
              </a:defRPr>
            </a:pPr>
            <a:r>
              <a:t>BrightDor adalah platform digital yang menghubungkan pasangan pengantin (couple) dengan vendor jasa pernikahan premium di Indonesia. Platform ini menyediakan marketplace lengkap untuk layanan pernikahan beserta fitur undangan digital interaktif dengan sistem RSVP online.</a:t>
            </a:r>
          </a:p>
        </p:txBody>
      </p:sp>
      <p:sp>
        <p:nvSpPr>
          <p:cNvPr id="11" name="Rounded Rectangle 10"/>
          <p:cNvSpPr/>
          <p:nvPr/>
        </p:nvSpPr>
        <p:spPr>
          <a:xfrm>
            <a:off x="731520" y="329184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9184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29000"/>
            <a:ext cx="3108960" cy="320040"/>
          </a:xfrm>
          <a:prstGeom prst="rect">
            <a:avLst/>
          </a:prstGeom>
          <a:noFill/>
        </p:spPr>
        <p:txBody>
          <a:bodyPr wrap="square">
            <a:spAutoFit/>
          </a:bodyPr>
          <a:lstStyle/>
          <a:p>
            <a:pPr algn="l">
              <a:defRPr sz="1300" b="1">
                <a:solidFill>
                  <a:srgbClr val="141414"/>
                </a:solidFill>
                <a:latin typeface="Calibri"/>
              </a:defRPr>
            </a:pPr>
            <a:r>
              <a:t>Vendor Management</a:t>
            </a:r>
          </a:p>
        </p:txBody>
      </p:sp>
      <p:sp>
        <p:nvSpPr>
          <p:cNvPr id="14" name="TextBox 13"/>
          <p:cNvSpPr txBox="1"/>
          <p:nvPr/>
        </p:nvSpPr>
        <p:spPr>
          <a:xfrm>
            <a:off x="868680" y="3794760"/>
            <a:ext cx="3108960" cy="502920"/>
          </a:xfrm>
          <a:prstGeom prst="rect">
            <a:avLst/>
          </a:prstGeom>
          <a:noFill/>
        </p:spPr>
        <p:txBody>
          <a:bodyPr wrap="square">
            <a:spAutoFit/>
          </a:bodyPr>
          <a:lstStyle/>
          <a:p>
            <a:pPr algn="l">
              <a:defRPr sz="1100" b="0">
                <a:solidFill>
                  <a:srgbClr val="52525B"/>
                </a:solidFill>
                <a:latin typeface="Calibri"/>
              </a:defRPr>
            </a:pPr>
            <a:r>
              <a:t>Approval, kategori, &amp; verifikasi vendor</a:t>
            </a:r>
          </a:p>
        </p:txBody>
      </p:sp>
      <p:sp>
        <p:nvSpPr>
          <p:cNvPr id="15" name="Rounded Rectangle 14"/>
          <p:cNvSpPr/>
          <p:nvPr/>
        </p:nvSpPr>
        <p:spPr>
          <a:xfrm>
            <a:off x="4389120" y="329184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329184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429000"/>
            <a:ext cx="3108960" cy="320040"/>
          </a:xfrm>
          <a:prstGeom prst="rect">
            <a:avLst/>
          </a:prstGeom>
          <a:noFill/>
        </p:spPr>
        <p:txBody>
          <a:bodyPr wrap="square">
            <a:spAutoFit/>
          </a:bodyPr>
          <a:lstStyle/>
          <a:p>
            <a:pPr algn="l">
              <a:defRPr sz="1300" b="1">
                <a:solidFill>
                  <a:srgbClr val="141414"/>
                </a:solidFill>
                <a:latin typeface="Calibri"/>
              </a:defRPr>
            </a:pPr>
            <a:r>
              <a:t>Marketplace Jasa</a:t>
            </a:r>
          </a:p>
        </p:txBody>
      </p:sp>
      <p:sp>
        <p:nvSpPr>
          <p:cNvPr id="18" name="TextBox 17"/>
          <p:cNvSpPr txBox="1"/>
          <p:nvPr/>
        </p:nvSpPr>
        <p:spPr>
          <a:xfrm>
            <a:off x="4526280" y="3794760"/>
            <a:ext cx="3108960" cy="502920"/>
          </a:xfrm>
          <a:prstGeom prst="rect">
            <a:avLst/>
          </a:prstGeom>
          <a:noFill/>
        </p:spPr>
        <p:txBody>
          <a:bodyPr wrap="square">
            <a:spAutoFit/>
          </a:bodyPr>
          <a:lstStyle/>
          <a:p>
            <a:pPr algn="l">
              <a:defRPr sz="1100" b="0">
                <a:solidFill>
                  <a:srgbClr val="52525B"/>
                </a:solidFill>
                <a:latin typeface="Calibri"/>
              </a:defRPr>
            </a:pPr>
            <a:r>
              <a:t>Katalog layanan pernikahan premium</a:t>
            </a:r>
          </a:p>
        </p:txBody>
      </p:sp>
      <p:sp>
        <p:nvSpPr>
          <p:cNvPr id="19" name="Rounded Rectangle 18"/>
          <p:cNvSpPr/>
          <p:nvPr/>
        </p:nvSpPr>
        <p:spPr>
          <a:xfrm>
            <a:off x="8046720" y="329184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329184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3429000"/>
            <a:ext cx="3108960" cy="320040"/>
          </a:xfrm>
          <a:prstGeom prst="rect">
            <a:avLst/>
          </a:prstGeom>
          <a:noFill/>
        </p:spPr>
        <p:txBody>
          <a:bodyPr wrap="square">
            <a:spAutoFit/>
          </a:bodyPr>
          <a:lstStyle/>
          <a:p>
            <a:pPr algn="l">
              <a:defRPr sz="1300" b="1">
                <a:solidFill>
                  <a:srgbClr val="141414"/>
                </a:solidFill>
                <a:latin typeface="Calibri"/>
              </a:defRPr>
            </a:pPr>
            <a:r>
              <a:t>Booking &amp; Order</a:t>
            </a:r>
          </a:p>
        </p:txBody>
      </p:sp>
      <p:sp>
        <p:nvSpPr>
          <p:cNvPr id="22" name="TextBox 21"/>
          <p:cNvSpPr txBox="1"/>
          <p:nvPr/>
        </p:nvSpPr>
        <p:spPr>
          <a:xfrm>
            <a:off x="8183880" y="3794760"/>
            <a:ext cx="3108960" cy="502920"/>
          </a:xfrm>
          <a:prstGeom prst="rect">
            <a:avLst/>
          </a:prstGeom>
          <a:noFill/>
        </p:spPr>
        <p:txBody>
          <a:bodyPr wrap="square">
            <a:spAutoFit/>
          </a:bodyPr>
          <a:lstStyle/>
          <a:p>
            <a:pPr algn="l">
              <a:defRPr sz="1100" b="0">
                <a:solidFill>
                  <a:srgbClr val="52525B"/>
                </a:solidFill>
                <a:latin typeface="Calibri"/>
              </a:defRPr>
            </a:pPr>
            <a:r>
              <a:t>Sistem pemesanan &amp; tracking status</a:t>
            </a:r>
          </a:p>
        </p:txBody>
      </p:sp>
      <p:sp>
        <p:nvSpPr>
          <p:cNvPr id="23" name="Rounded Rectangle 22"/>
          <p:cNvSpPr/>
          <p:nvPr/>
        </p:nvSpPr>
        <p:spPr>
          <a:xfrm>
            <a:off x="731520" y="475488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75488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892040"/>
            <a:ext cx="3108960" cy="320040"/>
          </a:xfrm>
          <a:prstGeom prst="rect">
            <a:avLst/>
          </a:prstGeom>
          <a:noFill/>
        </p:spPr>
        <p:txBody>
          <a:bodyPr wrap="square">
            <a:spAutoFit/>
          </a:bodyPr>
          <a:lstStyle/>
          <a:p>
            <a:pPr algn="l">
              <a:defRPr sz="1300" b="1">
                <a:solidFill>
                  <a:srgbClr val="141414"/>
                </a:solidFill>
                <a:latin typeface="Calibri"/>
              </a:defRPr>
            </a:pPr>
            <a:r>
              <a:t>Undangan Digital</a:t>
            </a:r>
          </a:p>
        </p:txBody>
      </p:sp>
      <p:sp>
        <p:nvSpPr>
          <p:cNvPr id="26" name="TextBox 25"/>
          <p:cNvSpPr txBox="1"/>
          <p:nvPr/>
        </p:nvSpPr>
        <p:spPr>
          <a:xfrm>
            <a:off x="868680" y="5257800"/>
            <a:ext cx="3108960" cy="502920"/>
          </a:xfrm>
          <a:prstGeom prst="rect">
            <a:avLst/>
          </a:prstGeom>
          <a:noFill/>
        </p:spPr>
        <p:txBody>
          <a:bodyPr wrap="square">
            <a:spAutoFit/>
          </a:bodyPr>
          <a:lstStyle/>
          <a:p>
            <a:pPr algn="l">
              <a:defRPr sz="1100" b="0">
                <a:solidFill>
                  <a:srgbClr val="52525B"/>
                </a:solidFill>
                <a:latin typeface="Calibri"/>
              </a:defRPr>
            </a:pPr>
            <a:r>
              <a:t>Template premium + RSVP online</a:t>
            </a:r>
          </a:p>
        </p:txBody>
      </p:sp>
      <p:sp>
        <p:nvSpPr>
          <p:cNvPr id="27" name="Rounded Rectangle 26"/>
          <p:cNvSpPr/>
          <p:nvPr/>
        </p:nvSpPr>
        <p:spPr>
          <a:xfrm>
            <a:off x="4389120" y="475488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89120" y="475488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4892040"/>
            <a:ext cx="3108960" cy="320040"/>
          </a:xfrm>
          <a:prstGeom prst="rect">
            <a:avLst/>
          </a:prstGeom>
          <a:noFill/>
        </p:spPr>
        <p:txBody>
          <a:bodyPr wrap="square">
            <a:spAutoFit/>
          </a:bodyPr>
          <a:lstStyle/>
          <a:p>
            <a:pPr algn="l">
              <a:defRPr sz="1300" b="1">
                <a:solidFill>
                  <a:srgbClr val="141414"/>
                </a:solidFill>
                <a:latin typeface="Calibri"/>
              </a:defRPr>
            </a:pPr>
            <a:r>
              <a:t>Sistem Keuangan</a:t>
            </a:r>
          </a:p>
        </p:txBody>
      </p:sp>
      <p:sp>
        <p:nvSpPr>
          <p:cNvPr id="30" name="TextBox 29"/>
          <p:cNvSpPr txBox="1"/>
          <p:nvPr/>
        </p:nvSpPr>
        <p:spPr>
          <a:xfrm>
            <a:off x="4526280" y="5257800"/>
            <a:ext cx="3108960" cy="502920"/>
          </a:xfrm>
          <a:prstGeom prst="rect">
            <a:avLst/>
          </a:prstGeom>
          <a:noFill/>
        </p:spPr>
        <p:txBody>
          <a:bodyPr wrap="square">
            <a:spAutoFit/>
          </a:bodyPr>
          <a:lstStyle/>
          <a:p>
            <a:pPr algn="l">
              <a:defRPr sz="1100" b="0">
                <a:solidFill>
                  <a:srgbClr val="52525B"/>
                </a:solidFill>
                <a:latin typeface="Calibri"/>
              </a:defRPr>
            </a:pPr>
            <a:r>
              <a:t>Transaksi, komisi, &amp; payout vendor</a:t>
            </a:r>
          </a:p>
        </p:txBody>
      </p:sp>
      <p:sp>
        <p:nvSpPr>
          <p:cNvPr id="31" name="Rounded Rectangle 30"/>
          <p:cNvSpPr/>
          <p:nvPr/>
        </p:nvSpPr>
        <p:spPr>
          <a:xfrm>
            <a:off x="8046720" y="4754880"/>
            <a:ext cx="3383280" cy="11430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20" y="4754880"/>
            <a:ext cx="3383280" cy="4572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80" y="4892040"/>
            <a:ext cx="3108960" cy="320040"/>
          </a:xfrm>
          <a:prstGeom prst="rect">
            <a:avLst/>
          </a:prstGeom>
          <a:noFill/>
        </p:spPr>
        <p:txBody>
          <a:bodyPr wrap="square">
            <a:spAutoFit/>
          </a:bodyPr>
          <a:lstStyle/>
          <a:p>
            <a:pPr algn="l">
              <a:defRPr sz="1300" b="1">
                <a:solidFill>
                  <a:srgbClr val="141414"/>
                </a:solidFill>
                <a:latin typeface="Calibri"/>
              </a:defRPr>
            </a:pPr>
            <a:r>
              <a:t>Multi Bahasa</a:t>
            </a:r>
          </a:p>
        </p:txBody>
      </p:sp>
      <p:sp>
        <p:nvSpPr>
          <p:cNvPr id="34" name="TextBox 33"/>
          <p:cNvSpPr txBox="1"/>
          <p:nvPr/>
        </p:nvSpPr>
        <p:spPr>
          <a:xfrm>
            <a:off x="8183880" y="5257800"/>
            <a:ext cx="3108960" cy="502920"/>
          </a:xfrm>
          <a:prstGeom prst="rect">
            <a:avLst/>
          </a:prstGeom>
          <a:noFill/>
        </p:spPr>
        <p:txBody>
          <a:bodyPr wrap="square">
            <a:spAutoFit/>
          </a:bodyPr>
          <a:lstStyle/>
          <a:p>
            <a:pPr algn="l">
              <a:defRPr sz="1100" b="0">
                <a:solidFill>
                  <a:srgbClr val="52525B"/>
                </a:solidFill>
                <a:latin typeface="Calibri"/>
              </a:defRPr>
            </a:pPr>
            <a:r>
              <a:t>8 bahasa termasuk Indonesia &amp; Arab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Dashboard Admin</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Panel statistik utama untuk monitoring seluruh aktivitas marketplace</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3 / 14</a:t>
            </a:r>
          </a:p>
        </p:txBody>
      </p:sp>
      <p:pic>
        <p:nvPicPr>
          <p:cNvPr id="8" name="Picture 7" descr="dashboard.png"/>
          <p:cNvPicPr>
            <a:picLocks noChangeAspect="1"/>
          </p:cNvPicPr>
          <p:nvPr/>
        </p:nvPicPr>
        <p:blipFill>
          <a:blip r:embed="rId2"/>
          <a:stretch>
            <a:fillRect/>
          </a:stretch>
        </p:blipFill>
        <p:spPr>
          <a:xfrm>
            <a:off x="457200" y="1325880"/>
            <a:ext cx="5037644" cy="530352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C4A574"/>
                </a:solidFill>
                <a:latin typeface="Calibri"/>
              </a:defRPr>
            </a:pPr>
            <a:r>
              <a:t>  Fitur Dashboard</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800"/>
              </a:spcAft>
              <a:defRPr sz="1100">
                <a:solidFill>
                  <a:srgbClr val="2A2A2A"/>
                </a:solidFill>
                <a:latin typeface="Calibri"/>
              </a:defRPr>
            </a:pPr>
            <a:r>
              <a:t>  •  5 kartu statistik: Vendors, Bookings, Revenue, Couples, Undangan</a:t>
            </a:r>
          </a:p>
          <a:p>
            <a:pPr>
              <a:spcAft>
                <a:spcPts val="800"/>
              </a:spcAft>
              <a:defRPr sz="1100">
                <a:solidFill>
                  <a:srgbClr val="2A2A2A"/>
                </a:solidFill>
                <a:latin typeface="Calibri"/>
              </a:defRPr>
            </a:pPr>
            <a:r>
              <a:t>  •  Revenue chart 6 bulan (line chart)</a:t>
            </a:r>
          </a:p>
          <a:p>
            <a:pPr>
              <a:spcAft>
                <a:spcPts val="800"/>
              </a:spcAft>
              <a:defRPr sz="1100">
                <a:solidFill>
                  <a:srgbClr val="2A2A2A"/>
                </a:solidFill>
                <a:latin typeface="Calibri"/>
              </a:defRPr>
            </a:pPr>
            <a:r>
              <a:t>  •  Bookings by kategori (doughnut chart)</a:t>
            </a:r>
          </a:p>
          <a:p>
            <a:pPr>
              <a:spcAft>
                <a:spcPts val="800"/>
              </a:spcAft>
              <a:defRPr sz="1100">
                <a:solidFill>
                  <a:srgbClr val="2A2A2A"/>
                </a:solidFill>
                <a:latin typeface="Calibri"/>
              </a:defRPr>
            </a:pPr>
            <a:r>
              <a:t>  •  Quick Actions: shortcut ke halaman penting</a:t>
            </a:r>
          </a:p>
          <a:p>
            <a:pPr>
              <a:spcAft>
                <a:spcPts val="800"/>
              </a:spcAft>
              <a:defRPr sz="1100">
                <a:solidFill>
                  <a:srgbClr val="2A2A2A"/>
                </a:solidFill>
                <a:latin typeface="Calibri"/>
              </a:defRPr>
            </a:pPr>
            <a:r>
              <a:t>  •  Recent Activities: vendor pending &amp; booking terbaru</a:t>
            </a:r>
          </a:p>
          <a:p>
            <a:pPr>
              <a:spcAft>
                <a:spcPts val="800"/>
              </a:spcAft>
              <a:defRPr sz="1100">
                <a:solidFill>
                  <a:srgbClr val="2A2A2A"/>
                </a:solidFill>
                <a:latin typeface="Calibri"/>
              </a:defRPr>
            </a:pPr>
            <a:r>
              <a:t>  •  Top Navigation dengan global search (Cmd+K)</a:t>
            </a:r>
          </a:p>
          <a:p>
            <a:pPr>
              <a:spcAft>
                <a:spcPts val="800"/>
              </a:spcAft>
              <a:defRPr sz="1100">
                <a:solidFill>
                  <a:srgbClr val="2A2A2A"/>
                </a:solidFill>
                <a:latin typeface="Calibri"/>
              </a:defRPr>
            </a:pPr>
            <a:r>
              <a:t>  •  Warna tema: Putih, Cream (#C4A574), Hitam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Manajemen Vendor</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Approval, kategori, verifikasi, dan pengelolaan vendor pernikahan</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4 / 14</a:t>
            </a:r>
          </a:p>
        </p:txBody>
      </p:sp>
      <p:pic>
        <p:nvPicPr>
          <p:cNvPr id="8" name="Picture 7" descr="vendors.png"/>
          <p:cNvPicPr>
            <a:picLocks noChangeAspect="1"/>
          </p:cNvPicPr>
          <p:nvPr/>
        </p:nvPicPr>
        <p:blipFill>
          <a:blip r:embed="rId2"/>
          <a:stretch>
            <a:fillRect/>
          </a:stretch>
        </p:blipFill>
        <p:spPr>
          <a:xfrm>
            <a:off x="457200" y="1325880"/>
            <a:ext cx="7772400" cy="526796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141414"/>
                </a:solidFill>
                <a:latin typeface="Calibri"/>
              </a:defRPr>
            </a:pPr>
            <a:r>
              <a:t>  Fitur Vendor</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600"/>
              </a:spcAft>
              <a:defRPr sz="1100">
                <a:solidFill>
                  <a:srgbClr val="2A2A2A"/>
                </a:solidFill>
                <a:latin typeface="Calibri"/>
              </a:defRPr>
            </a:pPr>
            <a:r>
              <a:t>  •  Tabel dengan kolom: nama, pemilik, kategori, kota, rating, status</a:t>
            </a:r>
          </a:p>
          <a:p>
            <a:pPr>
              <a:spcAft>
                <a:spcPts val="600"/>
              </a:spcAft>
              <a:defRPr sz="1100">
                <a:solidFill>
                  <a:srgbClr val="2A2A2A"/>
                </a:solidFill>
                <a:latin typeface="Calibri"/>
              </a:defRPr>
            </a:pPr>
            <a:r>
              <a:t>  •  Badge status: Pending (kuning), Approved (hijau), Rejected (merah)</a:t>
            </a:r>
          </a:p>
          <a:p>
            <a:pPr>
              <a:spcAft>
                <a:spcPts val="600"/>
              </a:spcAft>
              <a:defRPr sz="1100">
                <a:solidFill>
                  <a:srgbClr val="2A2A2A"/>
                </a:solidFill>
                <a:latin typeface="Calibri"/>
              </a:defRPr>
            </a:pPr>
            <a:r>
              <a:t>  •  Aksi: Approve, Reject, Suspend dengan konfirmasi</a:t>
            </a:r>
          </a:p>
          <a:p>
            <a:pPr>
              <a:spcAft>
                <a:spcPts val="600"/>
              </a:spcAft>
              <a:defRPr sz="1100">
                <a:solidFill>
                  <a:srgbClr val="2A2A2A"/>
                </a:solidFill>
                <a:latin typeface="Calibri"/>
              </a:defRPr>
            </a:pPr>
            <a:r>
              <a:t>  •  Filter &amp; search untuk pencarian vendor</a:t>
            </a:r>
          </a:p>
          <a:p>
            <a:pPr>
              <a:spcAft>
                <a:spcPts val="600"/>
              </a:spcAft>
              <a:defRPr sz="1100">
                <a:solidFill>
                  <a:srgbClr val="2A2A2A"/>
                </a:solidFill>
                <a:latin typeface="Calibri"/>
              </a:defRPr>
            </a:pPr>
            <a:r>
              <a:t>  •  Vendor Categories: 10 kategori (Venue, Catering, Dekorasi, dll)</a:t>
            </a:r>
          </a:p>
          <a:p>
            <a:pPr>
              <a:spcAft>
                <a:spcPts val="600"/>
              </a:spcAft>
              <a:defRPr sz="1100">
                <a:solidFill>
                  <a:srgbClr val="2A2A2A"/>
                </a:solidFill>
                <a:latin typeface="Calibri"/>
              </a:defRPr>
            </a:pPr>
            <a:r>
              <a:t>  •  Form profil usaha: nama, deskripsi, lokasi, kontak, bank</a:t>
            </a:r>
          </a:p>
          <a:p>
            <a:pPr>
              <a:spcAft>
                <a:spcPts val="600"/>
              </a:spcAft>
              <a:defRPr sz="1100">
                <a:solidFill>
                  <a:srgbClr val="2A2A2A"/>
                </a:solidFill>
                <a:latin typeface="Calibri"/>
              </a:defRPr>
            </a:pPr>
            <a:r>
              <a:t>  •  Rating &amp; verifikasi vendor</a:t>
            </a:r>
          </a:p>
          <a:p>
            <a:pPr>
              <a:spcAft>
                <a:spcPts val="600"/>
              </a:spcAft>
              <a:defRPr sz="1100">
                <a:solidFill>
                  <a:srgbClr val="2A2A2A"/>
                </a:solidFill>
                <a:latin typeface="Calibri"/>
              </a:defRPr>
            </a:pPr>
            <a:r>
              <a:t>  •  Badge warning untuk vendor pending di navigasi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Booking &amp; Order</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Sistem pemesanan layanan vendor dengan tracking status real-time</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5 / 14</a:t>
            </a:r>
          </a:p>
        </p:txBody>
      </p:sp>
      <p:pic>
        <p:nvPicPr>
          <p:cNvPr id="8" name="Picture 7" descr="bookings.png"/>
          <p:cNvPicPr>
            <a:picLocks noChangeAspect="1"/>
          </p:cNvPicPr>
          <p:nvPr/>
        </p:nvPicPr>
        <p:blipFill>
          <a:blip r:embed="rId2"/>
          <a:stretch>
            <a:fillRect/>
          </a:stretch>
        </p:blipFill>
        <p:spPr>
          <a:xfrm>
            <a:off x="457200" y="1325880"/>
            <a:ext cx="7772400" cy="485775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FFFFFF"/>
                </a:solidFill>
                <a:latin typeface="Calibri"/>
              </a:defRPr>
            </a:pPr>
            <a:r>
              <a:t>  Fitur Booking</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600"/>
              </a:spcAft>
              <a:defRPr sz="1100">
                <a:solidFill>
                  <a:srgbClr val="2A2A2A"/>
                </a:solidFill>
                <a:latin typeface="Calibri"/>
              </a:defRPr>
            </a:pPr>
            <a:r>
              <a:t>  •  Status flow: Pending → Confirmed → On Progress → Completed</a:t>
            </a:r>
          </a:p>
          <a:p>
            <a:pPr>
              <a:spcAft>
                <a:spcPts val="600"/>
              </a:spcAft>
              <a:defRPr sz="1100">
                <a:solidFill>
                  <a:srgbClr val="2A2A2A"/>
                </a:solidFill>
                <a:latin typeface="Calibri"/>
              </a:defRPr>
            </a:pPr>
            <a:r>
              <a:t>  •  Opsi: Cancel / Refund dengan alasan</a:t>
            </a:r>
          </a:p>
          <a:p>
            <a:pPr>
              <a:spcAft>
                <a:spcPts val="600"/>
              </a:spcAft>
              <a:defRPr sz="1100">
                <a:solidFill>
                  <a:srgbClr val="2A2A2A"/>
                </a:solidFill>
                <a:latin typeface="Calibri"/>
              </a:defRPr>
            </a:pPr>
            <a:r>
              <a:t>  •  Data acara: tanggal, waktu, lokasi, jumlah tamu</a:t>
            </a:r>
          </a:p>
          <a:p>
            <a:pPr>
              <a:spcAft>
                <a:spcPts val="600"/>
              </a:spcAft>
              <a:defRPr sz="1100">
                <a:solidFill>
                  <a:srgbClr val="2A2A2A"/>
                </a:solidFill>
                <a:latin typeface="Calibri"/>
              </a:defRPr>
            </a:pPr>
            <a:r>
              <a:t>  •  Komponen keuangan: subtotal, diskon, admin fee, komisi, total</a:t>
            </a:r>
          </a:p>
          <a:p>
            <a:pPr>
              <a:spcAft>
                <a:spcPts val="600"/>
              </a:spcAft>
              <a:defRPr sz="1100">
                <a:solidFill>
                  <a:srgbClr val="2A2A2A"/>
                </a:solidFill>
                <a:latin typeface="Calibri"/>
              </a:defRPr>
            </a:pPr>
            <a:r>
              <a:t>  •  Catatan customer &amp; catatan admin</a:t>
            </a:r>
          </a:p>
          <a:p>
            <a:pPr>
              <a:spcAft>
                <a:spcPts val="600"/>
              </a:spcAft>
              <a:defRPr sz="1100">
                <a:solidFill>
                  <a:srgbClr val="2A2A2A"/>
                </a:solidFill>
                <a:latin typeface="Calibri"/>
              </a:defRPr>
            </a:pPr>
            <a:r>
              <a:t>  •  Auto-generated booking code: BD-{8 karakter}</a:t>
            </a:r>
          </a:p>
          <a:p>
            <a:pPr>
              <a:spcAft>
                <a:spcPts val="600"/>
              </a:spcAft>
              <a:defRPr sz="1100">
                <a:solidFill>
                  <a:srgbClr val="2A2A2A"/>
                </a:solidFill>
                <a:latin typeface="Calibri"/>
              </a:defRPr>
            </a:pPr>
            <a:r>
              <a:t>  •  Badge counter di navigasi untuk booking pending</a:t>
            </a:r>
          </a:p>
          <a:p>
            <a:pPr>
              <a:spcAft>
                <a:spcPts val="600"/>
              </a:spcAft>
              <a:defRPr sz="1100">
                <a:solidFill>
                  <a:srgbClr val="2A2A2A"/>
                </a:solidFill>
                <a:latin typeface="Calibri"/>
              </a:defRPr>
            </a:pPr>
            <a:r>
              <a:t>  •  Search &amp; filter berdasarkan status dan tanggal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Undangan Digital</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Template premium undangan digital + RSVP online interaktif</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6 / 14</a:t>
            </a:r>
          </a:p>
        </p:txBody>
      </p:sp>
      <p:pic>
        <p:nvPicPr>
          <p:cNvPr id="8" name="Picture 7" descr="invitation-templates.png"/>
          <p:cNvPicPr>
            <a:picLocks noChangeAspect="1"/>
          </p:cNvPicPr>
          <p:nvPr/>
        </p:nvPicPr>
        <p:blipFill>
          <a:blip r:embed="rId2"/>
          <a:stretch>
            <a:fillRect/>
          </a:stretch>
        </p:blipFill>
        <p:spPr>
          <a:xfrm>
            <a:off x="457200" y="1325880"/>
            <a:ext cx="7772400" cy="485775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FFFFFF"/>
                </a:solidFill>
                <a:latin typeface="Calibri"/>
              </a:defRPr>
            </a:pPr>
            <a:r>
              <a:t>  Fitur Undangan Digital</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500"/>
              </a:spcAft>
              <a:defRPr sz="1100">
                <a:solidFill>
                  <a:srgbClr val="2A2A2A"/>
                </a:solidFill>
                <a:latin typeface="Calibri"/>
              </a:defRPr>
            </a:pPr>
            <a:r>
              <a:t>  •  Template: Elegant Gold, Garden Romance, Modern Minimalis, dll</a:t>
            </a:r>
          </a:p>
          <a:p>
            <a:pPr>
              <a:spcAft>
                <a:spcPts val="500"/>
              </a:spcAft>
              <a:defRPr sz="1100">
                <a:solidFill>
                  <a:srgbClr val="2A2A2A"/>
                </a:solidFill>
                <a:latin typeface="Calibri"/>
              </a:defRPr>
            </a:pPr>
            <a:r>
              <a:t>  •  Harga per template: Rp 150.000 - Rp 300.000</a:t>
            </a:r>
          </a:p>
          <a:p>
            <a:pPr>
              <a:spcAft>
                <a:spcPts val="500"/>
              </a:spcAft>
              <a:defRPr sz="1100">
                <a:solidFill>
                  <a:srgbClr val="2A2A2A"/>
                </a:solidFill>
                <a:latin typeface="Calibri"/>
              </a:defRPr>
            </a:pPr>
            <a:r>
              <a:t>  •  Kategori: Elegant, Modern, Traditional</a:t>
            </a:r>
          </a:p>
          <a:p>
            <a:pPr>
              <a:spcAft>
                <a:spcPts val="500"/>
              </a:spcAft>
              <a:defRPr sz="1100">
                <a:solidFill>
                  <a:srgbClr val="2A2A2A"/>
                </a:solidFill>
                <a:latin typeface="Calibri"/>
              </a:defRPr>
            </a:pPr>
            <a:r>
              <a:t>  •  Fitur: RSVP Online, Love Story, Gallery, Countdown, Music</a:t>
            </a:r>
          </a:p>
          <a:p>
            <a:pPr>
              <a:spcAft>
                <a:spcPts val="500"/>
              </a:spcAft>
              <a:defRPr sz="1100">
                <a:solidFill>
                  <a:srgbClr val="2A2A2A"/>
                </a:solidFill>
                <a:latin typeface="Calibri"/>
              </a:defRPr>
            </a:pPr>
            <a:r>
              <a:t>  •  Status Premium &amp; Featured pada template</a:t>
            </a:r>
          </a:p>
          <a:p>
            <a:pPr>
              <a:spcAft>
                <a:spcPts val="500"/>
              </a:spcAft>
              <a:defRPr sz="1100">
                <a:solidFill>
                  <a:srgbClr val="2A2A2A"/>
                </a:solidFill>
                <a:latin typeface="Calibri"/>
              </a:defRPr>
            </a:pPr>
            <a:r>
              <a:t>  •  Order: Nama pengantin, tanggal, venue, subdomain</a:t>
            </a:r>
          </a:p>
          <a:p>
            <a:pPr>
              <a:spcAft>
                <a:spcPts val="500"/>
              </a:spcAft>
              <a:defRPr sz="1100">
                <a:solidFill>
                  <a:srgbClr val="2A2A2A"/>
                </a:solidFill>
                <a:latin typeface="Calibri"/>
              </a:defRPr>
            </a:pPr>
            <a:r>
              <a:t>  •  Custom domain support untuk undangan</a:t>
            </a:r>
          </a:p>
          <a:p>
            <a:pPr>
              <a:spcAft>
                <a:spcPts val="500"/>
              </a:spcAft>
              <a:defRPr sz="1100">
                <a:solidFill>
                  <a:srgbClr val="2A2A2A"/>
                </a:solidFill>
                <a:latin typeface="Calibri"/>
              </a:defRPr>
            </a:pPr>
            <a:r>
              <a:t>  •  Invitation live dengan views &amp; RSVP counters</a:t>
            </a:r>
          </a:p>
          <a:p>
            <a:pPr>
              <a:spcAft>
                <a:spcPts val="500"/>
              </a:spcAft>
              <a:defRPr sz="1100">
                <a:solidFill>
                  <a:srgbClr val="2A2A2A"/>
                </a:solidFill>
                <a:latin typeface="Calibri"/>
              </a:defRPr>
            </a:pPr>
            <a:r>
              <a:t>  •  3 tahap: Pilih Template → Bayar → Publish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Keuangan</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Transaksi, komisi vendor, payout, dan pengaturan komisi</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7 / 14</a:t>
            </a:r>
          </a:p>
        </p:txBody>
      </p:sp>
      <p:pic>
        <p:nvPicPr>
          <p:cNvPr id="8" name="Picture 7" descr="transactions.png"/>
          <p:cNvPicPr>
            <a:picLocks noChangeAspect="1"/>
          </p:cNvPicPr>
          <p:nvPr/>
        </p:nvPicPr>
        <p:blipFill>
          <a:blip r:embed="rId2"/>
          <a:stretch>
            <a:fillRect/>
          </a:stretch>
        </p:blipFill>
        <p:spPr>
          <a:xfrm>
            <a:off x="457200" y="1325880"/>
            <a:ext cx="7772400" cy="526796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FFFFFF"/>
                </a:solidFill>
                <a:latin typeface="Calibri"/>
              </a:defRPr>
            </a:pPr>
            <a:r>
              <a:t>  Fitur Keuangan</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500"/>
              </a:spcAft>
              <a:defRPr sz="1100">
                <a:solidFill>
                  <a:srgbClr val="2A2A2A"/>
                </a:solidFill>
                <a:latin typeface="Calibri"/>
              </a:defRPr>
            </a:pPr>
            <a:r>
              <a:t>  •  Transaksi: Payment, Refund, Commission, Payout</a:t>
            </a:r>
          </a:p>
          <a:p>
            <a:pPr>
              <a:spcAft>
                <a:spcPts val="500"/>
              </a:spcAft>
              <a:defRPr sz="1100">
                <a:solidFill>
                  <a:srgbClr val="2A2A2A"/>
                </a:solidFill>
                <a:latin typeface="Calibri"/>
              </a:defRPr>
            </a:pPr>
            <a:r>
              <a:t>  •  Gateway: Midtrans &amp; Xendit (polymorphic payable)</a:t>
            </a:r>
          </a:p>
          <a:p>
            <a:pPr>
              <a:spcAft>
                <a:spcPts val="500"/>
              </a:spcAft>
              <a:defRPr sz="1100">
                <a:solidFill>
                  <a:srgbClr val="2A2A2A"/>
                </a:solidFill>
                <a:latin typeface="Calibri"/>
              </a:defRPr>
            </a:pPr>
            <a:r>
              <a:t>  •  Auto-generated: TRX-{10 karakter}</a:t>
            </a:r>
          </a:p>
          <a:p>
            <a:pPr>
              <a:spcAft>
                <a:spcPts val="500"/>
              </a:spcAft>
              <a:defRPr sz="1100">
                <a:solidFill>
                  <a:srgbClr val="2A2A2A"/>
                </a:solidFill>
                <a:latin typeface="Calibri"/>
              </a:defRPr>
            </a:pPr>
            <a:r>
              <a:t>  •  Status: Pending, Success, Failed, Expired, Refunded</a:t>
            </a:r>
          </a:p>
          <a:p>
            <a:pPr>
              <a:spcAft>
                <a:spcPts val="500"/>
              </a:spcAft>
              <a:defRPr sz="1100">
                <a:solidFill>
                  <a:srgbClr val="2A2A2A"/>
                </a:solidFill>
                <a:latin typeface="Calibri"/>
              </a:defRPr>
            </a:pPr>
            <a:r>
              <a:t>  •  Payout vendor: Pending → Processing → Paid/Rejected</a:t>
            </a:r>
          </a:p>
          <a:p>
            <a:pPr>
              <a:spcAft>
                <a:spcPts val="500"/>
              </a:spcAft>
              <a:defRPr sz="1100">
                <a:solidFill>
                  <a:srgbClr val="2A2A2A"/>
                </a:solidFill>
                <a:latin typeface="Calibri"/>
              </a:defRPr>
            </a:pPr>
            <a:r>
              <a:t>  •  Rekening bank vendor untuk payout</a:t>
            </a:r>
          </a:p>
          <a:p>
            <a:pPr>
              <a:spcAft>
                <a:spcPts val="500"/>
              </a:spcAft>
              <a:defRPr sz="1100">
                <a:solidFill>
                  <a:srgbClr val="2A2A2A"/>
                </a:solidFill>
                <a:latin typeface="Calibri"/>
              </a:defRPr>
            </a:pPr>
            <a:r>
              <a:t>  •  Commission settings: rate per kategori atau global</a:t>
            </a:r>
          </a:p>
          <a:p>
            <a:pPr>
              <a:spcAft>
                <a:spcPts val="500"/>
              </a:spcAft>
              <a:defRPr sz="1100">
                <a:solidFill>
                  <a:srgbClr val="2A2A2A"/>
                </a:solidFill>
                <a:latin typeface="Calibri"/>
              </a:defRPr>
            </a:pPr>
            <a:r>
              <a:t>  •  Mark Paid action dengan timestamp &amp; processor</a:t>
            </a:r>
          </a:p>
          <a:p>
            <a:pPr>
              <a:spcAft>
                <a:spcPts val="500"/>
              </a:spcAft>
              <a:defRPr sz="1100">
                <a:solidFill>
                  <a:srgbClr val="2A2A2A"/>
                </a:solidFill>
                <a:latin typeface="Calibri"/>
              </a:defRPr>
            </a:pPr>
            <a:r>
              <a:t>  •  Fee transaksi otomatis terhitung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Mockup: Pengaturan &amp; Multi Bahasa</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Konfigurasi sistem, konten, dan dukungan 8 bahasa</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8 / 14</a:t>
            </a:r>
          </a:p>
        </p:txBody>
      </p:sp>
      <p:pic>
        <p:nvPicPr>
          <p:cNvPr id="8" name="Picture 7" descr="settings.png"/>
          <p:cNvPicPr>
            <a:picLocks noChangeAspect="1"/>
          </p:cNvPicPr>
          <p:nvPr/>
        </p:nvPicPr>
        <p:blipFill>
          <a:blip r:embed="rId2"/>
          <a:stretch>
            <a:fillRect/>
          </a:stretch>
        </p:blipFill>
        <p:spPr>
          <a:xfrm>
            <a:off x="457200" y="1325880"/>
            <a:ext cx="7772400" cy="5267960"/>
          </a:xfrm>
          <a:prstGeom prst="rect">
            <a:avLst/>
          </a:prstGeom>
        </p:spPr>
      </p:pic>
      <p:sp>
        <p:nvSpPr>
          <p:cNvPr id="9" name="Rounded Rectangle 8"/>
          <p:cNvSpPr/>
          <p:nvPr/>
        </p:nvSpPr>
        <p:spPr>
          <a:xfrm>
            <a:off x="8503920" y="1325880"/>
            <a:ext cx="3383280" cy="530352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03920" y="1325880"/>
            <a:ext cx="3383280" cy="365760"/>
          </a:xfrm>
          <a:prstGeom prst="rect">
            <a:avLst/>
          </a:prstGeom>
          <a:solidFill>
            <a:srgbClr val="525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1353312"/>
            <a:ext cx="3017520" cy="320040"/>
          </a:xfrm>
          <a:prstGeom prst="rect">
            <a:avLst/>
          </a:prstGeom>
          <a:noFill/>
        </p:spPr>
        <p:txBody>
          <a:bodyPr wrap="square">
            <a:spAutoFit/>
          </a:bodyPr>
          <a:lstStyle/>
          <a:p>
            <a:pPr algn="l">
              <a:defRPr sz="1200" b="1">
                <a:solidFill>
                  <a:srgbClr val="FFFFFF"/>
                </a:solidFill>
                <a:latin typeface="Calibri"/>
              </a:defRPr>
            </a:pPr>
            <a:r>
              <a:t>  Fitur Pengaturan</a:t>
            </a:r>
          </a:p>
        </p:txBody>
      </p:sp>
      <p:sp>
        <p:nvSpPr>
          <p:cNvPr id="12" name="TextBox 11"/>
          <p:cNvSpPr txBox="1"/>
          <p:nvPr/>
        </p:nvSpPr>
        <p:spPr>
          <a:xfrm>
            <a:off x="8686800" y="1828800"/>
            <a:ext cx="3017520" cy="3657600"/>
          </a:xfrm>
          <a:prstGeom prst="rect">
            <a:avLst/>
          </a:prstGeom>
          <a:noFill/>
        </p:spPr>
        <p:txBody>
          <a:bodyPr wrap="square">
            <a:spAutoFit/>
          </a:bodyPr>
          <a:lstStyle/>
          <a:p>
            <a:pPr>
              <a:spcAft>
                <a:spcPts val="500"/>
              </a:spcAft>
              <a:defRPr sz="1100">
                <a:solidFill>
                  <a:srgbClr val="2A2A2A"/>
                </a:solidFill>
                <a:latin typeface="Calibri"/>
              </a:defRPr>
            </a:pPr>
            <a:r>
              <a:t>  •  Key-Value settings: group, key, value, type</a:t>
            </a:r>
          </a:p>
          <a:p>
            <a:pPr>
              <a:spcAft>
                <a:spcPts val="500"/>
              </a:spcAft>
              <a:defRPr sz="1100">
                <a:solidFill>
                  <a:srgbClr val="2A2A2A"/>
                </a:solidFill>
                <a:latin typeface="Calibri"/>
              </a:defRPr>
            </a:pPr>
            <a:r>
              <a:t>  •  5 grup: general, commission, payment, email, social</a:t>
            </a:r>
          </a:p>
          <a:p>
            <a:pPr>
              <a:spcAft>
                <a:spcPts val="500"/>
              </a:spcAft>
              <a:defRPr sz="1100">
                <a:solidFill>
                  <a:srgbClr val="2A2A2A"/>
                </a:solidFill>
                <a:latin typeface="Calibri"/>
              </a:defRPr>
            </a:pPr>
            <a:r>
              <a:t>  •  Tipe: string, number, boolean, json, file</a:t>
            </a:r>
          </a:p>
          <a:p>
            <a:pPr>
              <a:spcAft>
                <a:spcPts val="500"/>
              </a:spcAft>
              <a:defRPr sz="1100">
                <a:solidFill>
                  <a:srgbClr val="2A2A2A"/>
                </a:solidFill>
                <a:latin typeface="Calibri"/>
              </a:defRPr>
            </a:pPr>
            <a:r>
              <a:t>  •  Cached untuk performa (cache invalidation on update)</a:t>
            </a:r>
          </a:p>
          <a:p>
            <a:pPr>
              <a:spcAft>
                <a:spcPts val="500"/>
              </a:spcAft>
              <a:defRPr sz="1100">
                <a:solidFill>
                  <a:srgbClr val="2A2A2A"/>
                </a:solidFill>
                <a:latin typeface="Calibri"/>
              </a:defRPr>
            </a:pPr>
            <a:r>
              <a:t>  •  Multi Bahasa (8 bahasa):</a:t>
            </a:r>
          </a:p>
          <a:p>
            <a:pPr>
              <a:spcAft>
                <a:spcPts val="500"/>
              </a:spcAft>
              <a:defRPr sz="1100">
                <a:solidFill>
                  <a:srgbClr val="2A2A2A"/>
                </a:solidFill>
                <a:latin typeface="Calibri"/>
              </a:defRPr>
            </a:pPr>
            <a:r>
              <a:t>  •    EN, ID, ES, FR, JA, KO, ZH, AR</a:t>
            </a:r>
          </a:p>
          <a:p>
            <a:pPr>
              <a:spcAft>
                <a:spcPts val="500"/>
              </a:spcAft>
              <a:defRPr sz="1100">
                <a:solidFill>
                  <a:srgbClr val="2A2A2A"/>
                </a:solidFill>
                <a:latin typeface="Calibri"/>
              </a:defRPr>
            </a:pPr>
            <a:r>
              <a:t>  •  Dukungan RTL untuk bahasa Arab</a:t>
            </a:r>
          </a:p>
          <a:p>
            <a:pPr>
              <a:spcAft>
                <a:spcPts val="500"/>
              </a:spcAft>
              <a:defRPr sz="1100">
                <a:solidFill>
                  <a:srgbClr val="2A2A2A"/>
                </a:solidFill>
                <a:latin typeface="Calibri"/>
              </a:defRPr>
            </a:pPr>
            <a:r>
              <a:t>  •  Language switcher di admin panel</a:t>
            </a:r>
          </a:p>
          <a:p>
            <a:pPr>
              <a:spcAft>
                <a:spcPts val="500"/>
              </a:spcAft>
              <a:defRPr sz="1100">
                <a:solidFill>
                  <a:srgbClr val="2A2A2A"/>
                </a:solidFill>
                <a:latin typeface="Calibri"/>
              </a:defRPr>
            </a:pPr>
            <a:r>
              <a:t>  •  Manajemen konten: Blog, Banner, FAQ, Testimonial, Gallery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Design Database (ERD)</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33 tabel dengan relasi polymorphic, soft deletes, dan Spatie MediaLibrary</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9 / 14</a:t>
            </a:r>
          </a:p>
        </p:txBody>
      </p:sp>
      <p:pic>
        <p:nvPicPr>
          <p:cNvPr id="8" name="Picture 7" descr="erd.png"/>
          <p:cNvPicPr>
            <a:picLocks noChangeAspect="1"/>
          </p:cNvPicPr>
          <p:nvPr/>
        </p:nvPicPr>
        <p:blipFill>
          <a:blip r:embed="rId2"/>
          <a:stretch>
            <a:fillRect/>
          </a:stretch>
        </p:blipFill>
        <p:spPr>
          <a:xfrm>
            <a:off x="457200" y="1325880"/>
            <a:ext cx="7955280" cy="5303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Penjelasan Tabel Utama</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Tabel-tabel inti yang menjadi fondasi sistem BrightDor</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10 / 14</a:t>
            </a:r>
          </a:p>
        </p:txBody>
      </p:sp>
      <p:sp>
        <p:nvSpPr>
          <p:cNvPr id="8" name="Rounded Rectangle 7"/>
          <p:cNvSpPr/>
          <p:nvPr/>
        </p:nvSpPr>
        <p:spPr>
          <a:xfrm>
            <a:off x="640080" y="1371600"/>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71600"/>
            <a:ext cx="73152"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17320"/>
            <a:ext cx="2011680" cy="274320"/>
          </a:xfrm>
          <a:prstGeom prst="rect">
            <a:avLst/>
          </a:prstGeom>
          <a:noFill/>
        </p:spPr>
        <p:txBody>
          <a:bodyPr wrap="square">
            <a:spAutoFit/>
          </a:bodyPr>
          <a:lstStyle/>
          <a:p>
            <a:pPr algn="l">
              <a:defRPr sz="1300" b="1">
                <a:solidFill>
                  <a:srgbClr val="141414"/>
                </a:solidFill>
                <a:latin typeface="Calibri"/>
              </a:defRPr>
            </a:pPr>
            <a:r>
              <a:t>users</a:t>
            </a:r>
          </a:p>
        </p:txBody>
      </p:sp>
      <p:sp>
        <p:nvSpPr>
          <p:cNvPr id="11" name="TextBox 10"/>
          <p:cNvSpPr txBox="1"/>
          <p:nvPr/>
        </p:nvSpPr>
        <p:spPr>
          <a:xfrm>
            <a:off x="3017520" y="1417320"/>
            <a:ext cx="5943600" cy="320040"/>
          </a:xfrm>
          <a:prstGeom prst="rect">
            <a:avLst/>
          </a:prstGeom>
          <a:noFill/>
        </p:spPr>
        <p:txBody>
          <a:bodyPr wrap="square">
            <a:spAutoFit/>
          </a:bodyPr>
          <a:lstStyle/>
          <a:p>
            <a:pPr algn="l">
              <a:defRPr sz="1000" b="0">
                <a:solidFill>
                  <a:srgbClr val="52525B"/>
                </a:solidFill>
                <a:latin typeface="Calibri"/>
              </a:defRPr>
            </a:pPr>
            <a:r>
              <a:t>Tabel pusat pengguna (admin, vendor, couple). Menyimpan kredensial, profil, tipe user, dan status akun.</a:t>
            </a:r>
          </a:p>
        </p:txBody>
      </p:sp>
      <p:sp>
        <p:nvSpPr>
          <p:cNvPr id="12" name="TextBox 11"/>
          <p:cNvSpPr txBox="1"/>
          <p:nvPr/>
        </p:nvSpPr>
        <p:spPr>
          <a:xfrm>
            <a:off x="3017520" y="1783080"/>
            <a:ext cx="8229600" cy="274320"/>
          </a:xfrm>
          <a:prstGeom prst="rect">
            <a:avLst/>
          </a:prstGeom>
          <a:noFill/>
        </p:spPr>
        <p:txBody>
          <a:bodyPr wrap="square">
            <a:spAutoFit/>
          </a:bodyPr>
          <a:lstStyle/>
          <a:p>
            <a:pPr algn="l">
              <a:defRPr sz="900" b="0">
                <a:solidFill>
                  <a:srgbClr val="A1A1AA"/>
                </a:solidFill>
                <a:latin typeface="Calibri"/>
              </a:defRPr>
            </a:pPr>
            <a:r>
              <a:t>id, name, email, phone, user_type, status</a:t>
            </a:r>
          </a:p>
        </p:txBody>
      </p:sp>
      <p:sp>
        <p:nvSpPr>
          <p:cNvPr id="13" name="Rounded Rectangle 12"/>
          <p:cNvSpPr/>
          <p:nvPr/>
        </p:nvSpPr>
        <p:spPr>
          <a:xfrm>
            <a:off x="640080" y="2212848"/>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212848"/>
            <a:ext cx="73152" cy="77724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258568"/>
            <a:ext cx="2011680" cy="274320"/>
          </a:xfrm>
          <a:prstGeom prst="rect">
            <a:avLst/>
          </a:prstGeom>
          <a:noFill/>
        </p:spPr>
        <p:txBody>
          <a:bodyPr wrap="square">
            <a:spAutoFit/>
          </a:bodyPr>
          <a:lstStyle/>
          <a:p>
            <a:pPr algn="l">
              <a:defRPr sz="1300" b="1">
                <a:solidFill>
                  <a:srgbClr val="141414"/>
                </a:solidFill>
                <a:latin typeface="Calibri"/>
              </a:defRPr>
            </a:pPr>
            <a:r>
              <a:t>vendors</a:t>
            </a:r>
          </a:p>
        </p:txBody>
      </p:sp>
      <p:sp>
        <p:nvSpPr>
          <p:cNvPr id="16" name="TextBox 15"/>
          <p:cNvSpPr txBox="1"/>
          <p:nvPr/>
        </p:nvSpPr>
        <p:spPr>
          <a:xfrm>
            <a:off x="3017520" y="2258568"/>
            <a:ext cx="5943600" cy="320040"/>
          </a:xfrm>
          <a:prstGeom prst="rect">
            <a:avLst/>
          </a:prstGeom>
          <a:noFill/>
        </p:spPr>
        <p:txBody>
          <a:bodyPr wrap="square">
            <a:spAutoFit/>
          </a:bodyPr>
          <a:lstStyle/>
          <a:p>
            <a:pPr algn="l">
              <a:defRPr sz="1000" b="0">
                <a:solidFill>
                  <a:srgbClr val="52525B"/>
                </a:solidFill>
                <a:latin typeface="Calibri"/>
              </a:defRPr>
            </a:pPr>
            <a:r>
              <a:t>Data vendor pernikahan: profil usaha, lokasi, kontak, rating, status approval, data bank.</a:t>
            </a:r>
          </a:p>
        </p:txBody>
      </p:sp>
      <p:sp>
        <p:nvSpPr>
          <p:cNvPr id="17" name="TextBox 16"/>
          <p:cNvSpPr txBox="1"/>
          <p:nvPr/>
        </p:nvSpPr>
        <p:spPr>
          <a:xfrm>
            <a:off x="3017520" y="2624328"/>
            <a:ext cx="8229600" cy="274320"/>
          </a:xfrm>
          <a:prstGeom prst="rect">
            <a:avLst/>
          </a:prstGeom>
          <a:noFill/>
        </p:spPr>
        <p:txBody>
          <a:bodyPr wrap="square">
            <a:spAutoFit/>
          </a:bodyPr>
          <a:lstStyle/>
          <a:p>
            <a:pPr algn="l">
              <a:defRPr sz="900" b="0">
                <a:solidFill>
                  <a:srgbClr val="A1A1AA"/>
                </a:solidFill>
                <a:latin typeface="Calibri"/>
              </a:defRPr>
            </a:pPr>
            <a:r>
              <a:t>id, user_id, vendor_category_id, business_name, status, is_verified</a:t>
            </a:r>
          </a:p>
        </p:txBody>
      </p:sp>
      <p:sp>
        <p:nvSpPr>
          <p:cNvPr id="18" name="Rounded Rectangle 17"/>
          <p:cNvSpPr/>
          <p:nvPr/>
        </p:nvSpPr>
        <p:spPr>
          <a:xfrm>
            <a:off x="640080" y="3054096"/>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054096"/>
            <a:ext cx="73152" cy="77724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099816"/>
            <a:ext cx="2011680" cy="274320"/>
          </a:xfrm>
          <a:prstGeom prst="rect">
            <a:avLst/>
          </a:prstGeom>
          <a:noFill/>
        </p:spPr>
        <p:txBody>
          <a:bodyPr wrap="square">
            <a:spAutoFit/>
          </a:bodyPr>
          <a:lstStyle/>
          <a:p>
            <a:pPr algn="l">
              <a:defRPr sz="1300" b="1">
                <a:solidFill>
                  <a:srgbClr val="141414"/>
                </a:solidFill>
                <a:latin typeface="Calibri"/>
              </a:defRPr>
            </a:pPr>
            <a:r>
              <a:t>services</a:t>
            </a:r>
          </a:p>
        </p:txBody>
      </p:sp>
      <p:sp>
        <p:nvSpPr>
          <p:cNvPr id="21" name="TextBox 20"/>
          <p:cNvSpPr txBox="1"/>
          <p:nvPr/>
        </p:nvSpPr>
        <p:spPr>
          <a:xfrm>
            <a:off x="3017520" y="3099816"/>
            <a:ext cx="5943600" cy="320040"/>
          </a:xfrm>
          <a:prstGeom prst="rect">
            <a:avLst/>
          </a:prstGeom>
          <a:noFill/>
        </p:spPr>
        <p:txBody>
          <a:bodyPr wrap="square">
            <a:spAutoFit/>
          </a:bodyPr>
          <a:lstStyle/>
          <a:p>
            <a:pPr algn="l">
              <a:defRPr sz="1000" b="0">
                <a:solidFill>
                  <a:srgbClr val="52525B"/>
                </a:solidFill>
                <a:latin typeface="Calibri"/>
              </a:defRPr>
            </a:pPr>
            <a:r>
              <a:t>Layanan yang ditawarkan vendor: nama, harga, diskon, kapasitas, fitur, status publikasi.</a:t>
            </a:r>
          </a:p>
        </p:txBody>
      </p:sp>
      <p:sp>
        <p:nvSpPr>
          <p:cNvPr id="22" name="TextBox 21"/>
          <p:cNvSpPr txBox="1"/>
          <p:nvPr/>
        </p:nvSpPr>
        <p:spPr>
          <a:xfrm>
            <a:off x="3017520" y="3465576"/>
            <a:ext cx="8229600" cy="274320"/>
          </a:xfrm>
          <a:prstGeom prst="rect">
            <a:avLst/>
          </a:prstGeom>
          <a:noFill/>
        </p:spPr>
        <p:txBody>
          <a:bodyPr wrap="square">
            <a:spAutoFit/>
          </a:bodyPr>
          <a:lstStyle/>
          <a:p>
            <a:pPr algn="l">
              <a:defRPr sz="900" b="0">
                <a:solidFill>
                  <a:srgbClr val="A1A1AA"/>
                </a:solidFill>
                <a:latin typeface="Calibri"/>
              </a:defRPr>
            </a:pPr>
            <a:r>
              <a:t>id, vendor_id, name, price, discount_price, status</a:t>
            </a:r>
          </a:p>
        </p:txBody>
      </p:sp>
      <p:sp>
        <p:nvSpPr>
          <p:cNvPr id="23" name="Rounded Rectangle 22"/>
          <p:cNvSpPr/>
          <p:nvPr/>
        </p:nvSpPr>
        <p:spPr>
          <a:xfrm>
            <a:off x="640080" y="3895344"/>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895344"/>
            <a:ext cx="73152" cy="7772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41064"/>
            <a:ext cx="2011680" cy="274320"/>
          </a:xfrm>
          <a:prstGeom prst="rect">
            <a:avLst/>
          </a:prstGeom>
          <a:noFill/>
        </p:spPr>
        <p:txBody>
          <a:bodyPr wrap="square">
            <a:spAutoFit/>
          </a:bodyPr>
          <a:lstStyle/>
          <a:p>
            <a:pPr algn="l">
              <a:defRPr sz="1300" b="1">
                <a:solidFill>
                  <a:srgbClr val="141414"/>
                </a:solidFill>
                <a:latin typeface="Calibri"/>
              </a:defRPr>
            </a:pPr>
            <a:r>
              <a:t>bookings</a:t>
            </a:r>
          </a:p>
        </p:txBody>
      </p:sp>
      <p:sp>
        <p:nvSpPr>
          <p:cNvPr id="26" name="TextBox 25"/>
          <p:cNvSpPr txBox="1"/>
          <p:nvPr/>
        </p:nvSpPr>
        <p:spPr>
          <a:xfrm>
            <a:off x="3017520" y="3941064"/>
            <a:ext cx="5943600" cy="320040"/>
          </a:xfrm>
          <a:prstGeom prst="rect">
            <a:avLst/>
          </a:prstGeom>
          <a:noFill/>
        </p:spPr>
        <p:txBody>
          <a:bodyPr wrap="square">
            <a:spAutoFit/>
          </a:bodyPr>
          <a:lstStyle/>
          <a:p>
            <a:pPr algn="l">
              <a:defRPr sz="1000" b="0">
                <a:solidFill>
                  <a:srgbClr val="52525B"/>
                </a:solidFill>
                <a:latin typeface="Calibri"/>
              </a:defRPr>
            </a:pPr>
            <a:r>
              <a:t>Pesanan layanan: kode booking, data acara, komponen keuangan, status, catatan.</a:t>
            </a:r>
          </a:p>
        </p:txBody>
      </p:sp>
      <p:sp>
        <p:nvSpPr>
          <p:cNvPr id="27" name="TextBox 26"/>
          <p:cNvSpPr txBox="1"/>
          <p:nvPr/>
        </p:nvSpPr>
        <p:spPr>
          <a:xfrm>
            <a:off x="3017520" y="4306824"/>
            <a:ext cx="8229600" cy="274320"/>
          </a:xfrm>
          <a:prstGeom prst="rect">
            <a:avLst/>
          </a:prstGeom>
          <a:noFill/>
        </p:spPr>
        <p:txBody>
          <a:bodyPr wrap="square">
            <a:spAutoFit/>
          </a:bodyPr>
          <a:lstStyle/>
          <a:p>
            <a:pPr algn="l">
              <a:defRPr sz="900" b="0">
                <a:solidFill>
                  <a:srgbClr val="A1A1AA"/>
                </a:solidFill>
                <a:latin typeface="Calibri"/>
              </a:defRPr>
            </a:pPr>
            <a:r>
              <a:t>id, booking_code, user_id, vendor_id, event_date, total_amount, status</a:t>
            </a:r>
          </a:p>
        </p:txBody>
      </p:sp>
      <p:sp>
        <p:nvSpPr>
          <p:cNvPr id="28" name="Rounded Rectangle 27"/>
          <p:cNvSpPr/>
          <p:nvPr/>
        </p:nvSpPr>
        <p:spPr>
          <a:xfrm>
            <a:off x="640080" y="4736592"/>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4736592"/>
            <a:ext cx="73152" cy="7772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82312"/>
            <a:ext cx="2011680" cy="274320"/>
          </a:xfrm>
          <a:prstGeom prst="rect">
            <a:avLst/>
          </a:prstGeom>
          <a:noFill/>
        </p:spPr>
        <p:txBody>
          <a:bodyPr wrap="square">
            <a:spAutoFit/>
          </a:bodyPr>
          <a:lstStyle/>
          <a:p>
            <a:pPr algn="l">
              <a:defRPr sz="1300" b="1">
                <a:solidFill>
                  <a:srgbClr val="141414"/>
                </a:solidFill>
                <a:latin typeface="Calibri"/>
              </a:defRPr>
            </a:pPr>
            <a:r>
              <a:t>invitation_templates</a:t>
            </a:r>
          </a:p>
        </p:txBody>
      </p:sp>
      <p:sp>
        <p:nvSpPr>
          <p:cNvPr id="31" name="TextBox 30"/>
          <p:cNvSpPr txBox="1"/>
          <p:nvPr/>
        </p:nvSpPr>
        <p:spPr>
          <a:xfrm>
            <a:off x="3017520" y="4782312"/>
            <a:ext cx="5943600" cy="320040"/>
          </a:xfrm>
          <a:prstGeom prst="rect">
            <a:avLst/>
          </a:prstGeom>
          <a:noFill/>
        </p:spPr>
        <p:txBody>
          <a:bodyPr wrap="square">
            <a:spAutoFit/>
          </a:bodyPr>
          <a:lstStyle/>
          <a:p>
            <a:pPr algn="l">
              <a:defRPr sz="1000" b="0">
                <a:solidFill>
                  <a:srgbClr val="52525B"/>
                </a:solidFill>
                <a:latin typeface="Calibri"/>
              </a:defRPr>
            </a:pPr>
            <a:r>
              <a:t>Template undangan digital: nama, harga, preview, fitur, status premium.</a:t>
            </a:r>
          </a:p>
        </p:txBody>
      </p:sp>
      <p:sp>
        <p:nvSpPr>
          <p:cNvPr id="32" name="TextBox 31"/>
          <p:cNvSpPr txBox="1"/>
          <p:nvPr/>
        </p:nvSpPr>
        <p:spPr>
          <a:xfrm>
            <a:off x="3017520" y="5148072"/>
            <a:ext cx="8229600" cy="274320"/>
          </a:xfrm>
          <a:prstGeom prst="rect">
            <a:avLst/>
          </a:prstGeom>
          <a:noFill/>
        </p:spPr>
        <p:txBody>
          <a:bodyPr wrap="square">
            <a:spAutoFit/>
          </a:bodyPr>
          <a:lstStyle/>
          <a:p>
            <a:pPr algn="l">
              <a:defRPr sz="900" b="0">
                <a:solidFill>
                  <a:srgbClr val="A1A1AA"/>
                </a:solidFill>
                <a:latin typeface="Calibri"/>
              </a:defRPr>
            </a:pPr>
            <a:r>
              <a:t>id, name, price, is_premium, is_active, sales_count</a:t>
            </a:r>
          </a:p>
        </p:txBody>
      </p:sp>
      <p:sp>
        <p:nvSpPr>
          <p:cNvPr id="33" name="Rounded Rectangle 32"/>
          <p:cNvSpPr/>
          <p:nvPr/>
        </p:nvSpPr>
        <p:spPr>
          <a:xfrm>
            <a:off x="640080" y="5577840"/>
            <a:ext cx="10972800" cy="7772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 y="5577840"/>
            <a:ext cx="73152" cy="7772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623560"/>
            <a:ext cx="2011680" cy="274320"/>
          </a:xfrm>
          <a:prstGeom prst="rect">
            <a:avLst/>
          </a:prstGeom>
          <a:noFill/>
        </p:spPr>
        <p:txBody>
          <a:bodyPr wrap="square">
            <a:spAutoFit/>
          </a:bodyPr>
          <a:lstStyle/>
          <a:p>
            <a:pPr algn="l">
              <a:defRPr sz="1300" b="1">
                <a:solidFill>
                  <a:srgbClr val="141414"/>
                </a:solidFill>
                <a:latin typeface="Calibri"/>
              </a:defRPr>
            </a:pPr>
            <a:r>
              <a:t>transactions</a:t>
            </a:r>
          </a:p>
        </p:txBody>
      </p:sp>
      <p:sp>
        <p:nvSpPr>
          <p:cNvPr id="36" name="TextBox 35"/>
          <p:cNvSpPr txBox="1"/>
          <p:nvPr/>
        </p:nvSpPr>
        <p:spPr>
          <a:xfrm>
            <a:off x="3017520" y="5623560"/>
            <a:ext cx="5943600" cy="320040"/>
          </a:xfrm>
          <a:prstGeom prst="rect">
            <a:avLst/>
          </a:prstGeom>
          <a:noFill/>
        </p:spPr>
        <p:txBody>
          <a:bodyPr wrap="square">
            <a:spAutoFit/>
          </a:bodyPr>
          <a:lstStyle/>
          <a:p>
            <a:pPr algn="l">
              <a:defRPr sz="1000" b="0">
                <a:solidFill>
                  <a:srgbClr val="52525B"/>
                </a:solidFill>
                <a:latin typeface="Calibri"/>
              </a:defRPr>
            </a:pPr>
            <a:r>
              <a:t>Semua transaksi keuangan: payment, refund, commission, payout dengan polymorphic relation.</a:t>
            </a:r>
          </a:p>
        </p:txBody>
      </p:sp>
      <p:sp>
        <p:nvSpPr>
          <p:cNvPr id="37" name="TextBox 36"/>
          <p:cNvSpPr txBox="1"/>
          <p:nvPr/>
        </p:nvSpPr>
        <p:spPr>
          <a:xfrm>
            <a:off x="3017520" y="5989320"/>
            <a:ext cx="8229600" cy="274320"/>
          </a:xfrm>
          <a:prstGeom prst="rect">
            <a:avLst/>
          </a:prstGeom>
          <a:noFill/>
        </p:spPr>
        <p:txBody>
          <a:bodyPr wrap="square">
            <a:spAutoFit/>
          </a:bodyPr>
          <a:lstStyle/>
          <a:p>
            <a:pPr algn="l">
              <a:defRPr sz="900" b="0">
                <a:solidFill>
                  <a:srgbClr val="A1A1AA"/>
                </a:solidFill>
                <a:latin typeface="Calibri"/>
              </a:defRPr>
            </a:pPr>
            <a:r>
              <a:t>id, transaction_code, type, amount, fee, net_amount, status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Relasi Antar Tabel</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Hubungan antar entitas dalam database BrightDor</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11 / 14</a:t>
            </a:r>
          </a:p>
        </p:txBody>
      </p:sp>
      <p:sp>
        <p:nvSpPr>
          <p:cNvPr id="8" name="Rounded Rectangle 7"/>
          <p:cNvSpPr/>
          <p:nvPr/>
        </p:nvSpPr>
        <p:spPr>
          <a:xfrm>
            <a:off x="640080" y="1371600"/>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2286000" cy="228600"/>
          </a:xfrm>
          <a:prstGeom prst="rect">
            <a:avLst/>
          </a:prstGeom>
          <a:noFill/>
        </p:spPr>
        <p:txBody>
          <a:bodyPr wrap="square">
            <a:spAutoFit/>
          </a:bodyPr>
          <a:lstStyle/>
          <a:p>
            <a:pPr algn="l">
              <a:defRPr sz="1200" b="1">
                <a:solidFill>
                  <a:srgbClr val="141414"/>
                </a:solidFill>
                <a:latin typeface="Calibri"/>
              </a:defRPr>
            </a:pPr>
            <a:r>
              <a:t>User → Vendor</a:t>
            </a:r>
          </a:p>
        </p:txBody>
      </p:sp>
      <p:sp>
        <p:nvSpPr>
          <p:cNvPr id="10" name="Rounded Rectangle 9"/>
          <p:cNvSpPr/>
          <p:nvPr/>
        </p:nvSpPr>
        <p:spPr>
          <a:xfrm>
            <a:off x="3383280" y="1444752"/>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44752"/>
            <a:ext cx="1097280" cy="201168"/>
          </a:xfrm>
          <a:prstGeom prst="rect">
            <a:avLst/>
          </a:prstGeom>
          <a:noFill/>
        </p:spPr>
        <p:txBody>
          <a:bodyPr wrap="square">
            <a:spAutoFit/>
          </a:bodyPr>
          <a:lstStyle/>
          <a:p>
            <a:pPr algn="ctr">
              <a:defRPr sz="800" b="1">
                <a:solidFill>
                  <a:srgbClr val="141414"/>
                </a:solidFill>
                <a:latin typeface="Calibri"/>
              </a:defRPr>
            </a:pPr>
            <a:r>
              <a:t>HasOne</a:t>
            </a:r>
          </a:p>
        </p:txBody>
      </p:sp>
      <p:sp>
        <p:nvSpPr>
          <p:cNvPr id="12" name="TextBox 11"/>
          <p:cNvSpPr txBox="1"/>
          <p:nvPr/>
        </p:nvSpPr>
        <p:spPr>
          <a:xfrm>
            <a:off x="777240" y="1664208"/>
            <a:ext cx="5120640" cy="228600"/>
          </a:xfrm>
          <a:prstGeom prst="rect">
            <a:avLst/>
          </a:prstGeom>
          <a:noFill/>
        </p:spPr>
        <p:txBody>
          <a:bodyPr wrap="square">
            <a:spAutoFit/>
          </a:bodyPr>
          <a:lstStyle/>
          <a:p>
            <a:pPr algn="l">
              <a:defRPr sz="1000" b="0">
                <a:solidFill>
                  <a:srgbClr val="52525B"/>
                </a:solidFill>
                <a:latin typeface="Calibri"/>
              </a:defRPr>
            </a:pPr>
            <a:r>
              <a:t>1 user memiliki 1 vendor</a:t>
            </a:r>
          </a:p>
        </p:txBody>
      </p:sp>
      <p:sp>
        <p:nvSpPr>
          <p:cNvPr id="13" name="Rounded Rectangle 12"/>
          <p:cNvSpPr/>
          <p:nvPr/>
        </p:nvSpPr>
        <p:spPr>
          <a:xfrm>
            <a:off x="6400800" y="1371600"/>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417320"/>
            <a:ext cx="2286000" cy="228600"/>
          </a:xfrm>
          <a:prstGeom prst="rect">
            <a:avLst/>
          </a:prstGeom>
          <a:noFill/>
        </p:spPr>
        <p:txBody>
          <a:bodyPr wrap="square">
            <a:spAutoFit/>
          </a:bodyPr>
          <a:lstStyle/>
          <a:p>
            <a:pPr algn="l">
              <a:defRPr sz="1200" b="1">
                <a:solidFill>
                  <a:srgbClr val="141414"/>
                </a:solidFill>
                <a:latin typeface="Calibri"/>
              </a:defRPr>
            </a:pPr>
            <a:r>
              <a:t>User → Booking</a:t>
            </a:r>
          </a:p>
        </p:txBody>
      </p:sp>
      <p:sp>
        <p:nvSpPr>
          <p:cNvPr id="15" name="Rounded Rectangle 14"/>
          <p:cNvSpPr/>
          <p:nvPr/>
        </p:nvSpPr>
        <p:spPr>
          <a:xfrm>
            <a:off x="9144000" y="1444752"/>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1444752"/>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17" name="TextBox 16"/>
          <p:cNvSpPr txBox="1"/>
          <p:nvPr/>
        </p:nvSpPr>
        <p:spPr>
          <a:xfrm>
            <a:off x="6537960" y="1664208"/>
            <a:ext cx="5120640" cy="228600"/>
          </a:xfrm>
          <a:prstGeom prst="rect">
            <a:avLst/>
          </a:prstGeom>
          <a:noFill/>
        </p:spPr>
        <p:txBody>
          <a:bodyPr wrap="square">
            <a:spAutoFit/>
          </a:bodyPr>
          <a:lstStyle/>
          <a:p>
            <a:pPr algn="l">
              <a:defRPr sz="1000" b="0">
                <a:solidFill>
                  <a:srgbClr val="52525B"/>
                </a:solidFill>
                <a:latin typeface="Calibri"/>
              </a:defRPr>
            </a:pPr>
            <a:r>
              <a:t>1 user memiliki banyak booking</a:t>
            </a:r>
          </a:p>
        </p:txBody>
      </p:sp>
      <p:sp>
        <p:nvSpPr>
          <p:cNvPr id="18" name="Rounded Rectangle 17"/>
          <p:cNvSpPr/>
          <p:nvPr/>
        </p:nvSpPr>
        <p:spPr>
          <a:xfrm>
            <a:off x="640080" y="2029968"/>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075688"/>
            <a:ext cx="2286000" cy="228600"/>
          </a:xfrm>
          <a:prstGeom prst="rect">
            <a:avLst/>
          </a:prstGeom>
          <a:noFill/>
        </p:spPr>
        <p:txBody>
          <a:bodyPr wrap="square">
            <a:spAutoFit/>
          </a:bodyPr>
          <a:lstStyle/>
          <a:p>
            <a:pPr algn="l">
              <a:defRPr sz="1200" b="1">
                <a:solidFill>
                  <a:srgbClr val="141414"/>
                </a:solidFill>
                <a:latin typeface="Calibri"/>
              </a:defRPr>
            </a:pPr>
            <a:r>
              <a:t>User → InvitationOrder</a:t>
            </a:r>
          </a:p>
        </p:txBody>
      </p:sp>
      <p:sp>
        <p:nvSpPr>
          <p:cNvPr id="20" name="Rounded Rectangle 19"/>
          <p:cNvSpPr/>
          <p:nvPr/>
        </p:nvSpPr>
        <p:spPr>
          <a:xfrm>
            <a:off x="3383280" y="2103120"/>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0" y="2103120"/>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22" name="TextBox 21"/>
          <p:cNvSpPr txBox="1"/>
          <p:nvPr/>
        </p:nvSpPr>
        <p:spPr>
          <a:xfrm>
            <a:off x="777240" y="2322576"/>
            <a:ext cx="5120640" cy="228600"/>
          </a:xfrm>
          <a:prstGeom prst="rect">
            <a:avLst/>
          </a:prstGeom>
          <a:noFill/>
        </p:spPr>
        <p:txBody>
          <a:bodyPr wrap="square">
            <a:spAutoFit/>
          </a:bodyPr>
          <a:lstStyle/>
          <a:p>
            <a:pPr algn="l">
              <a:defRPr sz="1000" b="0">
                <a:solidFill>
                  <a:srgbClr val="52525B"/>
                </a:solidFill>
                <a:latin typeface="Calibri"/>
              </a:defRPr>
            </a:pPr>
            <a:r>
              <a:t>1 user memiliki banyak order undangan</a:t>
            </a:r>
          </a:p>
        </p:txBody>
      </p:sp>
      <p:sp>
        <p:nvSpPr>
          <p:cNvPr id="23" name="Rounded Rectangle 22"/>
          <p:cNvSpPr/>
          <p:nvPr/>
        </p:nvSpPr>
        <p:spPr>
          <a:xfrm>
            <a:off x="6400800" y="2029968"/>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075688"/>
            <a:ext cx="2286000" cy="228600"/>
          </a:xfrm>
          <a:prstGeom prst="rect">
            <a:avLst/>
          </a:prstGeom>
          <a:noFill/>
        </p:spPr>
        <p:txBody>
          <a:bodyPr wrap="square">
            <a:spAutoFit/>
          </a:bodyPr>
          <a:lstStyle/>
          <a:p>
            <a:pPr algn="l">
              <a:defRPr sz="1200" b="1">
                <a:solidFill>
                  <a:srgbClr val="141414"/>
                </a:solidFill>
                <a:latin typeface="Calibri"/>
              </a:defRPr>
            </a:pPr>
            <a:r>
              <a:t>User → Transaction</a:t>
            </a:r>
          </a:p>
        </p:txBody>
      </p:sp>
      <p:sp>
        <p:nvSpPr>
          <p:cNvPr id="25" name="Rounded Rectangle 24"/>
          <p:cNvSpPr/>
          <p:nvPr/>
        </p:nvSpPr>
        <p:spPr>
          <a:xfrm>
            <a:off x="9144000" y="2103120"/>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2103120"/>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27" name="TextBox 26"/>
          <p:cNvSpPr txBox="1"/>
          <p:nvPr/>
        </p:nvSpPr>
        <p:spPr>
          <a:xfrm>
            <a:off x="6537960" y="2322576"/>
            <a:ext cx="5120640" cy="228600"/>
          </a:xfrm>
          <a:prstGeom prst="rect">
            <a:avLst/>
          </a:prstGeom>
          <a:noFill/>
        </p:spPr>
        <p:txBody>
          <a:bodyPr wrap="square">
            <a:spAutoFit/>
          </a:bodyPr>
          <a:lstStyle/>
          <a:p>
            <a:pPr algn="l">
              <a:defRPr sz="1000" b="0">
                <a:solidFill>
                  <a:srgbClr val="52525B"/>
                </a:solidFill>
                <a:latin typeface="Calibri"/>
              </a:defRPr>
            </a:pPr>
            <a:r>
              <a:t>1 user memiliki banyak transaksi</a:t>
            </a:r>
          </a:p>
        </p:txBody>
      </p:sp>
      <p:sp>
        <p:nvSpPr>
          <p:cNvPr id="28" name="Rounded Rectangle 27"/>
          <p:cNvSpPr/>
          <p:nvPr/>
        </p:nvSpPr>
        <p:spPr>
          <a:xfrm>
            <a:off x="640080" y="2688336"/>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2734056"/>
            <a:ext cx="2286000" cy="228600"/>
          </a:xfrm>
          <a:prstGeom prst="rect">
            <a:avLst/>
          </a:prstGeom>
          <a:noFill/>
        </p:spPr>
        <p:txBody>
          <a:bodyPr wrap="square">
            <a:spAutoFit/>
          </a:bodyPr>
          <a:lstStyle/>
          <a:p>
            <a:pPr algn="l">
              <a:defRPr sz="1200" b="1">
                <a:solidFill>
                  <a:srgbClr val="141414"/>
                </a:solidFill>
                <a:latin typeface="Calibri"/>
              </a:defRPr>
            </a:pPr>
            <a:r>
              <a:t>Vendor → Service</a:t>
            </a:r>
          </a:p>
        </p:txBody>
      </p:sp>
      <p:sp>
        <p:nvSpPr>
          <p:cNvPr id="30" name="Rounded Rectangle 29"/>
          <p:cNvSpPr/>
          <p:nvPr/>
        </p:nvSpPr>
        <p:spPr>
          <a:xfrm>
            <a:off x="3383280" y="2761488"/>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2761488"/>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32" name="TextBox 31"/>
          <p:cNvSpPr txBox="1"/>
          <p:nvPr/>
        </p:nvSpPr>
        <p:spPr>
          <a:xfrm>
            <a:off x="777240" y="2980944"/>
            <a:ext cx="5120640" cy="228600"/>
          </a:xfrm>
          <a:prstGeom prst="rect">
            <a:avLst/>
          </a:prstGeom>
          <a:noFill/>
        </p:spPr>
        <p:txBody>
          <a:bodyPr wrap="square">
            <a:spAutoFit/>
          </a:bodyPr>
          <a:lstStyle/>
          <a:p>
            <a:pPr algn="l">
              <a:defRPr sz="1000" b="0">
                <a:solidFill>
                  <a:srgbClr val="52525B"/>
                </a:solidFill>
                <a:latin typeface="Calibri"/>
              </a:defRPr>
            </a:pPr>
            <a:r>
              <a:t>1 vendor memiliki banyak layanan</a:t>
            </a:r>
          </a:p>
        </p:txBody>
      </p:sp>
      <p:sp>
        <p:nvSpPr>
          <p:cNvPr id="33" name="Rounded Rectangle 32"/>
          <p:cNvSpPr/>
          <p:nvPr/>
        </p:nvSpPr>
        <p:spPr>
          <a:xfrm>
            <a:off x="6400800" y="2688336"/>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2734056"/>
            <a:ext cx="2286000" cy="228600"/>
          </a:xfrm>
          <a:prstGeom prst="rect">
            <a:avLst/>
          </a:prstGeom>
          <a:noFill/>
        </p:spPr>
        <p:txBody>
          <a:bodyPr wrap="square">
            <a:spAutoFit/>
          </a:bodyPr>
          <a:lstStyle/>
          <a:p>
            <a:pPr algn="l">
              <a:defRPr sz="1200" b="1">
                <a:solidFill>
                  <a:srgbClr val="141414"/>
                </a:solidFill>
                <a:latin typeface="Calibri"/>
              </a:defRPr>
            </a:pPr>
            <a:r>
              <a:t>Vendor → Booking</a:t>
            </a:r>
          </a:p>
        </p:txBody>
      </p:sp>
      <p:sp>
        <p:nvSpPr>
          <p:cNvPr id="35" name="Rounded Rectangle 34"/>
          <p:cNvSpPr/>
          <p:nvPr/>
        </p:nvSpPr>
        <p:spPr>
          <a:xfrm>
            <a:off x="9144000" y="2761488"/>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2761488"/>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37" name="TextBox 36"/>
          <p:cNvSpPr txBox="1"/>
          <p:nvPr/>
        </p:nvSpPr>
        <p:spPr>
          <a:xfrm>
            <a:off x="6537960" y="2980944"/>
            <a:ext cx="5120640" cy="228600"/>
          </a:xfrm>
          <a:prstGeom prst="rect">
            <a:avLst/>
          </a:prstGeom>
          <a:noFill/>
        </p:spPr>
        <p:txBody>
          <a:bodyPr wrap="square">
            <a:spAutoFit/>
          </a:bodyPr>
          <a:lstStyle/>
          <a:p>
            <a:pPr algn="l">
              <a:defRPr sz="1000" b="0">
                <a:solidFill>
                  <a:srgbClr val="52525B"/>
                </a:solidFill>
                <a:latin typeface="Calibri"/>
              </a:defRPr>
            </a:pPr>
            <a:r>
              <a:t>1 vendor menerima banyak booking</a:t>
            </a:r>
          </a:p>
        </p:txBody>
      </p:sp>
      <p:sp>
        <p:nvSpPr>
          <p:cNvPr id="38" name="Rounded Rectangle 37"/>
          <p:cNvSpPr/>
          <p:nvPr/>
        </p:nvSpPr>
        <p:spPr>
          <a:xfrm>
            <a:off x="640080" y="3346704"/>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3392424"/>
            <a:ext cx="2286000" cy="228600"/>
          </a:xfrm>
          <a:prstGeom prst="rect">
            <a:avLst/>
          </a:prstGeom>
          <a:noFill/>
        </p:spPr>
        <p:txBody>
          <a:bodyPr wrap="square">
            <a:spAutoFit/>
          </a:bodyPr>
          <a:lstStyle/>
          <a:p>
            <a:pPr algn="l">
              <a:defRPr sz="1200" b="1">
                <a:solidFill>
                  <a:srgbClr val="141414"/>
                </a:solidFill>
                <a:latin typeface="Calibri"/>
              </a:defRPr>
            </a:pPr>
            <a:r>
              <a:t>Vendor → Payout</a:t>
            </a:r>
          </a:p>
        </p:txBody>
      </p:sp>
      <p:sp>
        <p:nvSpPr>
          <p:cNvPr id="40" name="Rounded Rectangle 39"/>
          <p:cNvSpPr/>
          <p:nvPr/>
        </p:nvSpPr>
        <p:spPr>
          <a:xfrm>
            <a:off x="3383280" y="3419856"/>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83280" y="3419856"/>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42" name="TextBox 41"/>
          <p:cNvSpPr txBox="1"/>
          <p:nvPr/>
        </p:nvSpPr>
        <p:spPr>
          <a:xfrm>
            <a:off x="777240" y="3639312"/>
            <a:ext cx="5120640" cy="228600"/>
          </a:xfrm>
          <a:prstGeom prst="rect">
            <a:avLst/>
          </a:prstGeom>
          <a:noFill/>
        </p:spPr>
        <p:txBody>
          <a:bodyPr wrap="square">
            <a:spAutoFit/>
          </a:bodyPr>
          <a:lstStyle/>
          <a:p>
            <a:pPr algn="l">
              <a:defRPr sz="1000" b="0">
                <a:solidFill>
                  <a:srgbClr val="52525B"/>
                </a:solidFill>
                <a:latin typeface="Calibri"/>
              </a:defRPr>
            </a:pPr>
            <a:r>
              <a:t>1 vendor menerima banyak payout</a:t>
            </a:r>
          </a:p>
        </p:txBody>
      </p:sp>
      <p:sp>
        <p:nvSpPr>
          <p:cNvPr id="43" name="Rounded Rectangle 42"/>
          <p:cNvSpPr/>
          <p:nvPr/>
        </p:nvSpPr>
        <p:spPr>
          <a:xfrm>
            <a:off x="6400800" y="3346704"/>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37960" y="3392424"/>
            <a:ext cx="2286000" cy="228600"/>
          </a:xfrm>
          <a:prstGeom prst="rect">
            <a:avLst/>
          </a:prstGeom>
          <a:noFill/>
        </p:spPr>
        <p:txBody>
          <a:bodyPr wrap="square">
            <a:spAutoFit/>
          </a:bodyPr>
          <a:lstStyle/>
          <a:p>
            <a:pPr algn="l">
              <a:defRPr sz="1200" b="1">
                <a:solidFill>
                  <a:srgbClr val="141414"/>
                </a:solidFill>
                <a:latin typeface="Calibri"/>
              </a:defRPr>
            </a:pPr>
            <a:r>
              <a:t>VendorCategory → Vendor</a:t>
            </a:r>
          </a:p>
        </p:txBody>
      </p:sp>
      <p:sp>
        <p:nvSpPr>
          <p:cNvPr id="45" name="Rounded Rectangle 44"/>
          <p:cNvSpPr/>
          <p:nvPr/>
        </p:nvSpPr>
        <p:spPr>
          <a:xfrm>
            <a:off x="9144000" y="3419856"/>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3419856"/>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47" name="TextBox 46"/>
          <p:cNvSpPr txBox="1"/>
          <p:nvPr/>
        </p:nvSpPr>
        <p:spPr>
          <a:xfrm>
            <a:off x="6537960" y="3639312"/>
            <a:ext cx="5120640" cy="228600"/>
          </a:xfrm>
          <a:prstGeom prst="rect">
            <a:avLst/>
          </a:prstGeom>
          <a:noFill/>
        </p:spPr>
        <p:txBody>
          <a:bodyPr wrap="square">
            <a:spAutoFit/>
          </a:bodyPr>
          <a:lstStyle/>
          <a:p>
            <a:pPr algn="l">
              <a:defRPr sz="1000" b="0">
                <a:solidFill>
                  <a:srgbClr val="52525B"/>
                </a:solidFill>
                <a:latin typeface="Calibri"/>
              </a:defRPr>
            </a:pPr>
            <a:r>
              <a:t>1 kategori memiliki banyak vendor</a:t>
            </a:r>
          </a:p>
        </p:txBody>
      </p:sp>
      <p:sp>
        <p:nvSpPr>
          <p:cNvPr id="48" name="Rounded Rectangle 47"/>
          <p:cNvSpPr/>
          <p:nvPr/>
        </p:nvSpPr>
        <p:spPr>
          <a:xfrm>
            <a:off x="640080" y="4005072"/>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4050792"/>
            <a:ext cx="2286000" cy="228600"/>
          </a:xfrm>
          <a:prstGeom prst="rect">
            <a:avLst/>
          </a:prstGeom>
          <a:noFill/>
        </p:spPr>
        <p:txBody>
          <a:bodyPr wrap="square">
            <a:spAutoFit/>
          </a:bodyPr>
          <a:lstStyle/>
          <a:p>
            <a:pPr algn="l">
              <a:defRPr sz="1200" b="1">
                <a:solidFill>
                  <a:srgbClr val="141414"/>
                </a:solidFill>
                <a:latin typeface="Calibri"/>
              </a:defRPr>
            </a:pPr>
            <a:r>
              <a:t>Booking → Transaction</a:t>
            </a:r>
          </a:p>
        </p:txBody>
      </p:sp>
      <p:sp>
        <p:nvSpPr>
          <p:cNvPr id="50" name="Rounded Rectangle 49"/>
          <p:cNvSpPr/>
          <p:nvPr/>
        </p:nvSpPr>
        <p:spPr>
          <a:xfrm>
            <a:off x="3383280" y="4078224"/>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3280" y="4078224"/>
            <a:ext cx="1097280" cy="201168"/>
          </a:xfrm>
          <a:prstGeom prst="rect">
            <a:avLst/>
          </a:prstGeom>
          <a:noFill/>
        </p:spPr>
        <p:txBody>
          <a:bodyPr wrap="square">
            <a:spAutoFit/>
          </a:bodyPr>
          <a:lstStyle/>
          <a:p>
            <a:pPr algn="ctr">
              <a:defRPr sz="800" b="1">
                <a:solidFill>
                  <a:srgbClr val="141414"/>
                </a:solidFill>
                <a:latin typeface="Calibri"/>
              </a:defRPr>
            </a:pPr>
            <a:r>
              <a:t>MorphMany</a:t>
            </a:r>
          </a:p>
        </p:txBody>
      </p:sp>
      <p:sp>
        <p:nvSpPr>
          <p:cNvPr id="52" name="TextBox 51"/>
          <p:cNvSpPr txBox="1"/>
          <p:nvPr/>
        </p:nvSpPr>
        <p:spPr>
          <a:xfrm>
            <a:off x="777240" y="4297680"/>
            <a:ext cx="5120640" cy="228600"/>
          </a:xfrm>
          <a:prstGeom prst="rect">
            <a:avLst/>
          </a:prstGeom>
          <a:noFill/>
        </p:spPr>
        <p:txBody>
          <a:bodyPr wrap="square">
            <a:spAutoFit/>
          </a:bodyPr>
          <a:lstStyle/>
          <a:p>
            <a:pPr algn="l">
              <a:defRPr sz="1000" b="0">
                <a:solidFill>
                  <a:srgbClr val="52525B"/>
                </a:solidFill>
                <a:latin typeface="Calibri"/>
              </a:defRPr>
            </a:pPr>
            <a:r>
              <a:t>1 booking bisa punya banyak transaksi</a:t>
            </a:r>
          </a:p>
        </p:txBody>
      </p:sp>
      <p:sp>
        <p:nvSpPr>
          <p:cNvPr id="53" name="Rounded Rectangle 52"/>
          <p:cNvSpPr/>
          <p:nvPr/>
        </p:nvSpPr>
        <p:spPr>
          <a:xfrm>
            <a:off x="6400800" y="4005072"/>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37960" y="4050792"/>
            <a:ext cx="2286000" cy="228600"/>
          </a:xfrm>
          <a:prstGeom prst="rect">
            <a:avLst/>
          </a:prstGeom>
          <a:noFill/>
        </p:spPr>
        <p:txBody>
          <a:bodyPr wrap="square">
            <a:spAutoFit/>
          </a:bodyPr>
          <a:lstStyle/>
          <a:p>
            <a:pPr algn="l">
              <a:defRPr sz="1200" b="1">
                <a:solidFill>
                  <a:srgbClr val="141414"/>
                </a:solidFill>
                <a:latin typeface="Calibri"/>
              </a:defRPr>
            </a:pPr>
            <a:r>
              <a:t>InvitationOrder → Invitation</a:t>
            </a:r>
          </a:p>
        </p:txBody>
      </p:sp>
      <p:sp>
        <p:nvSpPr>
          <p:cNvPr id="55" name="Rounded Rectangle 54"/>
          <p:cNvSpPr/>
          <p:nvPr/>
        </p:nvSpPr>
        <p:spPr>
          <a:xfrm>
            <a:off x="9144000" y="4078224"/>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0" y="4078224"/>
            <a:ext cx="1097280" cy="201168"/>
          </a:xfrm>
          <a:prstGeom prst="rect">
            <a:avLst/>
          </a:prstGeom>
          <a:noFill/>
        </p:spPr>
        <p:txBody>
          <a:bodyPr wrap="square">
            <a:spAutoFit/>
          </a:bodyPr>
          <a:lstStyle/>
          <a:p>
            <a:pPr algn="ctr">
              <a:defRPr sz="800" b="1">
                <a:solidFill>
                  <a:srgbClr val="141414"/>
                </a:solidFill>
                <a:latin typeface="Calibri"/>
              </a:defRPr>
            </a:pPr>
            <a:r>
              <a:t>HasOne</a:t>
            </a:r>
          </a:p>
        </p:txBody>
      </p:sp>
      <p:sp>
        <p:nvSpPr>
          <p:cNvPr id="57" name="TextBox 56"/>
          <p:cNvSpPr txBox="1"/>
          <p:nvPr/>
        </p:nvSpPr>
        <p:spPr>
          <a:xfrm>
            <a:off x="6537960" y="4297680"/>
            <a:ext cx="5120640" cy="228600"/>
          </a:xfrm>
          <a:prstGeom prst="rect">
            <a:avLst/>
          </a:prstGeom>
          <a:noFill/>
        </p:spPr>
        <p:txBody>
          <a:bodyPr wrap="square">
            <a:spAutoFit/>
          </a:bodyPr>
          <a:lstStyle/>
          <a:p>
            <a:pPr algn="l">
              <a:defRPr sz="1000" b="0">
                <a:solidFill>
                  <a:srgbClr val="52525B"/>
                </a:solidFill>
                <a:latin typeface="Calibri"/>
              </a:defRPr>
            </a:pPr>
            <a:r>
              <a:t>1 order menghasilkan 1 invitation aktif</a:t>
            </a:r>
          </a:p>
        </p:txBody>
      </p:sp>
      <p:sp>
        <p:nvSpPr>
          <p:cNvPr id="58" name="Rounded Rectangle 57"/>
          <p:cNvSpPr/>
          <p:nvPr/>
        </p:nvSpPr>
        <p:spPr>
          <a:xfrm>
            <a:off x="640080" y="4663439"/>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77240" y="4709159"/>
            <a:ext cx="2286000" cy="228600"/>
          </a:xfrm>
          <a:prstGeom prst="rect">
            <a:avLst/>
          </a:prstGeom>
          <a:noFill/>
        </p:spPr>
        <p:txBody>
          <a:bodyPr wrap="square">
            <a:spAutoFit/>
          </a:bodyPr>
          <a:lstStyle/>
          <a:p>
            <a:pPr algn="l">
              <a:defRPr sz="1200" b="1">
                <a:solidFill>
                  <a:srgbClr val="141414"/>
                </a:solidFill>
                <a:latin typeface="Calibri"/>
              </a:defRPr>
            </a:pPr>
            <a:r>
              <a:t>InvitationOrder → Transaction</a:t>
            </a:r>
          </a:p>
        </p:txBody>
      </p:sp>
      <p:sp>
        <p:nvSpPr>
          <p:cNvPr id="60" name="Rounded Rectangle 59"/>
          <p:cNvSpPr/>
          <p:nvPr/>
        </p:nvSpPr>
        <p:spPr>
          <a:xfrm>
            <a:off x="3383280" y="4736591"/>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83280" y="4736591"/>
            <a:ext cx="1097280" cy="201168"/>
          </a:xfrm>
          <a:prstGeom prst="rect">
            <a:avLst/>
          </a:prstGeom>
          <a:noFill/>
        </p:spPr>
        <p:txBody>
          <a:bodyPr wrap="square">
            <a:spAutoFit/>
          </a:bodyPr>
          <a:lstStyle/>
          <a:p>
            <a:pPr algn="ctr">
              <a:defRPr sz="800" b="1">
                <a:solidFill>
                  <a:srgbClr val="141414"/>
                </a:solidFill>
                <a:latin typeface="Calibri"/>
              </a:defRPr>
            </a:pPr>
            <a:r>
              <a:t>MorphMany</a:t>
            </a:r>
          </a:p>
        </p:txBody>
      </p:sp>
      <p:sp>
        <p:nvSpPr>
          <p:cNvPr id="62" name="TextBox 61"/>
          <p:cNvSpPr txBox="1"/>
          <p:nvPr/>
        </p:nvSpPr>
        <p:spPr>
          <a:xfrm>
            <a:off x="777240" y="4956047"/>
            <a:ext cx="5120640" cy="228600"/>
          </a:xfrm>
          <a:prstGeom prst="rect">
            <a:avLst/>
          </a:prstGeom>
          <a:noFill/>
        </p:spPr>
        <p:txBody>
          <a:bodyPr wrap="square">
            <a:spAutoFit/>
          </a:bodyPr>
          <a:lstStyle/>
          <a:p>
            <a:pPr algn="l">
              <a:defRPr sz="1000" b="0">
                <a:solidFill>
                  <a:srgbClr val="52525B"/>
                </a:solidFill>
                <a:latin typeface="Calibri"/>
              </a:defRPr>
            </a:pPr>
            <a:r>
              <a:t>1 order undangan punya banyak transaksi</a:t>
            </a:r>
          </a:p>
        </p:txBody>
      </p:sp>
      <p:sp>
        <p:nvSpPr>
          <p:cNvPr id="63" name="Rounded Rectangle 62"/>
          <p:cNvSpPr/>
          <p:nvPr/>
        </p:nvSpPr>
        <p:spPr>
          <a:xfrm>
            <a:off x="6400800" y="4663439"/>
            <a:ext cx="5394960" cy="54864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37960" y="4709159"/>
            <a:ext cx="2286000" cy="228600"/>
          </a:xfrm>
          <a:prstGeom prst="rect">
            <a:avLst/>
          </a:prstGeom>
          <a:noFill/>
        </p:spPr>
        <p:txBody>
          <a:bodyPr wrap="square">
            <a:spAutoFit/>
          </a:bodyPr>
          <a:lstStyle/>
          <a:p>
            <a:pPr algn="l">
              <a:defRPr sz="1200" b="1">
                <a:solidFill>
                  <a:srgbClr val="141414"/>
                </a:solidFill>
                <a:latin typeface="Calibri"/>
              </a:defRPr>
            </a:pPr>
            <a:r>
              <a:t>Invitation → InvitationRsvp</a:t>
            </a:r>
          </a:p>
        </p:txBody>
      </p:sp>
      <p:sp>
        <p:nvSpPr>
          <p:cNvPr id="65" name="Rounded Rectangle 64"/>
          <p:cNvSpPr/>
          <p:nvPr/>
        </p:nvSpPr>
        <p:spPr>
          <a:xfrm>
            <a:off x="9144000" y="4736591"/>
            <a:ext cx="1097280" cy="201168"/>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0" y="4736591"/>
            <a:ext cx="1097280" cy="201168"/>
          </a:xfrm>
          <a:prstGeom prst="rect">
            <a:avLst/>
          </a:prstGeom>
          <a:noFill/>
        </p:spPr>
        <p:txBody>
          <a:bodyPr wrap="square">
            <a:spAutoFit/>
          </a:bodyPr>
          <a:lstStyle/>
          <a:p>
            <a:pPr algn="ctr">
              <a:defRPr sz="800" b="1">
                <a:solidFill>
                  <a:srgbClr val="141414"/>
                </a:solidFill>
                <a:latin typeface="Calibri"/>
              </a:defRPr>
            </a:pPr>
            <a:r>
              <a:t>HasMany</a:t>
            </a:r>
          </a:p>
        </p:txBody>
      </p:sp>
      <p:sp>
        <p:nvSpPr>
          <p:cNvPr id="67" name="TextBox 66"/>
          <p:cNvSpPr txBox="1"/>
          <p:nvPr/>
        </p:nvSpPr>
        <p:spPr>
          <a:xfrm>
            <a:off x="6537960" y="4956047"/>
            <a:ext cx="5120640" cy="228600"/>
          </a:xfrm>
          <a:prstGeom prst="rect">
            <a:avLst/>
          </a:prstGeom>
          <a:noFill/>
        </p:spPr>
        <p:txBody>
          <a:bodyPr wrap="square">
            <a:spAutoFit/>
          </a:bodyPr>
          <a:lstStyle/>
          <a:p>
            <a:pPr algn="l">
              <a:defRPr sz="1000" b="0">
                <a:solidFill>
                  <a:srgbClr val="52525B"/>
                </a:solidFill>
                <a:latin typeface="Calibri"/>
              </a:defRPr>
            </a:pPr>
            <a:r>
              <a:t>1 undangan menerima banyak RSVP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Alur Bisnis Singkat</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60120"/>
            <a:ext cx="9144000" cy="365760"/>
          </a:xfrm>
          <a:prstGeom prst="rect">
            <a:avLst/>
          </a:prstGeom>
          <a:noFill/>
        </p:spPr>
        <p:txBody>
          <a:bodyPr wrap="square">
            <a:spAutoFit/>
          </a:bodyPr>
          <a:lstStyle/>
          <a:p>
            <a:pPr algn="l">
              <a:defRPr sz="1300" b="0">
                <a:solidFill>
                  <a:srgbClr val="52525B"/>
                </a:solidFill>
                <a:latin typeface="Calibri"/>
              </a:defRPr>
            </a:pPr>
            <a:r>
              <a:t>Alur kerja utama dari marketplace BrightDor</a:t>
            </a:r>
          </a:p>
        </p:txBody>
      </p:sp>
      <p:sp>
        <p:nvSpPr>
          <p:cNvPr id="6" name="Rectangle 5"/>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12 / 14</a:t>
            </a:r>
          </a:p>
        </p:txBody>
      </p:sp>
      <p:sp>
        <p:nvSpPr>
          <p:cNvPr id="8" name="Rounded Rectangle 7"/>
          <p:cNvSpPr/>
          <p:nvPr/>
        </p:nvSpPr>
        <p:spPr>
          <a:xfrm>
            <a:off x="640080" y="1554480"/>
            <a:ext cx="1737360" cy="2377440"/>
          </a:xfrm>
          <a:prstGeom prst="roundRect">
            <a:avLst/>
          </a:prstGeom>
          <a:solidFill>
            <a:srgbClr val="FFFFFF"/>
          </a:solidFill>
          <a:ln w="12700">
            <a:solidFill>
              <a:srgbClr val="C4A5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1737360"/>
            <a:ext cx="457200" cy="457200"/>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755648"/>
            <a:ext cx="457200" cy="457200"/>
          </a:xfrm>
          <a:prstGeom prst="rect">
            <a:avLst/>
          </a:prstGeom>
          <a:noFill/>
        </p:spPr>
        <p:txBody>
          <a:bodyPr wrap="square">
            <a:spAutoFit/>
          </a:bodyPr>
          <a:lstStyle/>
          <a:p>
            <a:pPr algn="ctr">
              <a:defRPr sz="1800" b="1">
                <a:solidFill>
                  <a:srgbClr val="FFFFFF"/>
                </a:solidFill>
                <a:latin typeface="Calibri"/>
              </a:defRPr>
            </a:pPr>
            <a:r>
              <a:t>1</a:t>
            </a:r>
          </a:p>
        </p:txBody>
      </p:sp>
      <p:sp>
        <p:nvSpPr>
          <p:cNvPr id="11" name="TextBox 10"/>
          <p:cNvSpPr txBox="1"/>
          <p:nvPr/>
        </p:nvSpPr>
        <p:spPr>
          <a:xfrm>
            <a:off x="731520" y="2286000"/>
            <a:ext cx="1554480" cy="548640"/>
          </a:xfrm>
          <a:prstGeom prst="rect">
            <a:avLst/>
          </a:prstGeom>
          <a:noFill/>
        </p:spPr>
        <p:txBody>
          <a:bodyPr wrap="square">
            <a:spAutoFit/>
          </a:bodyPr>
          <a:lstStyle/>
          <a:p>
            <a:pPr algn="ctr">
              <a:defRPr sz="1100" b="1">
                <a:solidFill>
                  <a:srgbClr val="141414"/>
                </a:solidFill>
                <a:latin typeface="Calibri"/>
              </a:defRPr>
            </a:pPr>
            <a:r>
              <a:t>Vendor</a:t>
            </a:r>
            <a:br/>
            <a:r>
              <a:t>Mendaftar</a:t>
            </a:r>
          </a:p>
        </p:txBody>
      </p:sp>
      <p:sp>
        <p:nvSpPr>
          <p:cNvPr id="12" name="TextBox 11"/>
          <p:cNvSpPr txBox="1"/>
          <p:nvPr/>
        </p:nvSpPr>
        <p:spPr>
          <a:xfrm>
            <a:off x="731520" y="2880360"/>
            <a:ext cx="1554480" cy="822960"/>
          </a:xfrm>
          <a:prstGeom prst="rect">
            <a:avLst/>
          </a:prstGeom>
          <a:noFill/>
        </p:spPr>
        <p:txBody>
          <a:bodyPr wrap="square">
            <a:spAutoFit/>
          </a:bodyPr>
          <a:lstStyle/>
          <a:p>
            <a:pPr algn="ctr">
              <a:defRPr sz="900" b="0">
                <a:solidFill>
                  <a:srgbClr val="52525B"/>
                </a:solidFill>
                <a:latin typeface="Calibri"/>
              </a:defRPr>
            </a:pPr>
            <a:r>
              <a:t>Vendor buat akun,</a:t>
            </a:r>
            <a:br/>
            <a:r>
              <a:t>isi profil usaha</a:t>
            </a:r>
          </a:p>
        </p:txBody>
      </p:sp>
      <p:sp>
        <p:nvSpPr>
          <p:cNvPr id="13" name="TextBox 12"/>
          <p:cNvSpPr txBox="1"/>
          <p:nvPr/>
        </p:nvSpPr>
        <p:spPr>
          <a:xfrm>
            <a:off x="2423160" y="2377440"/>
            <a:ext cx="274320" cy="365760"/>
          </a:xfrm>
          <a:prstGeom prst="rect">
            <a:avLst/>
          </a:prstGeom>
          <a:noFill/>
        </p:spPr>
        <p:txBody>
          <a:bodyPr wrap="square">
            <a:spAutoFit/>
          </a:bodyPr>
          <a:lstStyle/>
          <a:p>
            <a:pPr algn="ctr">
              <a:defRPr sz="1800" b="1">
                <a:solidFill>
                  <a:srgbClr val="C4A574"/>
                </a:solidFill>
                <a:latin typeface="Calibri"/>
              </a:defRPr>
            </a:pPr>
            <a:r>
              <a:t>→</a:t>
            </a:r>
          </a:p>
        </p:txBody>
      </p:sp>
      <p:sp>
        <p:nvSpPr>
          <p:cNvPr id="14" name="Rounded Rectangle 13"/>
          <p:cNvSpPr/>
          <p:nvPr/>
        </p:nvSpPr>
        <p:spPr>
          <a:xfrm>
            <a:off x="2560320" y="1554480"/>
            <a:ext cx="1737360" cy="2377440"/>
          </a:xfrm>
          <a:prstGeom prst="round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00400" y="1737360"/>
            <a:ext cx="457200" cy="4572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1755648"/>
            <a:ext cx="457200" cy="457200"/>
          </a:xfrm>
          <a:prstGeom prst="rect">
            <a:avLst/>
          </a:prstGeom>
          <a:noFill/>
        </p:spPr>
        <p:txBody>
          <a:bodyPr wrap="square">
            <a:spAutoFit/>
          </a:bodyPr>
          <a:lstStyle/>
          <a:p>
            <a:pPr algn="ctr">
              <a:defRPr sz="1800" b="1">
                <a:solidFill>
                  <a:srgbClr val="FFFFFF"/>
                </a:solidFill>
                <a:latin typeface="Calibri"/>
              </a:defRPr>
            </a:pPr>
            <a:r>
              <a:t>2</a:t>
            </a:r>
          </a:p>
        </p:txBody>
      </p:sp>
      <p:sp>
        <p:nvSpPr>
          <p:cNvPr id="17" name="TextBox 16"/>
          <p:cNvSpPr txBox="1"/>
          <p:nvPr/>
        </p:nvSpPr>
        <p:spPr>
          <a:xfrm>
            <a:off x="2651760" y="2286000"/>
            <a:ext cx="1554480" cy="548640"/>
          </a:xfrm>
          <a:prstGeom prst="rect">
            <a:avLst/>
          </a:prstGeom>
          <a:noFill/>
        </p:spPr>
        <p:txBody>
          <a:bodyPr wrap="square">
            <a:spAutoFit/>
          </a:bodyPr>
          <a:lstStyle/>
          <a:p>
            <a:pPr algn="ctr">
              <a:defRPr sz="1100" b="1">
                <a:solidFill>
                  <a:srgbClr val="141414"/>
                </a:solidFill>
                <a:latin typeface="Calibri"/>
              </a:defRPr>
            </a:pPr>
            <a:r>
              <a:t>Admin</a:t>
            </a:r>
            <a:br/>
            <a:r>
              <a:t>Review</a:t>
            </a:r>
          </a:p>
        </p:txBody>
      </p:sp>
      <p:sp>
        <p:nvSpPr>
          <p:cNvPr id="18" name="TextBox 17"/>
          <p:cNvSpPr txBox="1"/>
          <p:nvPr/>
        </p:nvSpPr>
        <p:spPr>
          <a:xfrm>
            <a:off x="2651760" y="2880360"/>
            <a:ext cx="1554480" cy="822960"/>
          </a:xfrm>
          <a:prstGeom prst="rect">
            <a:avLst/>
          </a:prstGeom>
          <a:noFill/>
        </p:spPr>
        <p:txBody>
          <a:bodyPr wrap="square">
            <a:spAutoFit/>
          </a:bodyPr>
          <a:lstStyle/>
          <a:p>
            <a:pPr algn="ctr">
              <a:defRPr sz="900" b="0">
                <a:solidFill>
                  <a:srgbClr val="52525B"/>
                </a:solidFill>
                <a:latin typeface="Calibri"/>
              </a:defRPr>
            </a:pPr>
            <a:r>
              <a:t>Admin approve/reject</a:t>
            </a:r>
            <a:br/>
            <a:r>
              <a:t>vendor</a:t>
            </a:r>
          </a:p>
        </p:txBody>
      </p:sp>
      <p:sp>
        <p:nvSpPr>
          <p:cNvPr id="19" name="TextBox 18"/>
          <p:cNvSpPr txBox="1"/>
          <p:nvPr/>
        </p:nvSpPr>
        <p:spPr>
          <a:xfrm>
            <a:off x="4343400" y="2377440"/>
            <a:ext cx="274320" cy="365760"/>
          </a:xfrm>
          <a:prstGeom prst="rect">
            <a:avLst/>
          </a:prstGeom>
          <a:noFill/>
        </p:spPr>
        <p:txBody>
          <a:bodyPr wrap="square">
            <a:spAutoFit/>
          </a:bodyPr>
          <a:lstStyle/>
          <a:p>
            <a:pPr algn="ctr">
              <a:defRPr sz="1800" b="1">
                <a:solidFill>
                  <a:srgbClr val="C4A574"/>
                </a:solidFill>
                <a:latin typeface="Calibri"/>
              </a:defRPr>
            </a:pPr>
            <a:r>
              <a:t>→</a:t>
            </a:r>
          </a:p>
        </p:txBody>
      </p:sp>
      <p:sp>
        <p:nvSpPr>
          <p:cNvPr id="20" name="Rounded Rectangle 19"/>
          <p:cNvSpPr/>
          <p:nvPr/>
        </p:nvSpPr>
        <p:spPr>
          <a:xfrm>
            <a:off x="4480560" y="1554480"/>
            <a:ext cx="1737360" cy="2377440"/>
          </a:xfrm>
          <a:prstGeom prst="roundRect">
            <a:avLst/>
          </a:prstGeom>
          <a:solidFill>
            <a:srgbClr val="FFFF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0" y="1737360"/>
            <a:ext cx="457200" cy="45720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755648"/>
            <a:ext cx="457200" cy="457200"/>
          </a:xfrm>
          <a:prstGeom prst="rect">
            <a:avLst/>
          </a:prstGeom>
          <a:noFill/>
        </p:spPr>
        <p:txBody>
          <a:bodyPr wrap="square">
            <a:spAutoFit/>
          </a:bodyPr>
          <a:lstStyle/>
          <a:p>
            <a:pPr algn="ctr">
              <a:defRPr sz="1800" b="1">
                <a:solidFill>
                  <a:srgbClr val="FFFFFF"/>
                </a:solidFill>
                <a:latin typeface="Calibri"/>
              </a:defRPr>
            </a:pPr>
            <a:r>
              <a:t>3</a:t>
            </a:r>
          </a:p>
        </p:txBody>
      </p:sp>
      <p:sp>
        <p:nvSpPr>
          <p:cNvPr id="23" name="TextBox 22"/>
          <p:cNvSpPr txBox="1"/>
          <p:nvPr/>
        </p:nvSpPr>
        <p:spPr>
          <a:xfrm>
            <a:off x="4572000" y="2286000"/>
            <a:ext cx="1554480" cy="548640"/>
          </a:xfrm>
          <a:prstGeom prst="rect">
            <a:avLst/>
          </a:prstGeom>
          <a:noFill/>
        </p:spPr>
        <p:txBody>
          <a:bodyPr wrap="square">
            <a:spAutoFit/>
          </a:bodyPr>
          <a:lstStyle/>
          <a:p>
            <a:pPr algn="ctr">
              <a:defRPr sz="1100" b="1">
                <a:solidFill>
                  <a:srgbClr val="141414"/>
                </a:solidFill>
                <a:latin typeface="Calibri"/>
              </a:defRPr>
            </a:pPr>
            <a:r>
              <a:t>Vendor Upload</a:t>
            </a:r>
            <a:br/>
            <a:r>
              <a:t>Layanan</a:t>
            </a:r>
          </a:p>
        </p:txBody>
      </p:sp>
      <p:sp>
        <p:nvSpPr>
          <p:cNvPr id="24" name="TextBox 23"/>
          <p:cNvSpPr txBox="1"/>
          <p:nvPr/>
        </p:nvSpPr>
        <p:spPr>
          <a:xfrm>
            <a:off x="4572000" y="2880360"/>
            <a:ext cx="1554480" cy="822960"/>
          </a:xfrm>
          <a:prstGeom prst="rect">
            <a:avLst/>
          </a:prstGeom>
          <a:noFill/>
        </p:spPr>
        <p:txBody>
          <a:bodyPr wrap="square">
            <a:spAutoFit/>
          </a:bodyPr>
          <a:lstStyle/>
          <a:p>
            <a:pPr algn="ctr">
              <a:defRPr sz="900" b="0">
                <a:solidFill>
                  <a:srgbClr val="52525B"/>
                </a:solidFill>
                <a:latin typeface="Calibri"/>
              </a:defRPr>
            </a:pPr>
            <a:r>
              <a:t>Buat service</a:t>
            </a:r>
            <a:br/>
            <a:r>
              <a:t>&amp; harga</a:t>
            </a:r>
          </a:p>
        </p:txBody>
      </p:sp>
      <p:sp>
        <p:nvSpPr>
          <p:cNvPr id="25" name="TextBox 24"/>
          <p:cNvSpPr txBox="1"/>
          <p:nvPr/>
        </p:nvSpPr>
        <p:spPr>
          <a:xfrm>
            <a:off x="6263640" y="2377440"/>
            <a:ext cx="274320" cy="365760"/>
          </a:xfrm>
          <a:prstGeom prst="rect">
            <a:avLst/>
          </a:prstGeom>
          <a:noFill/>
        </p:spPr>
        <p:txBody>
          <a:bodyPr wrap="square">
            <a:spAutoFit/>
          </a:bodyPr>
          <a:lstStyle/>
          <a:p>
            <a:pPr algn="ctr">
              <a:defRPr sz="1800" b="1">
                <a:solidFill>
                  <a:srgbClr val="C4A574"/>
                </a:solidFill>
                <a:latin typeface="Calibri"/>
              </a:defRPr>
            </a:pPr>
            <a:r>
              <a:t>→</a:t>
            </a:r>
          </a:p>
        </p:txBody>
      </p:sp>
      <p:sp>
        <p:nvSpPr>
          <p:cNvPr id="26" name="Rounded Rectangle 25"/>
          <p:cNvSpPr/>
          <p:nvPr/>
        </p:nvSpPr>
        <p:spPr>
          <a:xfrm>
            <a:off x="6400800" y="1554480"/>
            <a:ext cx="1737360" cy="2377440"/>
          </a:xfrm>
          <a:prstGeom prst="round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40880" y="1737360"/>
            <a:ext cx="457200" cy="45720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1755648"/>
            <a:ext cx="457200" cy="457200"/>
          </a:xfrm>
          <a:prstGeom prst="rect">
            <a:avLst/>
          </a:prstGeom>
          <a:noFill/>
        </p:spPr>
        <p:txBody>
          <a:bodyPr wrap="square">
            <a:spAutoFit/>
          </a:bodyPr>
          <a:lstStyle/>
          <a:p>
            <a:pPr algn="ctr">
              <a:defRPr sz="1800" b="1">
                <a:solidFill>
                  <a:srgbClr val="FFFFFF"/>
                </a:solidFill>
                <a:latin typeface="Calibri"/>
              </a:defRPr>
            </a:pPr>
            <a:r>
              <a:t>4</a:t>
            </a:r>
          </a:p>
        </p:txBody>
      </p:sp>
      <p:sp>
        <p:nvSpPr>
          <p:cNvPr id="29" name="TextBox 28"/>
          <p:cNvSpPr txBox="1"/>
          <p:nvPr/>
        </p:nvSpPr>
        <p:spPr>
          <a:xfrm>
            <a:off x="6492240" y="2286000"/>
            <a:ext cx="1554480" cy="548640"/>
          </a:xfrm>
          <a:prstGeom prst="rect">
            <a:avLst/>
          </a:prstGeom>
          <a:noFill/>
        </p:spPr>
        <p:txBody>
          <a:bodyPr wrap="square">
            <a:spAutoFit/>
          </a:bodyPr>
          <a:lstStyle/>
          <a:p>
            <a:pPr algn="ctr">
              <a:defRPr sz="1100" b="1">
                <a:solidFill>
                  <a:srgbClr val="141414"/>
                </a:solidFill>
                <a:latin typeface="Calibri"/>
              </a:defRPr>
            </a:pPr>
            <a:r>
              <a:t>Couple</a:t>
            </a:r>
            <a:br/>
            <a:r>
              <a:t>Booking</a:t>
            </a:r>
          </a:p>
        </p:txBody>
      </p:sp>
      <p:sp>
        <p:nvSpPr>
          <p:cNvPr id="30" name="TextBox 29"/>
          <p:cNvSpPr txBox="1"/>
          <p:nvPr/>
        </p:nvSpPr>
        <p:spPr>
          <a:xfrm>
            <a:off x="6492240" y="2880360"/>
            <a:ext cx="1554480" cy="822960"/>
          </a:xfrm>
          <a:prstGeom prst="rect">
            <a:avLst/>
          </a:prstGeom>
          <a:noFill/>
        </p:spPr>
        <p:txBody>
          <a:bodyPr wrap="square">
            <a:spAutoFit/>
          </a:bodyPr>
          <a:lstStyle/>
          <a:p>
            <a:pPr algn="ctr">
              <a:defRPr sz="900" b="0">
                <a:solidFill>
                  <a:srgbClr val="52525B"/>
                </a:solidFill>
                <a:latin typeface="Calibri"/>
              </a:defRPr>
            </a:pPr>
            <a:r>
              <a:t>Pilih vendor</a:t>
            </a:r>
            <a:br/>
            <a:r>
              <a:t>&amp; layanan</a:t>
            </a:r>
          </a:p>
        </p:txBody>
      </p:sp>
      <p:sp>
        <p:nvSpPr>
          <p:cNvPr id="31" name="TextBox 30"/>
          <p:cNvSpPr txBox="1"/>
          <p:nvPr/>
        </p:nvSpPr>
        <p:spPr>
          <a:xfrm>
            <a:off x="8183880" y="2377440"/>
            <a:ext cx="274320" cy="365760"/>
          </a:xfrm>
          <a:prstGeom prst="rect">
            <a:avLst/>
          </a:prstGeom>
          <a:noFill/>
        </p:spPr>
        <p:txBody>
          <a:bodyPr wrap="square">
            <a:spAutoFit/>
          </a:bodyPr>
          <a:lstStyle/>
          <a:p>
            <a:pPr algn="ctr">
              <a:defRPr sz="1800" b="1">
                <a:solidFill>
                  <a:srgbClr val="C4A574"/>
                </a:solidFill>
                <a:latin typeface="Calibri"/>
              </a:defRPr>
            </a:pPr>
            <a:r>
              <a:t>→</a:t>
            </a:r>
          </a:p>
        </p:txBody>
      </p:sp>
      <p:sp>
        <p:nvSpPr>
          <p:cNvPr id="32" name="Rounded Rectangle 31"/>
          <p:cNvSpPr/>
          <p:nvPr/>
        </p:nvSpPr>
        <p:spPr>
          <a:xfrm>
            <a:off x="8321040" y="1554480"/>
            <a:ext cx="1737360" cy="2377440"/>
          </a:xfrm>
          <a:prstGeom prst="roundRect">
            <a:avLst/>
          </a:prstGeom>
          <a:solidFill>
            <a:srgbClr val="FFFFFF"/>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961120" y="1737360"/>
            <a:ext cx="457200" cy="457200"/>
          </a:xfrm>
          <a:prstGeom prst="round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0" y="1755648"/>
            <a:ext cx="457200" cy="457200"/>
          </a:xfrm>
          <a:prstGeom prst="rect">
            <a:avLst/>
          </a:prstGeom>
          <a:noFill/>
        </p:spPr>
        <p:txBody>
          <a:bodyPr wrap="square">
            <a:spAutoFit/>
          </a:bodyPr>
          <a:lstStyle/>
          <a:p>
            <a:pPr algn="ctr">
              <a:defRPr sz="1800" b="1">
                <a:solidFill>
                  <a:srgbClr val="FFFFFF"/>
                </a:solidFill>
                <a:latin typeface="Calibri"/>
              </a:defRPr>
            </a:pPr>
            <a:r>
              <a:t>5</a:t>
            </a:r>
          </a:p>
        </p:txBody>
      </p:sp>
      <p:sp>
        <p:nvSpPr>
          <p:cNvPr id="35" name="TextBox 34"/>
          <p:cNvSpPr txBox="1"/>
          <p:nvPr/>
        </p:nvSpPr>
        <p:spPr>
          <a:xfrm>
            <a:off x="8412480" y="2286000"/>
            <a:ext cx="1554480" cy="548640"/>
          </a:xfrm>
          <a:prstGeom prst="rect">
            <a:avLst/>
          </a:prstGeom>
          <a:noFill/>
        </p:spPr>
        <p:txBody>
          <a:bodyPr wrap="square">
            <a:spAutoFit/>
          </a:bodyPr>
          <a:lstStyle/>
          <a:p>
            <a:pPr algn="ctr">
              <a:defRPr sz="1100" b="1">
                <a:solidFill>
                  <a:srgbClr val="141414"/>
                </a:solidFill>
                <a:latin typeface="Calibri"/>
              </a:defRPr>
            </a:pPr>
            <a:r>
              <a:t>Pembayaran</a:t>
            </a:r>
          </a:p>
        </p:txBody>
      </p:sp>
      <p:sp>
        <p:nvSpPr>
          <p:cNvPr id="36" name="TextBox 35"/>
          <p:cNvSpPr txBox="1"/>
          <p:nvPr/>
        </p:nvSpPr>
        <p:spPr>
          <a:xfrm>
            <a:off x="8412480" y="2880360"/>
            <a:ext cx="1554480" cy="822960"/>
          </a:xfrm>
          <a:prstGeom prst="rect">
            <a:avLst/>
          </a:prstGeom>
          <a:noFill/>
        </p:spPr>
        <p:txBody>
          <a:bodyPr wrap="square">
            <a:spAutoFit/>
          </a:bodyPr>
          <a:lstStyle/>
          <a:p>
            <a:pPr algn="ctr">
              <a:defRPr sz="900" b="0">
                <a:solidFill>
                  <a:srgbClr val="52525B"/>
                </a:solidFill>
                <a:latin typeface="Calibri"/>
              </a:defRPr>
            </a:pPr>
            <a:r>
              <a:t>Bayar → transaksi</a:t>
            </a:r>
            <a:br/>
            <a:r>
              <a:t>&amp; komisi otomatis</a:t>
            </a:r>
          </a:p>
        </p:txBody>
      </p:sp>
      <p:sp>
        <p:nvSpPr>
          <p:cNvPr id="37" name="TextBox 36"/>
          <p:cNvSpPr txBox="1"/>
          <p:nvPr/>
        </p:nvSpPr>
        <p:spPr>
          <a:xfrm>
            <a:off x="10104120" y="2377440"/>
            <a:ext cx="274320" cy="365760"/>
          </a:xfrm>
          <a:prstGeom prst="rect">
            <a:avLst/>
          </a:prstGeom>
          <a:noFill/>
        </p:spPr>
        <p:txBody>
          <a:bodyPr wrap="square">
            <a:spAutoFit/>
          </a:bodyPr>
          <a:lstStyle/>
          <a:p>
            <a:pPr algn="ctr">
              <a:defRPr sz="1800" b="1">
                <a:solidFill>
                  <a:srgbClr val="C4A574"/>
                </a:solidFill>
                <a:latin typeface="Calibri"/>
              </a:defRPr>
            </a:pPr>
            <a:r>
              <a:t>→</a:t>
            </a:r>
          </a:p>
        </p:txBody>
      </p:sp>
      <p:sp>
        <p:nvSpPr>
          <p:cNvPr id="38" name="Rounded Rectangle 37"/>
          <p:cNvSpPr/>
          <p:nvPr/>
        </p:nvSpPr>
        <p:spPr>
          <a:xfrm>
            <a:off x="10241280" y="1554480"/>
            <a:ext cx="1737360" cy="2377440"/>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881360" y="1737360"/>
            <a:ext cx="457200" cy="45720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81360" y="1755648"/>
            <a:ext cx="457200" cy="457200"/>
          </a:xfrm>
          <a:prstGeom prst="rect">
            <a:avLst/>
          </a:prstGeom>
          <a:noFill/>
        </p:spPr>
        <p:txBody>
          <a:bodyPr wrap="square">
            <a:spAutoFit/>
          </a:bodyPr>
          <a:lstStyle/>
          <a:p>
            <a:pPr algn="ctr">
              <a:defRPr sz="1800" b="1">
                <a:solidFill>
                  <a:srgbClr val="FFFFFF"/>
                </a:solidFill>
                <a:latin typeface="Calibri"/>
              </a:defRPr>
            </a:pPr>
            <a:r>
              <a:t>6</a:t>
            </a:r>
          </a:p>
        </p:txBody>
      </p:sp>
      <p:sp>
        <p:nvSpPr>
          <p:cNvPr id="41" name="TextBox 40"/>
          <p:cNvSpPr txBox="1"/>
          <p:nvPr/>
        </p:nvSpPr>
        <p:spPr>
          <a:xfrm>
            <a:off x="10332720" y="2286000"/>
            <a:ext cx="1554480" cy="548640"/>
          </a:xfrm>
          <a:prstGeom prst="rect">
            <a:avLst/>
          </a:prstGeom>
          <a:noFill/>
        </p:spPr>
        <p:txBody>
          <a:bodyPr wrap="square">
            <a:spAutoFit/>
          </a:bodyPr>
          <a:lstStyle/>
          <a:p>
            <a:pPr algn="ctr">
              <a:defRPr sz="1100" b="1">
                <a:solidFill>
                  <a:srgbClr val="141414"/>
                </a:solidFill>
                <a:latin typeface="Calibri"/>
              </a:defRPr>
            </a:pPr>
            <a:r>
              <a:t>Payout</a:t>
            </a:r>
            <a:br/>
            <a:r>
              <a:t>Vendor</a:t>
            </a:r>
          </a:p>
        </p:txBody>
      </p:sp>
      <p:sp>
        <p:nvSpPr>
          <p:cNvPr id="42" name="TextBox 41"/>
          <p:cNvSpPr txBox="1"/>
          <p:nvPr/>
        </p:nvSpPr>
        <p:spPr>
          <a:xfrm>
            <a:off x="10332720" y="2880360"/>
            <a:ext cx="1554480" cy="822960"/>
          </a:xfrm>
          <a:prstGeom prst="rect">
            <a:avLst/>
          </a:prstGeom>
          <a:noFill/>
        </p:spPr>
        <p:txBody>
          <a:bodyPr wrap="square">
            <a:spAutoFit/>
          </a:bodyPr>
          <a:lstStyle/>
          <a:p>
            <a:pPr algn="ctr">
              <a:defRPr sz="900" b="0">
                <a:solidFill>
                  <a:srgbClr val="52525B"/>
                </a:solidFill>
                <a:latin typeface="Calibri"/>
              </a:defRPr>
            </a:pPr>
            <a:r>
              <a:t>Admin proses</a:t>
            </a:r>
            <a:br/>
            <a:r>
              <a:t>payout vendor</a:t>
            </a:r>
          </a:p>
        </p:txBody>
      </p:sp>
      <p:sp>
        <p:nvSpPr>
          <p:cNvPr id="43" name="TextBox 42"/>
          <p:cNvSpPr txBox="1"/>
          <p:nvPr/>
        </p:nvSpPr>
        <p:spPr>
          <a:xfrm>
            <a:off x="640080" y="1325880"/>
            <a:ext cx="2743200" cy="228600"/>
          </a:xfrm>
          <a:prstGeom prst="rect">
            <a:avLst/>
          </a:prstGeom>
          <a:noFill/>
        </p:spPr>
        <p:txBody>
          <a:bodyPr wrap="square">
            <a:spAutoFit/>
          </a:bodyPr>
          <a:lstStyle/>
          <a:p>
            <a:pPr algn="l">
              <a:defRPr sz="1100" b="1">
                <a:solidFill>
                  <a:srgbClr val="141414"/>
                </a:solidFill>
                <a:latin typeface="Calibri"/>
              </a:defRPr>
            </a:pPr>
            <a:r>
              <a:t>Alur Marketplace</a:t>
            </a:r>
          </a:p>
        </p:txBody>
      </p:sp>
      <p:sp>
        <p:nvSpPr>
          <p:cNvPr id="44" name="Rounded Rectangle 43"/>
          <p:cNvSpPr/>
          <p:nvPr/>
        </p:nvSpPr>
        <p:spPr>
          <a:xfrm>
            <a:off x="1097280" y="4297680"/>
            <a:ext cx="1920240" cy="2103120"/>
          </a:xfrm>
          <a:prstGeom prst="roundRect">
            <a:avLst/>
          </a:prstGeom>
          <a:solidFill>
            <a:srgbClr val="FFFFFF"/>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828800" y="4434840"/>
            <a:ext cx="411480" cy="41148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28800" y="4453128"/>
            <a:ext cx="411480" cy="411480"/>
          </a:xfrm>
          <a:prstGeom prst="rect">
            <a:avLst/>
          </a:prstGeom>
          <a:noFill/>
        </p:spPr>
        <p:txBody>
          <a:bodyPr wrap="square">
            <a:spAutoFit/>
          </a:bodyPr>
          <a:lstStyle/>
          <a:p>
            <a:pPr algn="ctr">
              <a:defRPr sz="1600" b="1">
                <a:solidFill>
                  <a:srgbClr val="FFFFFF"/>
                </a:solidFill>
                <a:latin typeface="Calibri"/>
              </a:defRPr>
            </a:pPr>
            <a:r>
              <a:t>1</a:t>
            </a:r>
          </a:p>
        </p:txBody>
      </p:sp>
      <p:sp>
        <p:nvSpPr>
          <p:cNvPr id="47" name="TextBox 46"/>
          <p:cNvSpPr txBox="1"/>
          <p:nvPr/>
        </p:nvSpPr>
        <p:spPr>
          <a:xfrm>
            <a:off x="1188720" y="4937760"/>
            <a:ext cx="1737360" cy="457200"/>
          </a:xfrm>
          <a:prstGeom prst="rect">
            <a:avLst/>
          </a:prstGeom>
          <a:noFill/>
        </p:spPr>
        <p:txBody>
          <a:bodyPr wrap="square">
            <a:spAutoFit/>
          </a:bodyPr>
          <a:lstStyle/>
          <a:p>
            <a:pPr algn="ctr">
              <a:defRPr sz="1100" b="1">
                <a:solidFill>
                  <a:srgbClr val="141414"/>
                </a:solidFill>
                <a:latin typeface="Calibri"/>
              </a:defRPr>
            </a:pPr>
            <a:r>
              <a:t>Pilih</a:t>
            </a:r>
            <a:br/>
            <a:r>
              <a:t>Template</a:t>
            </a:r>
          </a:p>
        </p:txBody>
      </p:sp>
      <p:sp>
        <p:nvSpPr>
          <p:cNvPr id="48" name="TextBox 47"/>
          <p:cNvSpPr txBox="1"/>
          <p:nvPr/>
        </p:nvSpPr>
        <p:spPr>
          <a:xfrm>
            <a:off x="1188720" y="5394960"/>
            <a:ext cx="1737360" cy="731520"/>
          </a:xfrm>
          <a:prstGeom prst="rect">
            <a:avLst/>
          </a:prstGeom>
          <a:noFill/>
        </p:spPr>
        <p:txBody>
          <a:bodyPr wrap="square">
            <a:spAutoFit/>
          </a:bodyPr>
          <a:lstStyle/>
          <a:p>
            <a:pPr algn="ctr">
              <a:defRPr sz="900" b="0">
                <a:solidFill>
                  <a:srgbClr val="52525B"/>
                </a:solidFill>
                <a:latin typeface="Calibri"/>
              </a:defRPr>
            </a:pPr>
            <a:r>
              <a:t>Pilih template</a:t>
            </a:r>
            <a:br/>
            <a:r>
              <a:t>undangan</a:t>
            </a:r>
          </a:p>
        </p:txBody>
      </p:sp>
      <p:sp>
        <p:nvSpPr>
          <p:cNvPr id="49" name="TextBox 48"/>
          <p:cNvSpPr txBox="1"/>
          <p:nvPr/>
        </p:nvSpPr>
        <p:spPr>
          <a:xfrm>
            <a:off x="3063240" y="4937760"/>
            <a:ext cx="274320" cy="274320"/>
          </a:xfrm>
          <a:prstGeom prst="rect">
            <a:avLst/>
          </a:prstGeom>
          <a:noFill/>
        </p:spPr>
        <p:txBody>
          <a:bodyPr wrap="square">
            <a:spAutoFit/>
          </a:bodyPr>
          <a:lstStyle/>
          <a:p>
            <a:pPr algn="ctr">
              <a:defRPr sz="1600" b="1">
                <a:solidFill>
                  <a:srgbClr val="C4A574"/>
                </a:solidFill>
                <a:latin typeface="Calibri"/>
              </a:defRPr>
            </a:pPr>
            <a:r>
              <a:t>→</a:t>
            </a:r>
          </a:p>
        </p:txBody>
      </p:sp>
      <p:sp>
        <p:nvSpPr>
          <p:cNvPr id="50" name="Rounded Rectangle 49"/>
          <p:cNvSpPr/>
          <p:nvPr/>
        </p:nvSpPr>
        <p:spPr>
          <a:xfrm>
            <a:off x="3200400" y="4297680"/>
            <a:ext cx="1920240" cy="2103120"/>
          </a:xfrm>
          <a:prstGeom prst="roundRect">
            <a:avLst/>
          </a:prstGeom>
          <a:solidFill>
            <a:srgbClr val="FFFFFF"/>
          </a:solidFill>
          <a:ln w="12700">
            <a:solidFill>
              <a:srgbClr val="EAB3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931920" y="4434840"/>
            <a:ext cx="411480" cy="411480"/>
          </a:xfrm>
          <a:prstGeom prst="round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31920" y="4453128"/>
            <a:ext cx="411480" cy="411480"/>
          </a:xfrm>
          <a:prstGeom prst="rect">
            <a:avLst/>
          </a:prstGeom>
          <a:noFill/>
        </p:spPr>
        <p:txBody>
          <a:bodyPr wrap="square">
            <a:spAutoFit/>
          </a:bodyPr>
          <a:lstStyle/>
          <a:p>
            <a:pPr algn="ctr">
              <a:defRPr sz="1600" b="1">
                <a:solidFill>
                  <a:srgbClr val="FFFFFF"/>
                </a:solidFill>
                <a:latin typeface="Calibri"/>
              </a:defRPr>
            </a:pPr>
            <a:r>
              <a:t>2</a:t>
            </a:r>
          </a:p>
        </p:txBody>
      </p:sp>
      <p:sp>
        <p:nvSpPr>
          <p:cNvPr id="53" name="TextBox 52"/>
          <p:cNvSpPr txBox="1"/>
          <p:nvPr/>
        </p:nvSpPr>
        <p:spPr>
          <a:xfrm>
            <a:off x="3291840" y="4937760"/>
            <a:ext cx="1737360" cy="457200"/>
          </a:xfrm>
          <a:prstGeom prst="rect">
            <a:avLst/>
          </a:prstGeom>
          <a:noFill/>
        </p:spPr>
        <p:txBody>
          <a:bodyPr wrap="square">
            <a:spAutoFit/>
          </a:bodyPr>
          <a:lstStyle/>
          <a:p>
            <a:pPr algn="ctr">
              <a:defRPr sz="1100" b="1">
                <a:solidFill>
                  <a:srgbClr val="141414"/>
                </a:solidFill>
                <a:latin typeface="Calibri"/>
              </a:defRPr>
            </a:pPr>
            <a:r>
              <a:t>Bayar</a:t>
            </a:r>
            <a:br/>
            <a:r>
              <a:t>Template</a:t>
            </a:r>
          </a:p>
        </p:txBody>
      </p:sp>
      <p:sp>
        <p:nvSpPr>
          <p:cNvPr id="54" name="TextBox 53"/>
          <p:cNvSpPr txBox="1"/>
          <p:nvPr/>
        </p:nvSpPr>
        <p:spPr>
          <a:xfrm>
            <a:off x="3291840" y="5394960"/>
            <a:ext cx="1737360" cy="731520"/>
          </a:xfrm>
          <a:prstGeom prst="rect">
            <a:avLst/>
          </a:prstGeom>
          <a:noFill/>
        </p:spPr>
        <p:txBody>
          <a:bodyPr wrap="square">
            <a:spAutoFit/>
          </a:bodyPr>
          <a:lstStyle/>
          <a:p>
            <a:pPr algn="ctr">
              <a:defRPr sz="900" b="0">
                <a:solidFill>
                  <a:srgbClr val="52525B"/>
                </a:solidFill>
                <a:latin typeface="Calibri"/>
              </a:defRPr>
            </a:pPr>
            <a:r>
              <a:t>Bayar → status</a:t>
            </a:r>
            <a:br/>
            <a:r>
              <a:t>Paid</a:t>
            </a:r>
          </a:p>
        </p:txBody>
      </p:sp>
      <p:sp>
        <p:nvSpPr>
          <p:cNvPr id="55" name="TextBox 54"/>
          <p:cNvSpPr txBox="1"/>
          <p:nvPr/>
        </p:nvSpPr>
        <p:spPr>
          <a:xfrm>
            <a:off x="5166360" y="4937760"/>
            <a:ext cx="274320" cy="274320"/>
          </a:xfrm>
          <a:prstGeom prst="rect">
            <a:avLst/>
          </a:prstGeom>
          <a:noFill/>
        </p:spPr>
        <p:txBody>
          <a:bodyPr wrap="square">
            <a:spAutoFit/>
          </a:bodyPr>
          <a:lstStyle/>
          <a:p>
            <a:pPr algn="ctr">
              <a:defRPr sz="1600" b="1">
                <a:solidFill>
                  <a:srgbClr val="C4A574"/>
                </a:solidFill>
                <a:latin typeface="Calibri"/>
              </a:defRPr>
            </a:pPr>
            <a:r>
              <a:t>→</a:t>
            </a:r>
          </a:p>
        </p:txBody>
      </p:sp>
      <p:sp>
        <p:nvSpPr>
          <p:cNvPr id="56" name="Rounded Rectangle 55"/>
          <p:cNvSpPr/>
          <p:nvPr/>
        </p:nvSpPr>
        <p:spPr>
          <a:xfrm>
            <a:off x="5303520" y="4297680"/>
            <a:ext cx="1920240" cy="2103120"/>
          </a:xfrm>
          <a:prstGeom prst="round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035040" y="4434840"/>
            <a:ext cx="411480" cy="41148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035040" y="4453128"/>
            <a:ext cx="411480" cy="411480"/>
          </a:xfrm>
          <a:prstGeom prst="rect">
            <a:avLst/>
          </a:prstGeom>
          <a:noFill/>
        </p:spPr>
        <p:txBody>
          <a:bodyPr wrap="square">
            <a:spAutoFit/>
          </a:bodyPr>
          <a:lstStyle/>
          <a:p>
            <a:pPr algn="ctr">
              <a:defRPr sz="1600" b="1">
                <a:solidFill>
                  <a:srgbClr val="FFFFFF"/>
                </a:solidFill>
                <a:latin typeface="Calibri"/>
              </a:defRPr>
            </a:pPr>
            <a:r>
              <a:t>3</a:t>
            </a:r>
          </a:p>
        </p:txBody>
      </p:sp>
      <p:sp>
        <p:nvSpPr>
          <p:cNvPr id="59" name="TextBox 58"/>
          <p:cNvSpPr txBox="1"/>
          <p:nvPr/>
        </p:nvSpPr>
        <p:spPr>
          <a:xfrm>
            <a:off x="5394960" y="4937760"/>
            <a:ext cx="1737360" cy="457200"/>
          </a:xfrm>
          <a:prstGeom prst="rect">
            <a:avLst/>
          </a:prstGeom>
          <a:noFill/>
        </p:spPr>
        <p:txBody>
          <a:bodyPr wrap="square">
            <a:spAutoFit/>
          </a:bodyPr>
          <a:lstStyle/>
          <a:p>
            <a:pPr algn="ctr">
              <a:defRPr sz="1100" b="1">
                <a:solidFill>
                  <a:srgbClr val="141414"/>
                </a:solidFill>
                <a:latin typeface="Calibri"/>
              </a:defRPr>
            </a:pPr>
            <a:r>
              <a:t>Isi</a:t>
            </a:r>
            <a:br/>
            <a:r>
              <a:t>Data</a:t>
            </a:r>
          </a:p>
        </p:txBody>
      </p:sp>
      <p:sp>
        <p:nvSpPr>
          <p:cNvPr id="60" name="TextBox 59"/>
          <p:cNvSpPr txBox="1"/>
          <p:nvPr/>
        </p:nvSpPr>
        <p:spPr>
          <a:xfrm>
            <a:off x="5394960" y="5394960"/>
            <a:ext cx="1737360" cy="731520"/>
          </a:xfrm>
          <a:prstGeom prst="rect">
            <a:avLst/>
          </a:prstGeom>
          <a:noFill/>
        </p:spPr>
        <p:txBody>
          <a:bodyPr wrap="square">
            <a:spAutoFit/>
          </a:bodyPr>
          <a:lstStyle/>
          <a:p>
            <a:pPr algn="ctr">
              <a:defRPr sz="900" b="0">
                <a:solidFill>
                  <a:srgbClr val="52525B"/>
                </a:solidFill>
                <a:latin typeface="Calibri"/>
              </a:defRPr>
            </a:pPr>
            <a:r>
              <a:t>Nama, tanggal,</a:t>
            </a:r>
            <a:br/>
            <a:r>
              <a:t>venue, foto</a:t>
            </a:r>
          </a:p>
        </p:txBody>
      </p:sp>
      <p:sp>
        <p:nvSpPr>
          <p:cNvPr id="61" name="TextBox 60"/>
          <p:cNvSpPr txBox="1"/>
          <p:nvPr/>
        </p:nvSpPr>
        <p:spPr>
          <a:xfrm>
            <a:off x="7269480" y="4937760"/>
            <a:ext cx="274320" cy="274320"/>
          </a:xfrm>
          <a:prstGeom prst="rect">
            <a:avLst/>
          </a:prstGeom>
          <a:noFill/>
        </p:spPr>
        <p:txBody>
          <a:bodyPr wrap="square">
            <a:spAutoFit/>
          </a:bodyPr>
          <a:lstStyle/>
          <a:p>
            <a:pPr algn="ctr">
              <a:defRPr sz="1600" b="1">
                <a:solidFill>
                  <a:srgbClr val="C4A574"/>
                </a:solidFill>
                <a:latin typeface="Calibri"/>
              </a:defRPr>
            </a:pPr>
            <a:r>
              <a:t>→</a:t>
            </a:r>
          </a:p>
        </p:txBody>
      </p:sp>
      <p:sp>
        <p:nvSpPr>
          <p:cNvPr id="62" name="Rounded Rectangle 61"/>
          <p:cNvSpPr/>
          <p:nvPr/>
        </p:nvSpPr>
        <p:spPr>
          <a:xfrm>
            <a:off x="7406640" y="4297680"/>
            <a:ext cx="1920240" cy="2103120"/>
          </a:xfrm>
          <a:prstGeom prst="round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138160" y="4434840"/>
            <a:ext cx="411480" cy="4114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38160" y="4453128"/>
            <a:ext cx="411480" cy="411480"/>
          </a:xfrm>
          <a:prstGeom prst="rect">
            <a:avLst/>
          </a:prstGeom>
          <a:noFill/>
        </p:spPr>
        <p:txBody>
          <a:bodyPr wrap="square">
            <a:spAutoFit/>
          </a:bodyPr>
          <a:lstStyle/>
          <a:p>
            <a:pPr algn="ctr">
              <a:defRPr sz="1600" b="1">
                <a:solidFill>
                  <a:srgbClr val="FFFFFF"/>
                </a:solidFill>
                <a:latin typeface="Calibri"/>
              </a:defRPr>
            </a:pPr>
            <a:r>
              <a:t>4</a:t>
            </a:r>
          </a:p>
        </p:txBody>
      </p:sp>
      <p:sp>
        <p:nvSpPr>
          <p:cNvPr id="65" name="TextBox 64"/>
          <p:cNvSpPr txBox="1"/>
          <p:nvPr/>
        </p:nvSpPr>
        <p:spPr>
          <a:xfrm>
            <a:off x="7498080" y="4937760"/>
            <a:ext cx="1737360" cy="457200"/>
          </a:xfrm>
          <a:prstGeom prst="rect">
            <a:avLst/>
          </a:prstGeom>
          <a:noFill/>
        </p:spPr>
        <p:txBody>
          <a:bodyPr wrap="square">
            <a:spAutoFit/>
          </a:bodyPr>
          <a:lstStyle/>
          <a:p>
            <a:pPr algn="ctr">
              <a:defRPr sz="1100" b="1">
                <a:solidFill>
                  <a:srgbClr val="141414"/>
                </a:solidFill>
                <a:latin typeface="Calibri"/>
              </a:defRPr>
            </a:pPr>
            <a:r>
              <a:t>Publish</a:t>
            </a:r>
          </a:p>
        </p:txBody>
      </p:sp>
      <p:sp>
        <p:nvSpPr>
          <p:cNvPr id="66" name="TextBox 65"/>
          <p:cNvSpPr txBox="1"/>
          <p:nvPr/>
        </p:nvSpPr>
        <p:spPr>
          <a:xfrm>
            <a:off x="7498080" y="5394960"/>
            <a:ext cx="1737360" cy="731520"/>
          </a:xfrm>
          <a:prstGeom prst="rect">
            <a:avLst/>
          </a:prstGeom>
          <a:noFill/>
        </p:spPr>
        <p:txBody>
          <a:bodyPr wrap="square">
            <a:spAutoFit/>
          </a:bodyPr>
          <a:lstStyle/>
          <a:p>
            <a:pPr algn="ctr">
              <a:defRPr sz="900" b="0">
                <a:solidFill>
                  <a:srgbClr val="52525B"/>
                </a:solidFill>
                <a:latin typeface="Calibri"/>
              </a:defRPr>
            </a:pPr>
            <a:r>
              <a:t>Live di</a:t>
            </a:r>
            <a:br/>
            <a:r>
              <a:t>subdomain</a:t>
            </a:r>
          </a:p>
        </p:txBody>
      </p:sp>
      <p:sp>
        <p:nvSpPr>
          <p:cNvPr id="67" name="TextBox 66"/>
          <p:cNvSpPr txBox="1"/>
          <p:nvPr/>
        </p:nvSpPr>
        <p:spPr>
          <a:xfrm>
            <a:off x="9372600" y="4937760"/>
            <a:ext cx="274320" cy="274320"/>
          </a:xfrm>
          <a:prstGeom prst="rect">
            <a:avLst/>
          </a:prstGeom>
          <a:noFill/>
        </p:spPr>
        <p:txBody>
          <a:bodyPr wrap="square">
            <a:spAutoFit/>
          </a:bodyPr>
          <a:lstStyle/>
          <a:p>
            <a:pPr algn="ctr">
              <a:defRPr sz="1600" b="1">
                <a:solidFill>
                  <a:srgbClr val="C4A574"/>
                </a:solidFill>
                <a:latin typeface="Calibri"/>
              </a:defRPr>
            </a:pPr>
            <a:r>
              <a:t>→</a:t>
            </a:r>
          </a:p>
        </p:txBody>
      </p:sp>
      <p:sp>
        <p:nvSpPr>
          <p:cNvPr id="68" name="Rounded Rectangle 67"/>
          <p:cNvSpPr/>
          <p:nvPr/>
        </p:nvSpPr>
        <p:spPr>
          <a:xfrm>
            <a:off x="9509760" y="4297680"/>
            <a:ext cx="1920240" cy="2103120"/>
          </a:xfrm>
          <a:prstGeom prst="roundRect">
            <a:avLst/>
          </a:prstGeom>
          <a:solidFill>
            <a:srgbClr val="FFFFFF"/>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0241280" y="4434840"/>
            <a:ext cx="411480" cy="4114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41280" y="4453128"/>
            <a:ext cx="411480" cy="411480"/>
          </a:xfrm>
          <a:prstGeom prst="rect">
            <a:avLst/>
          </a:prstGeom>
          <a:noFill/>
        </p:spPr>
        <p:txBody>
          <a:bodyPr wrap="square">
            <a:spAutoFit/>
          </a:bodyPr>
          <a:lstStyle/>
          <a:p>
            <a:pPr algn="ctr">
              <a:defRPr sz="1600" b="1">
                <a:solidFill>
                  <a:srgbClr val="FFFFFF"/>
                </a:solidFill>
                <a:latin typeface="Calibri"/>
              </a:defRPr>
            </a:pPr>
            <a:r>
              <a:t>5</a:t>
            </a:r>
          </a:p>
        </p:txBody>
      </p:sp>
      <p:sp>
        <p:nvSpPr>
          <p:cNvPr id="71" name="TextBox 70"/>
          <p:cNvSpPr txBox="1"/>
          <p:nvPr/>
        </p:nvSpPr>
        <p:spPr>
          <a:xfrm>
            <a:off x="9601200" y="4937760"/>
            <a:ext cx="1737360" cy="457200"/>
          </a:xfrm>
          <a:prstGeom prst="rect">
            <a:avLst/>
          </a:prstGeom>
          <a:noFill/>
        </p:spPr>
        <p:txBody>
          <a:bodyPr wrap="square">
            <a:spAutoFit/>
          </a:bodyPr>
          <a:lstStyle/>
          <a:p>
            <a:pPr algn="ctr">
              <a:defRPr sz="1100" b="1">
                <a:solidFill>
                  <a:srgbClr val="141414"/>
                </a:solidFill>
                <a:latin typeface="Calibri"/>
              </a:defRPr>
            </a:pPr>
            <a:r>
              <a:t>RSVP</a:t>
            </a:r>
          </a:p>
        </p:txBody>
      </p:sp>
      <p:sp>
        <p:nvSpPr>
          <p:cNvPr id="72" name="TextBox 71"/>
          <p:cNvSpPr txBox="1"/>
          <p:nvPr/>
        </p:nvSpPr>
        <p:spPr>
          <a:xfrm>
            <a:off x="9601200" y="5394960"/>
            <a:ext cx="1737360" cy="731520"/>
          </a:xfrm>
          <a:prstGeom prst="rect">
            <a:avLst/>
          </a:prstGeom>
          <a:noFill/>
        </p:spPr>
        <p:txBody>
          <a:bodyPr wrap="square">
            <a:spAutoFit/>
          </a:bodyPr>
          <a:lstStyle/>
          <a:p>
            <a:pPr algn="ctr">
              <a:defRPr sz="900" b="0">
                <a:solidFill>
                  <a:srgbClr val="52525B"/>
                </a:solidFill>
                <a:latin typeface="Calibri"/>
              </a:defRPr>
            </a:pPr>
            <a:r>
              <a:t>Tamu RSVP</a:t>
            </a:r>
            <a:br/>
            <a:r>
              <a:t>hadir/tidak</a:t>
            </a:r>
          </a:p>
        </p:txBody>
      </p:sp>
      <p:sp>
        <p:nvSpPr>
          <p:cNvPr id="73" name="TextBox 72"/>
          <p:cNvSpPr txBox="1"/>
          <p:nvPr/>
        </p:nvSpPr>
        <p:spPr>
          <a:xfrm>
            <a:off x="914400" y="4069080"/>
            <a:ext cx="2743200" cy="228600"/>
          </a:xfrm>
          <a:prstGeom prst="rect">
            <a:avLst/>
          </a:prstGeom>
          <a:noFill/>
        </p:spPr>
        <p:txBody>
          <a:bodyPr wrap="square">
            <a:spAutoFit/>
          </a:bodyPr>
          <a:lstStyle/>
          <a:p>
            <a:pPr algn="l">
              <a:defRPr sz="1100" b="1">
                <a:solidFill>
                  <a:srgbClr val="141414"/>
                </a:solidFill>
                <a:latin typeface="Calibri"/>
              </a:defRPr>
            </a:pPr>
            <a:r>
              <a:t>Alur Undangan Digital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502920"/>
          </a:xfrm>
          <a:prstGeom prst="rect">
            <a:avLst/>
          </a:prstGeom>
          <a:noFill/>
        </p:spPr>
        <p:txBody>
          <a:bodyPr wrap="square">
            <a:spAutoFit/>
          </a:bodyPr>
          <a:lstStyle/>
          <a:p>
            <a:pPr algn="l">
              <a:defRPr sz="2800" b="1">
                <a:solidFill>
                  <a:srgbClr val="141414"/>
                </a:solidFill>
                <a:latin typeface="Calibri"/>
              </a:defRPr>
            </a:pPr>
            <a:r>
              <a:t>Kesimpulan</a:t>
            </a:r>
          </a:p>
        </p:txBody>
      </p:sp>
      <p:sp>
        <p:nvSpPr>
          <p:cNvPr id="4" name="Rectangle 3"/>
          <p:cNvSpPr/>
          <p:nvPr/>
        </p:nvSpPr>
        <p:spPr>
          <a:xfrm>
            <a:off x="731520" y="868680"/>
            <a:ext cx="13716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3136"/>
            <a:ext cx="12191695" cy="54864"/>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914400" cy="320040"/>
          </a:xfrm>
          <a:prstGeom prst="rect">
            <a:avLst/>
          </a:prstGeom>
          <a:noFill/>
        </p:spPr>
        <p:txBody>
          <a:bodyPr wrap="square">
            <a:spAutoFit/>
          </a:bodyPr>
          <a:lstStyle/>
          <a:p>
            <a:pPr algn="r">
              <a:defRPr sz="1000" b="0">
                <a:solidFill>
                  <a:srgbClr val="A1A1AA"/>
                </a:solidFill>
                <a:latin typeface="Calibri"/>
              </a:defRPr>
            </a:pPr>
            <a:r>
              <a:t>13 / 14</a:t>
            </a:r>
          </a:p>
        </p:txBody>
      </p:sp>
      <p:sp>
        <p:nvSpPr>
          <p:cNvPr id="7" name="Rounded Rectangle 6"/>
          <p:cNvSpPr/>
          <p:nvPr/>
        </p:nvSpPr>
        <p:spPr>
          <a:xfrm>
            <a:off x="731520" y="137160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444752"/>
            <a:ext cx="3657600" cy="274320"/>
          </a:xfrm>
          <a:prstGeom prst="rect">
            <a:avLst/>
          </a:prstGeom>
          <a:noFill/>
        </p:spPr>
        <p:txBody>
          <a:bodyPr wrap="square">
            <a:spAutoFit/>
          </a:bodyPr>
          <a:lstStyle/>
          <a:p>
            <a:pPr algn="l">
              <a:defRPr sz="1400" b="1">
                <a:solidFill>
                  <a:srgbClr val="141414"/>
                </a:solidFill>
                <a:latin typeface="Calibri"/>
              </a:defRPr>
            </a:pPr>
            <a:r>
              <a:t>Laravel 11 + Filament v5</a:t>
            </a:r>
          </a:p>
        </p:txBody>
      </p:sp>
      <p:sp>
        <p:nvSpPr>
          <p:cNvPr id="10" name="TextBox 9"/>
          <p:cNvSpPr txBox="1"/>
          <p:nvPr/>
        </p:nvSpPr>
        <p:spPr>
          <a:xfrm>
            <a:off x="1005840" y="1737360"/>
            <a:ext cx="10241280" cy="274320"/>
          </a:xfrm>
          <a:prstGeom prst="rect">
            <a:avLst/>
          </a:prstGeom>
          <a:noFill/>
        </p:spPr>
        <p:txBody>
          <a:bodyPr wrap="square">
            <a:spAutoFit/>
          </a:bodyPr>
          <a:lstStyle/>
          <a:p>
            <a:pPr algn="l">
              <a:defRPr sz="1100" b="0">
                <a:solidFill>
                  <a:srgbClr val="52525B"/>
                </a:solidFill>
                <a:latin typeface="Calibri"/>
              </a:defRPr>
            </a:pPr>
            <a:r>
              <a:t>Framework modern dengan admin panel powerful dan customisable</a:t>
            </a:r>
          </a:p>
        </p:txBody>
      </p:sp>
      <p:sp>
        <p:nvSpPr>
          <p:cNvPr id="11" name="Rounded Rectangle 10"/>
          <p:cNvSpPr/>
          <p:nvPr/>
        </p:nvSpPr>
        <p:spPr>
          <a:xfrm>
            <a:off x="731520" y="214884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14884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221992"/>
            <a:ext cx="3657600" cy="274320"/>
          </a:xfrm>
          <a:prstGeom prst="rect">
            <a:avLst/>
          </a:prstGeom>
          <a:noFill/>
        </p:spPr>
        <p:txBody>
          <a:bodyPr wrap="square">
            <a:spAutoFit/>
          </a:bodyPr>
          <a:lstStyle/>
          <a:p>
            <a:pPr algn="l">
              <a:defRPr sz="1400" b="1">
                <a:solidFill>
                  <a:srgbClr val="141414"/>
                </a:solidFill>
                <a:latin typeface="Calibri"/>
              </a:defRPr>
            </a:pPr>
            <a:r>
              <a:t>33 Tabel Database</a:t>
            </a:r>
          </a:p>
        </p:txBody>
      </p:sp>
      <p:sp>
        <p:nvSpPr>
          <p:cNvPr id="14" name="TextBox 13"/>
          <p:cNvSpPr txBox="1"/>
          <p:nvPr/>
        </p:nvSpPr>
        <p:spPr>
          <a:xfrm>
            <a:off x="1005840" y="2514600"/>
            <a:ext cx="10241280" cy="274320"/>
          </a:xfrm>
          <a:prstGeom prst="rect">
            <a:avLst/>
          </a:prstGeom>
          <a:noFill/>
        </p:spPr>
        <p:txBody>
          <a:bodyPr wrap="square">
            <a:spAutoFit/>
          </a:bodyPr>
          <a:lstStyle/>
          <a:p>
            <a:pPr algn="l">
              <a:defRPr sz="1100" b="0">
                <a:solidFill>
                  <a:srgbClr val="52525B"/>
                </a:solidFill>
                <a:latin typeface="Calibri"/>
              </a:defRPr>
            </a:pPr>
            <a:r>
              <a:t>Desain relasi komprehensif dengan polymorphic relations dan soft deletes</a:t>
            </a:r>
          </a:p>
        </p:txBody>
      </p:sp>
      <p:sp>
        <p:nvSpPr>
          <p:cNvPr id="15" name="Rounded Rectangle 14"/>
          <p:cNvSpPr/>
          <p:nvPr/>
        </p:nvSpPr>
        <p:spPr>
          <a:xfrm>
            <a:off x="731520" y="292608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92608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999232"/>
            <a:ext cx="3657600" cy="274320"/>
          </a:xfrm>
          <a:prstGeom prst="rect">
            <a:avLst/>
          </a:prstGeom>
          <a:noFill/>
        </p:spPr>
        <p:txBody>
          <a:bodyPr wrap="square">
            <a:spAutoFit/>
          </a:bodyPr>
          <a:lstStyle/>
          <a:p>
            <a:pPr algn="l">
              <a:defRPr sz="1400" b="1">
                <a:solidFill>
                  <a:srgbClr val="141414"/>
                </a:solidFill>
                <a:latin typeface="Calibri"/>
              </a:defRPr>
            </a:pPr>
            <a:r>
              <a:t>7 Modul Utama</a:t>
            </a:r>
          </a:p>
        </p:txBody>
      </p:sp>
      <p:sp>
        <p:nvSpPr>
          <p:cNvPr id="18" name="TextBox 17"/>
          <p:cNvSpPr txBox="1"/>
          <p:nvPr/>
        </p:nvSpPr>
        <p:spPr>
          <a:xfrm>
            <a:off x="1005840" y="3291840"/>
            <a:ext cx="10241280" cy="274320"/>
          </a:xfrm>
          <a:prstGeom prst="rect">
            <a:avLst/>
          </a:prstGeom>
          <a:noFill/>
        </p:spPr>
        <p:txBody>
          <a:bodyPr wrap="square">
            <a:spAutoFit/>
          </a:bodyPr>
          <a:lstStyle/>
          <a:p>
            <a:pPr algn="l">
              <a:defRPr sz="1100" b="0">
                <a:solidFill>
                  <a:srgbClr val="52525B"/>
                </a:solidFill>
                <a:latin typeface="Calibri"/>
              </a:defRPr>
            </a:pPr>
            <a:r>
              <a:t>Dashboard, Vendor, Marketplace, Undangan Digital, Keuangan, Konten, Pengaturan</a:t>
            </a:r>
          </a:p>
        </p:txBody>
      </p:sp>
      <p:sp>
        <p:nvSpPr>
          <p:cNvPr id="19" name="Rounded Rectangle 18"/>
          <p:cNvSpPr/>
          <p:nvPr/>
        </p:nvSpPr>
        <p:spPr>
          <a:xfrm>
            <a:off x="731520" y="370332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70332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776472"/>
            <a:ext cx="3657600" cy="274320"/>
          </a:xfrm>
          <a:prstGeom prst="rect">
            <a:avLst/>
          </a:prstGeom>
          <a:noFill/>
        </p:spPr>
        <p:txBody>
          <a:bodyPr wrap="square">
            <a:spAutoFit/>
          </a:bodyPr>
          <a:lstStyle/>
          <a:p>
            <a:pPr algn="l">
              <a:defRPr sz="1400" b="1">
                <a:solidFill>
                  <a:srgbClr val="141414"/>
                </a:solidFill>
                <a:latin typeface="Calibri"/>
              </a:defRPr>
            </a:pPr>
            <a:r>
              <a:t>Multi Bahasa</a:t>
            </a:r>
          </a:p>
        </p:txBody>
      </p:sp>
      <p:sp>
        <p:nvSpPr>
          <p:cNvPr id="22" name="TextBox 21"/>
          <p:cNvSpPr txBox="1"/>
          <p:nvPr/>
        </p:nvSpPr>
        <p:spPr>
          <a:xfrm>
            <a:off x="1005840" y="4069080"/>
            <a:ext cx="10241280" cy="274320"/>
          </a:xfrm>
          <a:prstGeom prst="rect">
            <a:avLst/>
          </a:prstGeom>
          <a:noFill/>
        </p:spPr>
        <p:txBody>
          <a:bodyPr wrap="square">
            <a:spAutoFit/>
          </a:bodyPr>
          <a:lstStyle/>
          <a:p>
            <a:pPr algn="l">
              <a:defRPr sz="1100" b="0">
                <a:solidFill>
                  <a:srgbClr val="52525B"/>
                </a:solidFill>
                <a:latin typeface="Calibri"/>
              </a:defRPr>
            </a:pPr>
            <a:r>
              <a:t>8 bahasa termasuk Indonesia dengan dukungan RTL untuk Arab</a:t>
            </a:r>
          </a:p>
        </p:txBody>
      </p:sp>
      <p:sp>
        <p:nvSpPr>
          <p:cNvPr id="23" name="Rounded Rectangle 22"/>
          <p:cNvSpPr/>
          <p:nvPr/>
        </p:nvSpPr>
        <p:spPr>
          <a:xfrm>
            <a:off x="731520" y="448056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48056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553712"/>
            <a:ext cx="3657600" cy="274320"/>
          </a:xfrm>
          <a:prstGeom prst="rect">
            <a:avLst/>
          </a:prstGeom>
          <a:noFill/>
        </p:spPr>
        <p:txBody>
          <a:bodyPr wrap="square">
            <a:spAutoFit/>
          </a:bodyPr>
          <a:lstStyle/>
          <a:p>
            <a:pPr algn="l">
              <a:defRPr sz="1400" b="1">
                <a:solidFill>
                  <a:srgbClr val="141414"/>
                </a:solidFill>
                <a:latin typeface="Calibri"/>
              </a:defRPr>
            </a:pPr>
            <a:r>
              <a:t>Top Navigation Layout</a:t>
            </a:r>
          </a:p>
        </p:txBody>
      </p:sp>
      <p:sp>
        <p:nvSpPr>
          <p:cNvPr id="26" name="TextBox 25"/>
          <p:cNvSpPr txBox="1"/>
          <p:nvPr/>
        </p:nvSpPr>
        <p:spPr>
          <a:xfrm>
            <a:off x="1005840" y="4846320"/>
            <a:ext cx="10241280" cy="274320"/>
          </a:xfrm>
          <a:prstGeom prst="rect">
            <a:avLst/>
          </a:prstGeom>
          <a:noFill/>
        </p:spPr>
        <p:txBody>
          <a:bodyPr wrap="square">
            <a:spAutoFit/>
          </a:bodyPr>
          <a:lstStyle/>
          <a:p>
            <a:pPr algn="l">
              <a:defRPr sz="1100" b="0">
                <a:solidFill>
                  <a:srgbClr val="52525B"/>
                </a:solidFill>
                <a:latin typeface="Calibri"/>
              </a:defRPr>
            </a:pPr>
            <a:r>
              <a:t>Desain clean tanpa sidebar, warna putih + cream + hitam</a:t>
            </a:r>
          </a:p>
        </p:txBody>
      </p:sp>
      <p:sp>
        <p:nvSpPr>
          <p:cNvPr id="27" name="Rounded Rectangle 26"/>
          <p:cNvSpPr/>
          <p:nvPr/>
        </p:nvSpPr>
        <p:spPr>
          <a:xfrm>
            <a:off x="731520" y="5257800"/>
            <a:ext cx="10698480" cy="685800"/>
          </a:xfrm>
          <a:prstGeom prst="round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5257800"/>
            <a:ext cx="54864" cy="6858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330952"/>
            <a:ext cx="3657600" cy="274320"/>
          </a:xfrm>
          <a:prstGeom prst="rect">
            <a:avLst/>
          </a:prstGeom>
          <a:noFill/>
        </p:spPr>
        <p:txBody>
          <a:bodyPr wrap="square">
            <a:spAutoFit/>
          </a:bodyPr>
          <a:lstStyle/>
          <a:p>
            <a:pPr algn="l">
              <a:defRPr sz="1400" b="1">
                <a:solidFill>
                  <a:srgbClr val="141414"/>
                </a:solidFill>
                <a:latin typeface="Calibri"/>
              </a:defRPr>
            </a:pPr>
            <a:r>
              <a:t>Ekosistem Lengkap</a:t>
            </a:r>
          </a:p>
        </p:txBody>
      </p:sp>
      <p:sp>
        <p:nvSpPr>
          <p:cNvPr id="30" name="TextBox 29"/>
          <p:cNvSpPr txBox="1"/>
          <p:nvPr/>
        </p:nvSpPr>
        <p:spPr>
          <a:xfrm>
            <a:off x="1005840" y="5623560"/>
            <a:ext cx="10241280" cy="274320"/>
          </a:xfrm>
          <a:prstGeom prst="rect">
            <a:avLst/>
          </a:prstGeom>
          <a:noFill/>
        </p:spPr>
        <p:txBody>
          <a:bodyPr wrap="square">
            <a:spAutoFit/>
          </a:bodyPr>
          <a:lstStyle/>
          <a:p>
            <a:pPr algn="l">
              <a:defRPr sz="1100" b="0">
                <a:solidFill>
                  <a:srgbClr val="52525B"/>
                </a:solidFill>
                <a:latin typeface="Calibri"/>
              </a:defRPr>
            </a:pPr>
            <a:r>
              <a:t>Dari pendaftaran vendor hingga payout, semuanya terintegrasi</a:t>
            </a:r>
          </a:p>
        </p:txBody>
      </p:sp>
      <p:sp>
        <p:nvSpPr>
          <p:cNvPr id="31" name="Rounded Rectangle 30"/>
          <p:cNvSpPr/>
          <p:nvPr/>
        </p:nvSpPr>
        <p:spPr>
          <a:xfrm>
            <a:off x="731520" y="6126480"/>
            <a:ext cx="10698480" cy="457200"/>
          </a:xfrm>
          <a:prstGeom prst="round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6144768"/>
            <a:ext cx="10515600" cy="365760"/>
          </a:xfrm>
          <a:prstGeom prst="rect">
            <a:avLst/>
          </a:prstGeom>
          <a:noFill/>
        </p:spPr>
        <p:txBody>
          <a:bodyPr wrap="square">
            <a:spAutoFit/>
          </a:bodyPr>
          <a:lstStyle/>
          <a:p>
            <a:pPr algn="ctr">
              <a:defRPr sz="1100" b="1">
                <a:solidFill>
                  <a:srgbClr val="141414"/>
                </a:solidFill>
                <a:latin typeface="Calibri"/>
              </a:defRPr>
            </a:pPr>
            <a:r>
              <a:t>  Tech Stack: Laravel 11.31  |  Filament v5.0  |  Spatie Permission  |  Spatie MediaLibrary  |  Vite  |  Tailwind CSS  |  SQLite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4572"/>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10058400" cy="822960"/>
          </a:xfrm>
          <a:prstGeom prst="rect">
            <a:avLst/>
          </a:prstGeom>
          <a:noFill/>
        </p:spPr>
        <p:txBody>
          <a:bodyPr wrap="square">
            <a:spAutoFit/>
          </a:bodyPr>
          <a:lstStyle/>
          <a:p>
            <a:pPr algn="l">
              <a:defRPr sz="4800" b="1">
                <a:solidFill>
                  <a:srgbClr val="C4A574"/>
                </a:solidFill>
                <a:latin typeface="Calibri"/>
              </a:defRPr>
            </a:pPr>
            <a:r>
              <a:t>Terima Kasih</a:t>
            </a:r>
          </a:p>
        </p:txBody>
      </p:sp>
      <p:sp>
        <p:nvSpPr>
          <p:cNvPr id="5" name="TextBox 4"/>
          <p:cNvSpPr txBox="1"/>
          <p:nvPr/>
        </p:nvSpPr>
        <p:spPr>
          <a:xfrm>
            <a:off x="1097280" y="2560320"/>
            <a:ext cx="10058400" cy="457200"/>
          </a:xfrm>
          <a:prstGeom prst="rect">
            <a:avLst/>
          </a:prstGeom>
          <a:noFill/>
        </p:spPr>
        <p:txBody>
          <a:bodyPr wrap="square">
            <a:spAutoFit/>
          </a:bodyPr>
          <a:lstStyle/>
          <a:p>
            <a:pPr algn="l">
              <a:defRPr sz="2000" b="0">
                <a:solidFill>
                  <a:srgbClr val="FFFFFF"/>
                </a:solidFill>
                <a:latin typeface="Calibri"/>
              </a:defRPr>
            </a:pPr>
            <a:r>
              <a:t>Questions &amp; Answers</a:t>
            </a:r>
          </a:p>
        </p:txBody>
      </p:sp>
      <p:sp>
        <p:nvSpPr>
          <p:cNvPr id="6" name="Rectangle 5"/>
          <p:cNvSpPr/>
          <p:nvPr/>
        </p:nvSpPr>
        <p:spPr>
          <a:xfrm>
            <a:off x="1097280" y="3291840"/>
            <a:ext cx="2743200" cy="254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657600"/>
            <a:ext cx="10058400" cy="320040"/>
          </a:xfrm>
          <a:prstGeom prst="rect">
            <a:avLst/>
          </a:prstGeom>
          <a:noFill/>
        </p:spPr>
        <p:txBody>
          <a:bodyPr wrap="square">
            <a:spAutoFit/>
          </a:bodyPr>
          <a:lstStyle/>
          <a:p>
            <a:pPr algn="l">
              <a:defRPr sz="1400" b="0">
                <a:solidFill>
                  <a:srgbClr val="A1A1AA"/>
                </a:solidFill>
                <a:latin typeface="Calibri"/>
              </a:defRPr>
            </a:pPr>
            <a:r>
              <a:t>BrightDor — Marketplace Jasa Pernikahan Premium</a:t>
            </a:r>
          </a:p>
        </p:txBody>
      </p:sp>
      <p:sp>
        <p:nvSpPr>
          <p:cNvPr id="8" name="TextBox 7"/>
          <p:cNvSpPr txBox="1"/>
          <p:nvPr/>
        </p:nvSpPr>
        <p:spPr>
          <a:xfrm>
            <a:off x="1097280" y="3977640"/>
            <a:ext cx="10058400" cy="320040"/>
          </a:xfrm>
          <a:prstGeom prst="rect">
            <a:avLst/>
          </a:prstGeom>
          <a:noFill/>
        </p:spPr>
        <p:txBody>
          <a:bodyPr wrap="square">
            <a:spAutoFit/>
          </a:bodyPr>
          <a:lstStyle/>
          <a:p>
            <a:pPr algn="l">
              <a:defRPr sz="1400" b="0">
                <a:solidFill>
                  <a:srgbClr val="A1A1AA"/>
                </a:solidFill>
                <a:latin typeface="Calibri"/>
              </a:defRPr>
            </a:pPr>
            <a:r>
              <a:t>Laravel 11 + Filament v5  |  33 Tabel  |  8 Bahasa</a:t>
            </a:r>
          </a:p>
        </p:txBody>
      </p:sp>
      <p:sp>
        <p:nvSpPr>
          <p:cNvPr id="9" name="TextBox 8"/>
          <p:cNvSpPr txBox="1"/>
          <p:nvPr/>
        </p:nvSpPr>
        <p:spPr>
          <a:xfrm>
            <a:off x="1097280" y="4297680"/>
            <a:ext cx="10058400" cy="320040"/>
          </a:xfrm>
          <a:prstGeom prst="rect">
            <a:avLst/>
          </a:prstGeom>
          <a:noFill/>
        </p:spPr>
        <p:txBody>
          <a:bodyPr wrap="square">
            <a:spAutoFit/>
          </a:bodyPr>
          <a:lstStyle/>
          <a:p>
            <a:pPr algn="l">
              <a:defRPr sz="1400" b="0">
                <a:solidFill>
                  <a:srgbClr val="A1A1AA"/>
                </a:solidFill>
                <a:latin typeface="Calibri"/>
              </a:defRPr>
            </a:pPr>
            <a:r>
              <a:t>Admin Panel: /admin  |  admin@brightdor.test</a:t>
            </a:r>
          </a:p>
        </p:txBody>
      </p:sp>
      <p:sp>
        <p:nvSpPr>
          <p:cNvPr id="10" name="Rectangle 9"/>
          <p:cNvSpPr/>
          <p:nvPr/>
        </p:nvSpPr>
        <p:spPr>
          <a:xfrm>
            <a:off x="10515600" y="0"/>
            <a:ext cx="1676095" cy="6858000"/>
          </a:xfrm>
          <a:prstGeom prst="rect">
            <a:avLst/>
          </a:prstGeom>
          <a:solidFill>
            <a:srgbClr val="C4A5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0" y="2926080"/>
            <a:ext cx="1463040" cy="548640"/>
          </a:xfrm>
          <a:prstGeom prst="rect">
            <a:avLst/>
          </a:prstGeom>
          <a:noFill/>
        </p:spPr>
        <p:txBody>
          <a:bodyPr wrap="square">
            <a:spAutoFit/>
          </a:bodyPr>
          <a:lstStyle/>
          <a:p>
            <a:pPr algn="ctr">
              <a:defRPr sz="2800" b="1">
                <a:solidFill>
                  <a:srgbClr val="141414"/>
                </a:solidFill>
                <a:latin typeface="Calibri"/>
              </a:defRPr>
            </a:pPr>
            <a:r>
              <a:t>Q&amp;A</a:t>
            </a:r>
          </a:p>
        </p:txBody>
      </p:sp>
      <p:sp>
        <p:nvSpPr>
          <p:cNvPr id="12" name="TextBox 11"/>
          <p:cNvSpPr txBox="1"/>
          <p:nvPr/>
        </p:nvSpPr>
        <p:spPr>
          <a:xfrm>
            <a:off x="10607040" y="3474720"/>
            <a:ext cx="1463040" cy="365760"/>
          </a:xfrm>
          <a:prstGeom prst="rect">
            <a:avLst/>
          </a:prstGeom>
          <a:noFill/>
        </p:spPr>
        <p:txBody>
          <a:bodyPr wrap="square">
            <a:spAutoFit/>
          </a:bodyPr>
          <a:lstStyle/>
          <a:p>
            <a:pPr algn="ctr">
              <a:defRPr sz="1400" b="0">
                <a:solidFill>
                  <a:srgbClr val="2A2A2A"/>
                </a:solidFill>
                <a:latin typeface="Calibri"/>
              </a:defRPr>
            </a:pPr>
            <a:r>
              <a: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