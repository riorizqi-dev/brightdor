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pembuka. Ganti Nama, NIM, dan Kelas sesuai identitas sebelum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7818120" y="0"/>
            <a:ext cx="4373575" cy="6858000"/>
          </a:xfrm>
          <a:prstGeom prst="rect">
            <a:avLst/>
          </a:prstGeom>
          <a:solidFill>
            <a:srgbClr val="1C1C1C"/>
          </a:solidFill>
          <a:ln/>
        </p:spPr>
      </p:sp>
      <p:pic>
        <p:nvPicPr>
          <p:cNvPr id="3" name="Image 0" descr="/root/deck/assets/shots/dashboard.png">    </p:cNvPr>
          <p:cNvPicPr>
            <a:picLocks noChangeAspect="1"/>
          </p:cNvPicPr>
          <p:nvPr/>
        </p:nvPicPr>
        <p:blipFill>
          <a:blip r:embed="rId1">
            <a:alphaModFix amt="88000"/>
          </a:blip>
          <a:stretch>
            <a:fillRect/>
          </a:stretch>
        </p:blipFill>
        <p:spPr>
          <a:xfrm>
            <a:off x="8183880" y="1481328"/>
            <a:ext cx="5120640" cy="3200400"/>
          </a:xfrm>
          <a:prstGeom prst="rect">
            <a:avLst/>
          </a:prstGeom>
        </p:spPr>
      </p:pic>
      <p:sp>
        <p:nvSpPr>
          <p:cNvPr id="4" name="Text 1"/>
          <p:cNvSpPr/>
          <p:nvPr/>
        </p:nvSpPr>
        <p:spPr>
          <a:xfrm>
            <a:off x="640080" y="1417320"/>
            <a:ext cx="6766560" cy="274320"/>
          </a:xfrm>
          <a:prstGeom prst="rect">
            <a:avLst/>
          </a:prstGeom>
          <a:noFill/>
          <a:ln/>
        </p:spPr>
        <p:txBody>
          <a:bodyPr wrap="square" lIns="0" tIns="0" rIns="0" bIns="0" rtlCol="0" anchor="ctr"/>
          <a:lstStyle/>
          <a:p>
            <a:pPr indent="0" marL="0">
              <a:buNone/>
            </a:pPr>
            <a:r>
              <a:rPr lang="en-US" sz="1200" b="1" spc="260" kern="0" dirty="0">
                <a:solidFill>
                  <a:srgbClr val="C4A574"/>
                </a:solidFill>
                <a:latin typeface="Calibri" pitchFamily="34" charset="0"/>
                <a:ea typeface="Calibri" pitchFamily="34" charset="-122"/>
                <a:cs typeface="Calibri" pitchFamily="34" charset="-120"/>
              </a:rPr>
              <a:t>DOKUMENTASI APLIKASI WEBSITE</a:t>
            </a:r>
            <a:endParaRPr lang="en-US" sz="1200" dirty="0"/>
          </a:p>
        </p:txBody>
      </p:sp>
      <p:sp>
        <p:nvSpPr>
          <p:cNvPr id="5" name="Text 2"/>
          <p:cNvSpPr/>
          <p:nvPr/>
        </p:nvSpPr>
        <p:spPr>
          <a:xfrm>
            <a:off x="640080" y="1828800"/>
            <a:ext cx="694944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BrightDor</a:t>
            </a:r>
            <a:endParaRPr lang="en-US" sz="6000" dirty="0"/>
          </a:p>
        </p:txBody>
      </p:sp>
      <p:sp>
        <p:nvSpPr>
          <p:cNvPr id="6" name="Text 3"/>
          <p:cNvSpPr/>
          <p:nvPr/>
        </p:nvSpPr>
        <p:spPr>
          <a:xfrm>
            <a:off x="640080" y="2926080"/>
            <a:ext cx="6583680" cy="822960"/>
          </a:xfrm>
          <a:prstGeom prst="rect">
            <a:avLst/>
          </a:prstGeom>
          <a:noFill/>
          <a:ln/>
        </p:spPr>
        <p:txBody>
          <a:bodyPr wrap="square" lIns="0" tIns="0" rIns="0" bIns="0" rtlCol="0" anchor="ctr"/>
          <a:lstStyle/>
          <a:p>
            <a:pPr indent="0" marL="0">
              <a:lnSpc>
                <a:spcPts val="2600"/>
              </a:lnSpc>
              <a:buNone/>
            </a:pPr>
            <a:r>
              <a:rPr lang="en-US" sz="1700" dirty="0">
                <a:solidFill>
                  <a:srgbClr val="B9B3AA"/>
                </a:solidFill>
                <a:latin typeface="Calibri" pitchFamily="34" charset="0"/>
                <a:ea typeface="Calibri" pitchFamily="34" charset="-122"/>
                <a:cs typeface="Calibri" pitchFamily="34" charset="-120"/>
              </a:rPr>
              <a:t>Marketplace jasa pernikahan &amp; undangan digital —</a:t>
            </a:r>
            <a:endParaRPr lang="en-US" sz="1700" dirty="0"/>
          </a:p>
          <a:p>
            <a:pPr indent="0" marL="0">
              <a:lnSpc>
                <a:spcPts val="2600"/>
              </a:lnSpc>
              <a:buNone/>
            </a:pPr>
            <a:r>
              <a:rPr lang="en-US" sz="1700" dirty="0">
                <a:solidFill>
                  <a:srgbClr val="B9B3AA"/>
                </a:solidFill>
                <a:latin typeface="Calibri" pitchFamily="34" charset="0"/>
                <a:ea typeface="Calibri" pitchFamily="34" charset="-122"/>
                <a:cs typeface="Calibri" pitchFamily="34" charset="-120"/>
              </a:rPr>
              <a:t>Admin Panel berbasis Laravel 11 + Filament v5</a:t>
            </a:r>
            <a:endParaRPr lang="en-US" sz="1700" dirty="0"/>
          </a:p>
        </p:txBody>
      </p:sp>
      <p:sp>
        <p:nvSpPr>
          <p:cNvPr id="7" name="Shape 4"/>
          <p:cNvSpPr/>
          <p:nvPr/>
        </p:nvSpPr>
        <p:spPr>
          <a:xfrm>
            <a:off x="640080" y="3977640"/>
            <a:ext cx="2926080" cy="0"/>
          </a:xfrm>
          <a:prstGeom prst="line">
            <a:avLst/>
          </a:prstGeom>
          <a:noFill/>
          <a:ln w="12700">
            <a:solidFill>
              <a:srgbClr val="3A3733"/>
            </a:solidFill>
            <a:prstDash val="solid"/>
          </a:ln>
        </p:spPr>
      </p:sp>
      <p:sp>
        <p:nvSpPr>
          <p:cNvPr id="8" name="Text 5"/>
          <p:cNvSpPr/>
          <p:nvPr/>
        </p:nvSpPr>
        <p:spPr>
          <a:xfrm>
            <a:off x="640080" y="4224528"/>
            <a:ext cx="1005840" cy="292608"/>
          </a:xfrm>
          <a:prstGeom prst="rect">
            <a:avLst/>
          </a:prstGeom>
          <a:noFill/>
          <a:ln/>
        </p:spPr>
        <p:txBody>
          <a:bodyPr wrap="square" lIns="0" tIns="0" rIns="0" bIns="0" rtlCol="0" anchor="ctr"/>
          <a:lstStyle/>
          <a:p>
            <a:pPr indent="0" marL="0">
              <a:buNone/>
            </a:pPr>
            <a:r>
              <a:rPr lang="en-US" sz="1300" b="1" dirty="0">
                <a:solidFill>
                  <a:srgbClr val="C4A574"/>
                </a:solidFill>
                <a:latin typeface="Calibri" pitchFamily="34" charset="0"/>
                <a:ea typeface="Calibri" pitchFamily="34" charset="-122"/>
                <a:cs typeface="Calibri" pitchFamily="34" charset="-120"/>
              </a:rPr>
              <a:t>Nama</a:t>
            </a:r>
            <a:endParaRPr lang="en-US" sz="1300" dirty="0"/>
          </a:p>
        </p:txBody>
      </p:sp>
      <p:sp>
        <p:nvSpPr>
          <p:cNvPr id="9" name="Text 6"/>
          <p:cNvSpPr/>
          <p:nvPr/>
        </p:nvSpPr>
        <p:spPr>
          <a:xfrm>
            <a:off x="1691640" y="4224528"/>
            <a:ext cx="3291840" cy="292608"/>
          </a:xfrm>
          <a:prstGeom prst="rect">
            <a:avLst/>
          </a:prstGeom>
          <a:noFill/>
          <a:ln/>
        </p:spPr>
        <p:txBody>
          <a:bodyPr wrap="square" lIns="0" tIns="0" rIns="0" bIns="0" rtlCol="0" anchor="ctr"/>
          <a:lstStyle/>
          <a:p>
            <a:pPr indent="0" marL="0">
              <a:buNone/>
            </a:pPr>
            <a:r>
              <a:rPr lang="en-US" sz="1300" dirty="0">
                <a:solidFill>
                  <a:srgbClr val="B9B3AA"/>
                </a:solidFill>
                <a:latin typeface="Calibri" pitchFamily="34" charset="0"/>
                <a:ea typeface="Calibri" pitchFamily="34" charset="-122"/>
                <a:cs typeface="Calibri" pitchFamily="34" charset="-120"/>
              </a:rPr>
              <a:t>……………………………</a:t>
            </a:r>
            <a:endParaRPr lang="en-US" sz="1300" dirty="0"/>
          </a:p>
        </p:txBody>
      </p:sp>
      <p:sp>
        <p:nvSpPr>
          <p:cNvPr id="10" name="Text 7"/>
          <p:cNvSpPr/>
          <p:nvPr/>
        </p:nvSpPr>
        <p:spPr>
          <a:xfrm>
            <a:off x="640080" y="4572000"/>
            <a:ext cx="1005840" cy="292608"/>
          </a:xfrm>
          <a:prstGeom prst="rect">
            <a:avLst/>
          </a:prstGeom>
          <a:noFill/>
          <a:ln/>
        </p:spPr>
        <p:txBody>
          <a:bodyPr wrap="square" lIns="0" tIns="0" rIns="0" bIns="0" rtlCol="0" anchor="ctr"/>
          <a:lstStyle/>
          <a:p>
            <a:pPr indent="0" marL="0">
              <a:buNone/>
            </a:pPr>
            <a:r>
              <a:rPr lang="en-US" sz="1300" b="1" dirty="0">
                <a:solidFill>
                  <a:srgbClr val="C4A574"/>
                </a:solidFill>
                <a:latin typeface="Calibri" pitchFamily="34" charset="0"/>
                <a:ea typeface="Calibri" pitchFamily="34" charset="-122"/>
                <a:cs typeface="Calibri" pitchFamily="34" charset="-120"/>
              </a:rPr>
              <a:t>NIM</a:t>
            </a:r>
            <a:endParaRPr lang="en-US" sz="1300" dirty="0"/>
          </a:p>
        </p:txBody>
      </p:sp>
      <p:sp>
        <p:nvSpPr>
          <p:cNvPr id="11" name="Text 8"/>
          <p:cNvSpPr/>
          <p:nvPr/>
        </p:nvSpPr>
        <p:spPr>
          <a:xfrm>
            <a:off x="1691640" y="4572000"/>
            <a:ext cx="3291840" cy="292608"/>
          </a:xfrm>
          <a:prstGeom prst="rect">
            <a:avLst/>
          </a:prstGeom>
          <a:noFill/>
          <a:ln/>
        </p:spPr>
        <p:txBody>
          <a:bodyPr wrap="square" lIns="0" tIns="0" rIns="0" bIns="0" rtlCol="0" anchor="ctr"/>
          <a:lstStyle/>
          <a:p>
            <a:pPr indent="0" marL="0">
              <a:buNone/>
            </a:pPr>
            <a:r>
              <a:rPr lang="en-US" sz="1300" dirty="0">
                <a:solidFill>
                  <a:srgbClr val="B9B3AA"/>
                </a:solidFill>
                <a:latin typeface="Calibri" pitchFamily="34" charset="0"/>
                <a:ea typeface="Calibri" pitchFamily="34" charset="-122"/>
                <a:cs typeface="Calibri" pitchFamily="34" charset="-120"/>
              </a:rPr>
              <a:t>……………………………</a:t>
            </a:r>
            <a:endParaRPr lang="en-US" sz="1300" dirty="0"/>
          </a:p>
        </p:txBody>
      </p:sp>
      <p:sp>
        <p:nvSpPr>
          <p:cNvPr id="12" name="Text 9"/>
          <p:cNvSpPr/>
          <p:nvPr/>
        </p:nvSpPr>
        <p:spPr>
          <a:xfrm>
            <a:off x="640080" y="4919472"/>
            <a:ext cx="1005840" cy="292608"/>
          </a:xfrm>
          <a:prstGeom prst="rect">
            <a:avLst/>
          </a:prstGeom>
          <a:noFill/>
          <a:ln/>
        </p:spPr>
        <p:txBody>
          <a:bodyPr wrap="square" lIns="0" tIns="0" rIns="0" bIns="0" rtlCol="0" anchor="ctr"/>
          <a:lstStyle/>
          <a:p>
            <a:pPr indent="0" marL="0">
              <a:buNone/>
            </a:pPr>
            <a:r>
              <a:rPr lang="en-US" sz="1300" b="1" dirty="0">
                <a:solidFill>
                  <a:srgbClr val="C4A574"/>
                </a:solidFill>
                <a:latin typeface="Calibri" pitchFamily="34" charset="0"/>
                <a:ea typeface="Calibri" pitchFamily="34" charset="-122"/>
                <a:cs typeface="Calibri" pitchFamily="34" charset="-120"/>
              </a:rPr>
              <a:t>Kelas</a:t>
            </a:r>
            <a:endParaRPr lang="en-US" sz="1300" dirty="0"/>
          </a:p>
        </p:txBody>
      </p:sp>
      <p:sp>
        <p:nvSpPr>
          <p:cNvPr id="13" name="Text 10"/>
          <p:cNvSpPr/>
          <p:nvPr/>
        </p:nvSpPr>
        <p:spPr>
          <a:xfrm>
            <a:off x="1691640" y="4919472"/>
            <a:ext cx="3291840" cy="292608"/>
          </a:xfrm>
          <a:prstGeom prst="rect">
            <a:avLst/>
          </a:prstGeom>
          <a:noFill/>
          <a:ln/>
        </p:spPr>
        <p:txBody>
          <a:bodyPr wrap="square" lIns="0" tIns="0" rIns="0" bIns="0" rtlCol="0" anchor="ctr"/>
          <a:lstStyle/>
          <a:p>
            <a:pPr indent="0" marL="0">
              <a:buNone/>
            </a:pPr>
            <a:r>
              <a:rPr lang="en-US" sz="1300" dirty="0">
                <a:solidFill>
                  <a:srgbClr val="B9B3AA"/>
                </a:solidFill>
                <a:latin typeface="Calibri" pitchFamily="34" charset="0"/>
                <a:ea typeface="Calibri" pitchFamily="34" charset="-122"/>
                <a:cs typeface="Calibri" pitchFamily="34" charset="-120"/>
              </a:rPr>
              <a:t>……………………………</a:t>
            </a:r>
            <a:endParaRPr lang="en-US" sz="1300" dirty="0"/>
          </a:p>
        </p:txBody>
      </p:sp>
      <p:sp>
        <p:nvSpPr>
          <p:cNvPr id="14" name="Text 11"/>
          <p:cNvSpPr/>
          <p:nvPr/>
        </p:nvSpPr>
        <p:spPr>
          <a:xfrm>
            <a:off x="640080" y="5989320"/>
            <a:ext cx="5486400" cy="274320"/>
          </a:xfrm>
          <a:prstGeom prst="rect">
            <a:avLst/>
          </a:prstGeom>
          <a:noFill/>
          <a:ln/>
        </p:spPr>
        <p:txBody>
          <a:bodyPr wrap="square" lIns="0" tIns="0" rIns="0" bIns="0" rtlCol="0" anchor="ctr"/>
          <a:lstStyle/>
          <a:p>
            <a:pPr indent="0" marL="0">
              <a:buNone/>
            </a:pPr>
            <a:r>
              <a:rPr lang="en-US" sz="1200" dirty="0">
                <a:solidFill>
                  <a:srgbClr val="7A756E"/>
                </a:solidFill>
                <a:latin typeface="Calibri" pitchFamily="34" charset="0"/>
                <a:ea typeface="Calibri" pitchFamily="34" charset="-122"/>
                <a:cs typeface="Calibri" pitchFamily="34" charset="-120"/>
              </a:rPr>
              <a:t>Presentasi 1 · Senin, 27 Juli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ISI DOKUMENTASI</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Yang Dibahas Hari Ini</a:t>
            </a:r>
            <a:endParaRPr lang="en-US" sz="3000" dirty="0"/>
          </a:p>
        </p:txBody>
      </p:sp>
      <p:sp>
        <p:nvSpPr>
          <p:cNvPr id="4" name="Shape 2"/>
          <p:cNvSpPr/>
          <p:nvPr/>
        </p:nvSpPr>
        <p:spPr>
          <a:xfrm>
            <a:off x="640080" y="1600200"/>
            <a:ext cx="3529584" cy="3703320"/>
          </a:xfrm>
          <a:prstGeom prst="roundRect">
            <a:avLst>
              <a:gd name="adj" fmla="val 3109"/>
            </a:avLst>
          </a:prstGeom>
          <a:solidFill>
            <a:srgbClr val="FAF8F5"/>
          </a:solidFill>
          <a:ln w="12700">
            <a:solidFill>
              <a:srgbClr val="E4DDD2"/>
            </a:solidFill>
            <a:prstDash val="solid"/>
          </a:ln>
        </p:spPr>
      </p:sp>
      <p:sp>
        <p:nvSpPr>
          <p:cNvPr id="5" name="Shape 3"/>
          <p:cNvSpPr/>
          <p:nvPr/>
        </p:nvSpPr>
        <p:spPr>
          <a:xfrm>
            <a:off x="1024128" y="1965960"/>
            <a:ext cx="658368" cy="658368"/>
          </a:xfrm>
          <a:prstGeom prst="ellipse">
            <a:avLst/>
          </a:prstGeom>
          <a:solidFill>
            <a:srgbClr val="141414"/>
          </a:solidFill>
          <a:ln/>
        </p:spPr>
      </p:sp>
      <p:sp>
        <p:nvSpPr>
          <p:cNvPr id="6" name="Text 4"/>
          <p:cNvSpPr/>
          <p:nvPr/>
        </p:nvSpPr>
        <p:spPr>
          <a:xfrm>
            <a:off x="1024128" y="1965960"/>
            <a:ext cx="658368" cy="658368"/>
          </a:xfrm>
          <a:prstGeom prst="rect">
            <a:avLst/>
          </a:prstGeom>
          <a:noFill/>
          <a:ln/>
        </p:spPr>
        <p:txBody>
          <a:bodyPr wrap="square" lIns="0" tIns="0" rIns="0" bIns="0" rtlCol="0" anchor="ctr"/>
          <a:lstStyle/>
          <a:p>
            <a:pPr algn="ctr" indent="0" marL="0">
              <a:buNone/>
            </a:pPr>
            <a:r>
              <a:rPr lang="en-US" sz="1700" b="1" dirty="0">
                <a:solidFill>
                  <a:srgbClr val="C4A574"/>
                </a:solidFill>
                <a:latin typeface="Calibri" pitchFamily="34" charset="0"/>
                <a:ea typeface="Calibri" pitchFamily="34" charset="-122"/>
                <a:cs typeface="Calibri" pitchFamily="34" charset="-120"/>
              </a:rPr>
              <a:t>01</a:t>
            </a:r>
            <a:endParaRPr lang="en-US" sz="1700" dirty="0"/>
          </a:p>
        </p:txBody>
      </p:sp>
      <p:sp>
        <p:nvSpPr>
          <p:cNvPr id="7" name="Text 5"/>
          <p:cNvSpPr/>
          <p:nvPr/>
        </p:nvSpPr>
        <p:spPr>
          <a:xfrm>
            <a:off x="1024128" y="2834640"/>
            <a:ext cx="2761488" cy="731520"/>
          </a:xfrm>
          <a:prstGeom prst="rect">
            <a:avLst/>
          </a:prstGeom>
          <a:noFill/>
          <a:ln/>
        </p:spPr>
        <p:txBody>
          <a:bodyPr wrap="square" lIns="0" tIns="0" rIns="0" bIns="0" rtlCol="0" anchor="t"/>
          <a:lstStyle/>
          <a:p>
            <a:pPr indent="0" marL="0">
              <a:buNone/>
            </a:pPr>
            <a:r>
              <a:rPr lang="en-US" sz="2000" b="1" dirty="0">
                <a:solidFill>
                  <a:srgbClr val="141414"/>
                </a:solidFill>
                <a:latin typeface="Cambria" pitchFamily="34" charset="0"/>
                <a:ea typeface="Cambria" pitchFamily="34" charset="-122"/>
                <a:cs typeface="Cambria" pitchFamily="34" charset="-120"/>
              </a:rPr>
              <a:t>Nama Aplikasi Website</a:t>
            </a:r>
            <a:endParaRPr lang="en-US" sz="2000" dirty="0"/>
          </a:p>
        </p:txBody>
      </p:sp>
      <p:sp>
        <p:nvSpPr>
          <p:cNvPr id="8" name="Text 6"/>
          <p:cNvSpPr/>
          <p:nvPr/>
        </p:nvSpPr>
        <p:spPr>
          <a:xfrm>
            <a:off x="1024128" y="3611880"/>
            <a:ext cx="2761488" cy="1188720"/>
          </a:xfrm>
          <a:prstGeom prst="rect">
            <a:avLst/>
          </a:prstGeom>
          <a:noFill/>
          <a:ln/>
        </p:spPr>
        <p:txBody>
          <a:bodyPr wrap="square" lIns="0" tIns="0" rIns="0" bIns="0" rtlCol="0" anchor="t"/>
          <a:lstStyle/>
          <a:p>
            <a:pPr indent="0" marL="0">
              <a:lnSpc>
                <a:spcPts val="2100"/>
              </a:lnSpc>
              <a:buNone/>
            </a:pPr>
            <a:r>
              <a:rPr lang="en-US" sz="1400" dirty="0">
                <a:solidFill>
                  <a:srgbClr val="6B6660"/>
                </a:solidFill>
                <a:latin typeface="Calibri" pitchFamily="34" charset="0"/>
                <a:ea typeface="Calibri" pitchFamily="34" charset="-122"/>
                <a:cs typeface="Calibri" pitchFamily="34" charset="-120"/>
              </a:rPr>
              <a:t>Identitas produk, ruang lingkup layanan, dan teknologi yang dipakai untuk membangunnya.</a:t>
            </a:r>
            <a:endParaRPr lang="en-US" sz="1400" dirty="0"/>
          </a:p>
        </p:txBody>
      </p:sp>
      <p:sp>
        <p:nvSpPr>
          <p:cNvPr id="9" name="Text 7"/>
          <p:cNvSpPr/>
          <p:nvPr/>
        </p:nvSpPr>
        <p:spPr>
          <a:xfrm>
            <a:off x="1024128" y="4800600"/>
            <a:ext cx="2761488" cy="274320"/>
          </a:xfrm>
          <a:prstGeom prst="rect">
            <a:avLst/>
          </a:prstGeom>
          <a:noFill/>
          <a:ln/>
        </p:spPr>
        <p:txBody>
          <a:bodyPr wrap="square" lIns="0" tIns="0" rIns="0" bIns="0" rtlCol="0" anchor="ctr"/>
          <a:lstStyle/>
          <a:p>
            <a:pPr indent="0" marL="0">
              <a:buNone/>
            </a:pPr>
            <a:r>
              <a:rPr lang="en-US" sz="1100" b="1" spc="120" kern="0" dirty="0">
                <a:solidFill>
                  <a:srgbClr val="8F7439"/>
                </a:solidFill>
                <a:latin typeface="Calibri" pitchFamily="34" charset="0"/>
                <a:ea typeface="Calibri" pitchFamily="34" charset="-122"/>
                <a:cs typeface="Calibri" pitchFamily="34" charset="-120"/>
              </a:rPr>
              <a:t>Slide 3 – 4</a:t>
            </a:r>
            <a:endParaRPr lang="en-US" sz="1100" dirty="0"/>
          </a:p>
        </p:txBody>
      </p:sp>
      <p:sp>
        <p:nvSpPr>
          <p:cNvPr id="10" name="Shape 8"/>
          <p:cNvSpPr/>
          <p:nvPr/>
        </p:nvSpPr>
        <p:spPr>
          <a:xfrm>
            <a:off x="4398264" y="1600200"/>
            <a:ext cx="3529584" cy="3703320"/>
          </a:xfrm>
          <a:prstGeom prst="roundRect">
            <a:avLst>
              <a:gd name="adj" fmla="val 3109"/>
            </a:avLst>
          </a:prstGeom>
          <a:solidFill>
            <a:srgbClr val="FAF8F5"/>
          </a:solidFill>
          <a:ln w="12700">
            <a:solidFill>
              <a:srgbClr val="E4DDD2"/>
            </a:solidFill>
            <a:prstDash val="solid"/>
          </a:ln>
        </p:spPr>
      </p:sp>
      <p:sp>
        <p:nvSpPr>
          <p:cNvPr id="11" name="Shape 9"/>
          <p:cNvSpPr/>
          <p:nvPr/>
        </p:nvSpPr>
        <p:spPr>
          <a:xfrm>
            <a:off x="4782312" y="1965960"/>
            <a:ext cx="658368" cy="658368"/>
          </a:xfrm>
          <a:prstGeom prst="ellipse">
            <a:avLst/>
          </a:prstGeom>
          <a:solidFill>
            <a:srgbClr val="141414"/>
          </a:solidFill>
          <a:ln/>
        </p:spPr>
      </p:sp>
      <p:sp>
        <p:nvSpPr>
          <p:cNvPr id="12" name="Text 10"/>
          <p:cNvSpPr/>
          <p:nvPr/>
        </p:nvSpPr>
        <p:spPr>
          <a:xfrm>
            <a:off x="4782312" y="1965960"/>
            <a:ext cx="658368" cy="658368"/>
          </a:xfrm>
          <a:prstGeom prst="rect">
            <a:avLst/>
          </a:prstGeom>
          <a:noFill/>
          <a:ln/>
        </p:spPr>
        <p:txBody>
          <a:bodyPr wrap="square" lIns="0" tIns="0" rIns="0" bIns="0" rtlCol="0" anchor="ctr"/>
          <a:lstStyle/>
          <a:p>
            <a:pPr algn="ctr" indent="0" marL="0">
              <a:buNone/>
            </a:pPr>
            <a:r>
              <a:rPr lang="en-US" sz="1700" b="1" dirty="0">
                <a:solidFill>
                  <a:srgbClr val="C4A574"/>
                </a:solidFill>
                <a:latin typeface="Calibri" pitchFamily="34" charset="0"/>
                <a:ea typeface="Calibri" pitchFamily="34" charset="-122"/>
                <a:cs typeface="Calibri" pitchFamily="34" charset="-120"/>
              </a:rPr>
              <a:t>02</a:t>
            </a:r>
            <a:endParaRPr lang="en-US" sz="1700" dirty="0"/>
          </a:p>
        </p:txBody>
      </p:sp>
      <p:sp>
        <p:nvSpPr>
          <p:cNvPr id="13" name="Text 11"/>
          <p:cNvSpPr/>
          <p:nvPr/>
        </p:nvSpPr>
        <p:spPr>
          <a:xfrm>
            <a:off x="4782312" y="2834640"/>
            <a:ext cx="2761488" cy="731520"/>
          </a:xfrm>
          <a:prstGeom prst="rect">
            <a:avLst/>
          </a:prstGeom>
          <a:noFill/>
          <a:ln/>
        </p:spPr>
        <p:txBody>
          <a:bodyPr wrap="square" lIns="0" tIns="0" rIns="0" bIns="0" rtlCol="0" anchor="t"/>
          <a:lstStyle/>
          <a:p>
            <a:pPr indent="0" marL="0">
              <a:buNone/>
            </a:pPr>
            <a:r>
              <a:rPr lang="en-US" sz="2000" b="1" dirty="0">
                <a:solidFill>
                  <a:srgbClr val="141414"/>
                </a:solidFill>
                <a:latin typeface="Cambria" pitchFamily="34" charset="0"/>
                <a:ea typeface="Cambria" pitchFamily="34" charset="-122"/>
                <a:cs typeface="Cambria" pitchFamily="34" charset="-120"/>
              </a:rPr>
              <a:t>Mock Up &amp; Penjelasan</a:t>
            </a:r>
            <a:endParaRPr lang="en-US" sz="2000" dirty="0"/>
          </a:p>
        </p:txBody>
      </p:sp>
      <p:sp>
        <p:nvSpPr>
          <p:cNvPr id="14" name="Text 12"/>
          <p:cNvSpPr/>
          <p:nvPr/>
        </p:nvSpPr>
        <p:spPr>
          <a:xfrm>
            <a:off x="4782312" y="3611880"/>
            <a:ext cx="2761488" cy="1188720"/>
          </a:xfrm>
          <a:prstGeom prst="rect">
            <a:avLst/>
          </a:prstGeom>
          <a:noFill/>
          <a:ln/>
        </p:spPr>
        <p:txBody>
          <a:bodyPr wrap="square" lIns="0" tIns="0" rIns="0" bIns="0" rtlCol="0" anchor="t"/>
          <a:lstStyle/>
          <a:p>
            <a:pPr indent="0" marL="0">
              <a:lnSpc>
                <a:spcPts val="2100"/>
              </a:lnSpc>
              <a:buNone/>
            </a:pPr>
            <a:r>
              <a:rPr lang="en-US" sz="1400" dirty="0">
                <a:solidFill>
                  <a:srgbClr val="6B6660"/>
                </a:solidFill>
                <a:latin typeface="Calibri" pitchFamily="34" charset="0"/>
                <a:ea typeface="Calibri" pitchFamily="34" charset="-122"/>
                <a:cs typeface="Calibri" pitchFamily="34" charset="-120"/>
              </a:rPr>
              <a:t>Tampilan setiap halaman pada panel Admin, dari login sampai pengaturan, beserta fungsinya.</a:t>
            </a:r>
            <a:endParaRPr lang="en-US" sz="1400" dirty="0"/>
          </a:p>
        </p:txBody>
      </p:sp>
      <p:sp>
        <p:nvSpPr>
          <p:cNvPr id="15" name="Text 13"/>
          <p:cNvSpPr/>
          <p:nvPr/>
        </p:nvSpPr>
        <p:spPr>
          <a:xfrm>
            <a:off x="4782312" y="4800600"/>
            <a:ext cx="2761488" cy="274320"/>
          </a:xfrm>
          <a:prstGeom prst="rect">
            <a:avLst/>
          </a:prstGeom>
          <a:noFill/>
          <a:ln/>
        </p:spPr>
        <p:txBody>
          <a:bodyPr wrap="square" lIns="0" tIns="0" rIns="0" bIns="0" rtlCol="0" anchor="ctr"/>
          <a:lstStyle/>
          <a:p>
            <a:pPr indent="0" marL="0">
              <a:buNone/>
            </a:pPr>
            <a:r>
              <a:rPr lang="en-US" sz="1100" b="1" spc="120" kern="0" dirty="0">
                <a:solidFill>
                  <a:srgbClr val="8F7439"/>
                </a:solidFill>
                <a:latin typeface="Calibri" pitchFamily="34" charset="0"/>
                <a:ea typeface="Calibri" pitchFamily="34" charset="-122"/>
                <a:cs typeface="Calibri" pitchFamily="34" charset="-120"/>
              </a:rPr>
              <a:t>Slide 5 – 13</a:t>
            </a:r>
            <a:endParaRPr lang="en-US" sz="1100" dirty="0"/>
          </a:p>
        </p:txBody>
      </p:sp>
      <p:sp>
        <p:nvSpPr>
          <p:cNvPr id="16" name="Shape 14"/>
          <p:cNvSpPr/>
          <p:nvPr/>
        </p:nvSpPr>
        <p:spPr>
          <a:xfrm>
            <a:off x="8156448" y="1600200"/>
            <a:ext cx="3529584" cy="3703320"/>
          </a:xfrm>
          <a:prstGeom prst="roundRect">
            <a:avLst>
              <a:gd name="adj" fmla="val 3109"/>
            </a:avLst>
          </a:prstGeom>
          <a:solidFill>
            <a:srgbClr val="FAF8F5"/>
          </a:solidFill>
          <a:ln w="12700">
            <a:solidFill>
              <a:srgbClr val="E4DDD2"/>
            </a:solidFill>
            <a:prstDash val="solid"/>
          </a:ln>
        </p:spPr>
      </p:sp>
      <p:sp>
        <p:nvSpPr>
          <p:cNvPr id="17" name="Shape 15"/>
          <p:cNvSpPr/>
          <p:nvPr/>
        </p:nvSpPr>
        <p:spPr>
          <a:xfrm>
            <a:off x="8540496" y="1965960"/>
            <a:ext cx="658368" cy="658368"/>
          </a:xfrm>
          <a:prstGeom prst="ellipse">
            <a:avLst/>
          </a:prstGeom>
          <a:solidFill>
            <a:srgbClr val="141414"/>
          </a:solidFill>
          <a:ln/>
        </p:spPr>
      </p:sp>
      <p:sp>
        <p:nvSpPr>
          <p:cNvPr id="18" name="Text 16"/>
          <p:cNvSpPr/>
          <p:nvPr/>
        </p:nvSpPr>
        <p:spPr>
          <a:xfrm>
            <a:off x="8540496" y="1965960"/>
            <a:ext cx="658368" cy="658368"/>
          </a:xfrm>
          <a:prstGeom prst="rect">
            <a:avLst/>
          </a:prstGeom>
          <a:noFill/>
          <a:ln/>
        </p:spPr>
        <p:txBody>
          <a:bodyPr wrap="square" lIns="0" tIns="0" rIns="0" bIns="0" rtlCol="0" anchor="ctr"/>
          <a:lstStyle/>
          <a:p>
            <a:pPr algn="ctr" indent="0" marL="0">
              <a:buNone/>
            </a:pPr>
            <a:r>
              <a:rPr lang="en-US" sz="1700" b="1" dirty="0">
                <a:solidFill>
                  <a:srgbClr val="C4A574"/>
                </a:solidFill>
                <a:latin typeface="Calibri" pitchFamily="34" charset="0"/>
                <a:ea typeface="Calibri" pitchFamily="34" charset="-122"/>
                <a:cs typeface="Calibri" pitchFamily="34" charset="-120"/>
              </a:rPr>
              <a:t>03</a:t>
            </a:r>
            <a:endParaRPr lang="en-US" sz="1700" dirty="0"/>
          </a:p>
        </p:txBody>
      </p:sp>
      <p:sp>
        <p:nvSpPr>
          <p:cNvPr id="19" name="Text 17"/>
          <p:cNvSpPr/>
          <p:nvPr/>
        </p:nvSpPr>
        <p:spPr>
          <a:xfrm>
            <a:off x="8540496" y="2834640"/>
            <a:ext cx="2761488" cy="731520"/>
          </a:xfrm>
          <a:prstGeom prst="rect">
            <a:avLst/>
          </a:prstGeom>
          <a:noFill/>
          <a:ln/>
        </p:spPr>
        <p:txBody>
          <a:bodyPr wrap="square" lIns="0" tIns="0" rIns="0" bIns="0" rtlCol="0" anchor="t"/>
          <a:lstStyle/>
          <a:p>
            <a:pPr indent="0" marL="0">
              <a:buNone/>
            </a:pPr>
            <a:r>
              <a:rPr lang="en-US" sz="2000" b="1" dirty="0">
                <a:solidFill>
                  <a:srgbClr val="141414"/>
                </a:solidFill>
                <a:latin typeface="Cambria" pitchFamily="34" charset="0"/>
                <a:ea typeface="Cambria" pitchFamily="34" charset="-122"/>
                <a:cs typeface="Cambria" pitchFamily="34" charset="-120"/>
              </a:rPr>
              <a:t>Desain Database</a:t>
            </a:r>
            <a:endParaRPr lang="en-US" sz="2000" dirty="0"/>
          </a:p>
        </p:txBody>
      </p:sp>
      <p:sp>
        <p:nvSpPr>
          <p:cNvPr id="20" name="Text 18"/>
          <p:cNvSpPr/>
          <p:nvPr/>
        </p:nvSpPr>
        <p:spPr>
          <a:xfrm>
            <a:off x="8540496" y="3611880"/>
            <a:ext cx="2761488" cy="1188720"/>
          </a:xfrm>
          <a:prstGeom prst="rect">
            <a:avLst/>
          </a:prstGeom>
          <a:noFill/>
          <a:ln/>
        </p:spPr>
        <p:txBody>
          <a:bodyPr wrap="square" lIns="0" tIns="0" rIns="0" bIns="0" rtlCol="0" anchor="t"/>
          <a:lstStyle/>
          <a:p>
            <a:pPr indent="0" marL="0">
              <a:lnSpc>
                <a:spcPts val="2100"/>
              </a:lnSpc>
              <a:buNone/>
            </a:pPr>
            <a:r>
              <a:rPr lang="en-US" sz="1400" dirty="0">
                <a:solidFill>
                  <a:srgbClr val="6B6660"/>
                </a:solidFill>
                <a:latin typeface="Calibri" pitchFamily="34" charset="0"/>
                <a:ea typeface="Calibri" pitchFamily="34" charset="-122"/>
                <a:cs typeface="Calibri" pitchFamily="34" charset="-120"/>
              </a:rPr>
              <a:t>Entity Relationship Diagram dan ringkasan 33 tabel yang dikelompokkan per domain.</a:t>
            </a:r>
            <a:endParaRPr lang="en-US" sz="1400" dirty="0"/>
          </a:p>
        </p:txBody>
      </p:sp>
      <p:sp>
        <p:nvSpPr>
          <p:cNvPr id="21" name="Text 19"/>
          <p:cNvSpPr/>
          <p:nvPr/>
        </p:nvSpPr>
        <p:spPr>
          <a:xfrm>
            <a:off x="8540496" y="4800600"/>
            <a:ext cx="2761488" cy="274320"/>
          </a:xfrm>
          <a:prstGeom prst="rect">
            <a:avLst/>
          </a:prstGeom>
          <a:noFill/>
          <a:ln/>
        </p:spPr>
        <p:txBody>
          <a:bodyPr wrap="square" lIns="0" tIns="0" rIns="0" bIns="0" rtlCol="0" anchor="ctr"/>
          <a:lstStyle/>
          <a:p>
            <a:pPr indent="0" marL="0">
              <a:buNone/>
            </a:pPr>
            <a:r>
              <a:rPr lang="en-US" sz="1100" b="1" spc="120" kern="0" dirty="0">
                <a:solidFill>
                  <a:srgbClr val="8F7439"/>
                </a:solidFill>
                <a:latin typeface="Calibri" pitchFamily="34" charset="0"/>
                <a:ea typeface="Calibri" pitchFamily="34" charset="-122"/>
                <a:cs typeface="Calibri" pitchFamily="34" charset="-120"/>
              </a:rPr>
              <a:t>Slide 14 – 15</a:t>
            </a:r>
            <a:endParaRPr lang="en-US" sz="1100" dirty="0"/>
          </a:p>
        </p:txBody>
      </p:sp>
      <p:sp>
        <p:nvSpPr>
          <p:cNvPr id="22" name="Text 20"/>
          <p:cNvSpPr/>
          <p:nvPr/>
        </p:nvSpPr>
        <p:spPr>
          <a:xfrm>
            <a:off x="640080" y="5623560"/>
            <a:ext cx="7315200" cy="292608"/>
          </a:xfrm>
          <a:prstGeom prst="rect">
            <a:avLst/>
          </a:prstGeom>
          <a:noFill/>
          <a:ln/>
        </p:spPr>
        <p:txBody>
          <a:bodyPr wrap="square" lIns="0" tIns="0" rIns="0" bIns="0" rtlCol="0" anchor="ctr"/>
          <a:lstStyle/>
          <a:p>
            <a:pPr indent="0" marL="0">
              <a:buNone/>
            </a:pPr>
            <a:r>
              <a:rPr lang="en-US" sz="1300" i="1" dirty="0">
                <a:solidFill>
                  <a:srgbClr val="6B6660"/>
                </a:solidFill>
                <a:latin typeface="Calibri" pitchFamily="34" charset="0"/>
                <a:ea typeface="Calibri" pitchFamily="34" charset="-122"/>
                <a:cs typeface="Calibri" pitchFamily="34" charset="-120"/>
              </a:rPr>
              <a:t>Deadline pengumpulan berikutnya: tanggal 10 setiap bulan.</a:t>
            </a:r>
            <a:endParaRPr lang="en-US" sz="1300" dirty="0"/>
          </a:p>
        </p:txBody>
      </p:sp>
      <p:sp>
        <p:nvSpPr>
          <p:cNvPr id="23" name="Text 21"/>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C4A574"/>
                </a:solidFill>
                <a:latin typeface="Calibri" pitchFamily="34" charset="0"/>
                <a:ea typeface="Calibri" pitchFamily="34" charset="-122"/>
                <a:cs typeface="Calibri" pitchFamily="34" charset="-120"/>
              </a:rPr>
              <a:t>POIN 1 · NAMA APLIKASI</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BrightDor</a:t>
            </a:r>
            <a:endParaRPr lang="en-US" sz="3000" dirty="0"/>
          </a:p>
        </p:txBody>
      </p:sp>
      <p:sp>
        <p:nvSpPr>
          <p:cNvPr id="4" name="Text 2"/>
          <p:cNvSpPr/>
          <p:nvPr/>
        </p:nvSpPr>
        <p:spPr>
          <a:xfrm>
            <a:off x="640080" y="1417320"/>
            <a:ext cx="6675120" cy="1371600"/>
          </a:xfrm>
          <a:prstGeom prst="rect">
            <a:avLst/>
          </a:prstGeom>
          <a:noFill/>
          <a:ln/>
        </p:spPr>
        <p:txBody>
          <a:bodyPr wrap="square" lIns="0" tIns="0" rIns="0" bIns="0" rtlCol="0" anchor="t"/>
          <a:lstStyle/>
          <a:p>
            <a:pPr indent="0" marL="0">
              <a:lnSpc>
                <a:spcPts val="2600"/>
              </a:lnSpc>
              <a:buNone/>
            </a:pPr>
            <a:r>
              <a:rPr lang="en-US" sz="1600" dirty="0">
                <a:solidFill>
                  <a:srgbClr val="B9B3AA"/>
                </a:solidFill>
                <a:latin typeface="Calibri" pitchFamily="34" charset="0"/>
                <a:ea typeface="Calibri" pitchFamily="34" charset="-122"/>
                <a:cs typeface="Calibri" pitchFamily="34" charset="-120"/>
              </a:rPr>
              <a:t>Bright (cerah) + Dor (pintu) — pintu menuju hari bahagia. Sebuah marketplace yang mempertemukan calon pengantin dengan vendor pernikahan terverifikasi, sekaligus menjual undangan pernikahan digital dalam satu platform.</a:t>
            </a:r>
            <a:endParaRPr lang="en-US" sz="1600" dirty="0"/>
          </a:p>
        </p:txBody>
      </p:sp>
      <p:sp>
        <p:nvSpPr>
          <p:cNvPr id="5" name="Text 3"/>
          <p:cNvSpPr/>
          <p:nvPr/>
        </p:nvSpPr>
        <p:spPr>
          <a:xfrm>
            <a:off x="640080" y="2926080"/>
            <a:ext cx="1463040" cy="685800"/>
          </a:xfrm>
          <a:prstGeom prst="rect">
            <a:avLst/>
          </a:prstGeom>
          <a:noFill/>
          <a:ln/>
        </p:spPr>
        <p:txBody>
          <a:bodyPr wrap="square" lIns="0" tIns="0" rIns="0" bIns="0" rtlCol="0" anchor="ctr"/>
          <a:lstStyle/>
          <a:p>
            <a:pPr indent="0" marL="0">
              <a:buNone/>
            </a:pPr>
            <a:r>
              <a:rPr lang="en-US" sz="4600" b="1" dirty="0">
                <a:solidFill>
                  <a:srgbClr val="C4A574"/>
                </a:solidFill>
                <a:latin typeface="Cambria" pitchFamily="34" charset="0"/>
                <a:ea typeface="Cambria" pitchFamily="34" charset="-122"/>
                <a:cs typeface="Cambria" pitchFamily="34" charset="-120"/>
              </a:rPr>
              <a:t>33</a:t>
            </a:r>
            <a:endParaRPr lang="en-US" sz="4600" dirty="0"/>
          </a:p>
        </p:txBody>
      </p:sp>
      <p:sp>
        <p:nvSpPr>
          <p:cNvPr id="6" name="Text 4"/>
          <p:cNvSpPr/>
          <p:nvPr/>
        </p:nvSpPr>
        <p:spPr>
          <a:xfrm>
            <a:off x="640080" y="3639312"/>
            <a:ext cx="1554480" cy="274320"/>
          </a:xfrm>
          <a:prstGeom prst="rect">
            <a:avLst/>
          </a:prstGeom>
          <a:noFill/>
          <a:ln/>
        </p:spPr>
        <p:txBody>
          <a:bodyPr wrap="square" lIns="0" tIns="0" rIns="0" bIns="0" rtlCol="0" anchor="ctr"/>
          <a:lstStyle/>
          <a:p>
            <a:pPr indent="0" marL="0">
              <a:buNone/>
            </a:pPr>
            <a:r>
              <a:rPr lang="en-US" sz="1200" dirty="0">
                <a:solidFill>
                  <a:srgbClr val="8E8880"/>
                </a:solidFill>
                <a:latin typeface="Calibri" pitchFamily="34" charset="0"/>
                <a:ea typeface="Calibri" pitchFamily="34" charset="-122"/>
                <a:cs typeface="Calibri" pitchFamily="34" charset="-120"/>
              </a:rPr>
              <a:t>Tabel database</a:t>
            </a:r>
            <a:endParaRPr lang="en-US" sz="1200" dirty="0"/>
          </a:p>
        </p:txBody>
      </p:sp>
      <p:sp>
        <p:nvSpPr>
          <p:cNvPr id="7" name="Text 5"/>
          <p:cNvSpPr/>
          <p:nvPr/>
        </p:nvSpPr>
        <p:spPr>
          <a:xfrm>
            <a:off x="2304288" y="2926080"/>
            <a:ext cx="1463040" cy="685800"/>
          </a:xfrm>
          <a:prstGeom prst="rect">
            <a:avLst/>
          </a:prstGeom>
          <a:noFill/>
          <a:ln/>
        </p:spPr>
        <p:txBody>
          <a:bodyPr wrap="square" lIns="0" tIns="0" rIns="0" bIns="0" rtlCol="0" anchor="ctr"/>
          <a:lstStyle/>
          <a:p>
            <a:pPr indent="0" marL="0">
              <a:buNone/>
            </a:pPr>
            <a:r>
              <a:rPr lang="en-US" sz="4600" b="1" dirty="0">
                <a:solidFill>
                  <a:srgbClr val="C4A574"/>
                </a:solidFill>
                <a:latin typeface="Cambria" pitchFamily="34" charset="0"/>
                <a:ea typeface="Cambria" pitchFamily="34" charset="-122"/>
                <a:cs typeface="Cambria" pitchFamily="34" charset="-120"/>
              </a:rPr>
              <a:t>18</a:t>
            </a:r>
            <a:endParaRPr lang="en-US" sz="4600" dirty="0"/>
          </a:p>
        </p:txBody>
      </p:sp>
      <p:sp>
        <p:nvSpPr>
          <p:cNvPr id="8" name="Text 6"/>
          <p:cNvSpPr/>
          <p:nvPr/>
        </p:nvSpPr>
        <p:spPr>
          <a:xfrm>
            <a:off x="2304288" y="3639312"/>
            <a:ext cx="1554480" cy="274320"/>
          </a:xfrm>
          <a:prstGeom prst="rect">
            <a:avLst/>
          </a:prstGeom>
          <a:noFill/>
          <a:ln/>
        </p:spPr>
        <p:txBody>
          <a:bodyPr wrap="square" lIns="0" tIns="0" rIns="0" bIns="0" rtlCol="0" anchor="ctr"/>
          <a:lstStyle/>
          <a:p>
            <a:pPr indent="0" marL="0">
              <a:buNone/>
            </a:pPr>
            <a:r>
              <a:rPr lang="en-US" sz="1200" dirty="0">
                <a:solidFill>
                  <a:srgbClr val="8E8880"/>
                </a:solidFill>
                <a:latin typeface="Calibri" pitchFamily="34" charset="0"/>
                <a:ea typeface="Calibri" pitchFamily="34" charset="-122"/>
                <a:cs typeface="Calibri" pitchFamily="34" charset="-120"/>
              </a:rPr>
              <a:t>Modul admin</a:t>
            </a:r>
            <a:endParaRPr lang="en-US" sz="1200" dirty="0"/>
          </a:p>
        </p:txBody>
      </p:sp>
      <p:sp>
        <p:nvSpPr>
          <p:cNvPr id="9" name="Text 7"/>
          <p:cNvSpPr/>
          <p:nvPr/>
        </p:nvSpPr>
        <p:spPr>
          <a:xfrm>
            <a:off x="3968496" y="2926080"/>
            <a:ext cx="1463040" cy="685800"/>
          </a:xfrm>
          <a:prstGeom prst="rect">
            <a:avLst/>
          </a:prstGeom>
          <a:noFill/>
          <a:ln/>
        </p:spPr>
        <p:txBody>
          <a:bodyPr wrap="square" lIns="0" tIns="0" rIns="0" bIns="0" rtlCol="0" anchor="ctr"/>
          <a:lstStyle/>
          <a:p>
            <a:pPr indent="0" marL="0">
              <a:buNone/>
            </a:pPr>
            <a:r>
              <a:rPr lang="en-US" sz="4600" b="1" dirty="0">
                <a:solidFill>
                  <a:srgbClr val="C4A574"/>
                </a:solidFill>
                <a:latin typeface="Cambria" pitchFamily="34" charset="0"/>
                <a:ea typeface="Cambria" pitchFamily="34" charset="-122"/>
                <a:cs typeface="Cambria" pitchFamily="34" charset="-120"/>
              </a:rPr>
              <a:t>7</a:t>
            </a:r>
            <a:endParaRPr lang="en-US" sz="4600" dirty="0"/>
          </a:p>
        </p:txBody>
      </p:sp>
      <p:sp>
        <p:nvSpPr>
          <p:cNvPr id="10" name="Text 8"/>
          <p:cNvSpPr/>
          <p:nvPr/>
        </p:nvSpPr>
        <p:spPr>
          <a:xfrm>
            <a:off x="3968496" y="3639312"/>
            <a:ext cx="1554480" cy="274320"/>
          </a:xfrm>
          <a:prstGeom prst="rect">
            <a:avLst/>
          </a:prstGeom>
          <a:noFill/>
          <a:ln/>
        </p:spPr>
        <p:txBody>
          <a:bodyPr wrap="square" lIns="0" tIns="0" rIns="0" bIns="0" rtlCol="0" anchor="ctr"/>
          <a:lstStyle/>
          <a:p>
            <a:pPr indent="0" marL="0">
              <a:buNone/>
            </a:pPr>
            <a:r>
              <a:rPr lang="en-US" sz="1200" dirty="0">
                <a:solidFill>
                  <a:srgbClr val="8E8880"/>
                </a:solidFill>
                <a:latin typeface="Calibri" pitchFamily="34" charset="0"/>
                <a:ea typeface="Calibri" pitchFamily="34" charset="-122"/>
                <a:cs typeface="Calibri" pitchFamily="34" charset="-120"/>
              </a:rPr>
              <a:t>Grup menu</a:t>
            </a:r>
            <a:endParaRPr lang="en-US" sz="1200" dirty="0"/>
          </a:p>
        </p:txBody>
      </p:sp>
      <p:sp>
        <p:nvSpPr>
          <p:cNvPr id="11" name="Text 9"/>
          <p:cNvSpPr/>
          <p:nvPr/>
        </p:nvSpPr>
        <p:spPr>
          <a:xfrm>
            <a:off x="5632704" y="2926080"/>
            <a:ext cx="1463040" cy="685800"/>
          </a:xfrm>
          <a:prstGeom prst="rect">
            <a:avLst/>
          </a:prstGeom>
          <a:noFill/>
          <a:ln/>
        </p:spPr>
        <p:txBody>
          <a:bodyPr wrap="square" lIns="0" tIns="0" rIns="0" bIns="0" rtlCol="0" anchor="ctr"/>
          <a:lstStyle/>
          <a:p>
            <a:pPr indent="0" marL="0">
              <a:buNone/>
            </a:pPr>
            <a:r>
              <a:rPr lang="en-US" sz="4600" b="1" dirty="0">
                <a:solidFill>
                  <a:srgbClr val="C4A574"/>
                </a:solidFill>
                <a:latin typeface="Cambria" pitchFamily="34" charset="0"/>
                <a:ea typeface="Cambria" pitchFamily="34" charset="-122"/>
                <a:cs typeface="Cambria" pitchFamily="34" charset="-120"/>
              </a:rPr>
              <a:t>5</a:t>
            </a:r>
            <a:endParaRPr lang="en-US" sz="4600" dirty="0"/>
          </a:p>
        </p:txBody>
      </p:sp>
      <p:sp>
        <p:nvSpPr>
          <p:cNvPr id="12" name="Text 10"/>
          <p:cNvSpPr/>
          <p:nvPr/>
        </p:nvSpPr>
        <p:spPr>
          <a:xfrm>
            <a:off x="5632704" y="3639312"/>
            <a:ext cx="1554480" cy="274320"/>
          </a:xfrm>
          <a:prstGeom prst="rect">
            <a:avLst/>
          </a:prstGeom>
          <a:noFill/>
          <a:ln/>
        </p:spPr>
        <p:txBody>
          <a:bodyPr wrap="square" lIns="0" tIns="0" rIns="0" bIns="0" rtlCol="0" anchor="ctr"/>
          <a:lstStyle/>
          <a:p>
            <a:pPr indent="0" marL="0">
              <a:buNone/>
            </a:pPr>
            <a:r>
              <a:rPr lang="en-US" sz="1200" dirty="0">
                <a:solidFill>
                  <a:srgbClr val="8E8880"/>
                </a:solidFill>
                <a:latin typeface="Calibri" pitchFamily="34" charset="0"/>
                <a:ea typeface="Calibri" pitchFamily="34" charset="-122"/>
                <a:cs typeface="Calibri" pitchFamily="34" charset="-120"/>
              </a:rPr>
              <a:t>Widget dasbor</a:t>
            </a:r>
            <a:endParaRPr lang="en-US" sz="1200" dirty="0"/>
          </a:p>
        </p:txBody>
      </p:sp>
      <p:sp>
        <p:nvSpPr>
          <p:cNvPr id="13" name="Shape 11"/>
          <p:cNvSpPr/>
          <p:nvPr/>
        </p:nvSpPr>
        <p:spPr>
          <a:xfrm>
            <a:off x="640080" y="4398264"/>
            <a:ext cx="146304" cy="146304"/>
          </a:xfrm>
          <a:prstGeom prst="ellipse">
            <a:avLst/>
          </a:prstGeom>
          <a:solidFill>
            <a:srgbClr val="C4A574"/>
          </a:solidFill>
          <a:ln/>
        </p:spPr>
      </p:sp>
      <p:sp>
        <p:nvSpPr>
          <p:cNvPr id="14" name="Text 12"/>
          <p:cNvSpPr/>
          <p:nvPr/>
        </p:nvSpPr>
        <p:spPr>
          <a:xfrm>
            <a:off x="950976" y="4297680"/>
            <a:ext cx="21945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Direktori vendor</a:t>
            </a:r>
            <a:endParaRPr lang="en-US" sz="1400" dirty="0"/>
          </a:p>
        </p:txBody>
      </p:sp>
      <p:sp>
        <p:nvSpPr>
          <p:cNvPr id="15" name="Text 13"/>
          <p:cNvSpPr/>
          <p:nvPr/>
        </p:nvSpPr>
        <p:spPr>
          <a:xfrm>
            <a:off x="3154680" y="4297680"/>
            <a:ext cx="4206240" cy="457200"/>
          </a:xfrm>
          <a:prstGeom prst="rect">
            <a:avLst/>
          </a:prstGeom>
          <a:noFill/>
          <a:ln/>
        </p:spPr>
        <p:txBody>
          <a:bodyPr wrap="square" lIns="0" tIns="0" rIns="0" bIns="0" rtlCol="0" anchor="t"/>
          <a:lstStyle/>
          <a:p>
            <a:pPr indent="0" marL="0">
              <a:lnSpc>
                <a:spcPts val="1800"/>
              </a:lnSpc>
              <a:buNone/>
            </a:pPr>
            <a:r>
              <a:rPr lang="en-US" sz="1300" dirty="0">
                <a:solidFill>
                  <a:srgbClr val="8E8880"/>
                </a:solidFill>
                <a:latin typeface="Calibri" pitchFamily="34" charset="0"/>
                <a:ea typeface="Calibri" pitchFamily="34" charset="-122"/>
                <a:cs typeface="Calibri" pitchFamily="34" charset="-120"/>
              </a:rPr>
              <a:t>9 kategori jasa: venue, catering, dekorasi, MUA, fotografer, dan lainnya.</a:t>
            </a:r>
            <a:endParaRPr lang="en-US" sz="1300" dirty="0"/>
          </a:p>
        </p:txBody>
      </p:sp>
      <p:sp>
        <p:nvSpPr>
          <p:cNvPr id="16" name="Shape 14"/>
          <p:cNvSpPr/>
          <p:nvPr/>
        </p:nvSpPr>
        <p:spPr>
          <a:xfrm>
            <a:off x="640080" y="5111496"/>
            <a:ext cx="146304" cy="146304"/>
          </a:xfrm>
          <a:prstGeom prst="ellipse">
            <a:avLst/>
          </a:prstGeom>
          <a:solidFill>
            <a:srgbClr val="C4A574"/>
          </a:solidFill>
          <a:ln/>
        </p:spPr>
      </p:sp>
      <p:sp>
        <p:nvSpPr>
          <p:cNvPr id="17" name="Text 15"/>
          <p:cNvSpPr/>
          <p:nvPr/>
        </p:nvSpPr>
        <p:spPr>
          <a:xfrm>
            <a:off x="950976" y="5010912"/>
            <a:ext cx="21945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Booking terpusat</a:t>
            </a:r>
            <a:endParaRPr lang="en-US" sz="1400" dirty="0"/>
          </a:p>
        </p:txBody>
      </p:sp>
      <p:sp>
        <p:nvSpPr>
          <p:cNvPr id="18" name="Text 16"/>
          <p:cNvSpPr/>
          <p:nvPr/>
        </p:nvSpPr>
        <p:spPr>
          <a:xfrm>
            <a:off x="3154680" y="5010912"/>
            <a:ext cx="4206240" cy="457200"/>
          </a:xfrm>
          <a:prstGeom prst="rect">
            <a:avLst/>
          </a:prstGeom>
          <a:noFill/>
          <a:ln/>
        </p:spPr>
        <p:txBody>
          <a:bodyPr wrap="square" lIns="0" tIns="0" rIns="0" bIns="0" rtlCol="0" anchor="t"/>
          <a:lstStyle/>
          <a:p>
            <a:pPr indent="0" marL="0">
              <a:lnSpc>
                <a:spcPts val="1800"/>
              </a:lnSpc>
              <a:buNone/>
            </a:pPr>
            <a:r>
              <a:rPr lang="en-US" sz="1300" dirty="0">
                <a:solidFill>
                  <a:srgbClr val="8E8880"/>
                </a:solidFill>
                <a:latin typeface="Calibri" pitchFamily="34" charset="0"/>
                <a:ea typeface="Calibri" pitchFamily="34" charset="-122"/>
                <a:cs typeface="Calibri" pitchFamily="34" charset="-120"/>
              </a:rPr>
              <a:t>Pemesanan jasa lengkap dengan kode booking, status, dan perhitungan komisi.</a:t>
            </a:r>
            <a:endParaRPr lang="en-US" sz="1300" dirty="0"/>
          </a:p>
        </p:txBody>
      </p:sp>
      <p:sp>
        <p:nvSpPr>
          <p:cNvPr id="19" name="Shape 17"/>
          <p:cNvSpPr/>
          <p:nvPr/>
        </p:nvSpPr>
        <p:spPr>
          <a:xfrm>
            <a:off x="640080" y="5824728"/>
            <a:ext cx="146304" cy="146304"/>
          </a:xfrm>
          <a:prstGeom prst="ellipse">
            <a:avLst/>
          </a:prstGeom>
          <a:solidFill>
            <a:srgbClr val="C4A574"/>
          </a:solidFill>
          <a:ln/>
        </p:spPr>
      </p:sp>
      <p:sp>
        <p:nvSpPr>
          <p:cNvPr id="20" name="Text 18"/>
          <p:cNvSpPr/>
          <p:nvPr/>
        </p:nvSpPr>
        <p:spPr>
          <a:xfrm>
            <a:off x="950976" y="5724144"/>
            <a:ext cx="21945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Undangan digital</a:t>
            </a:r>
            <a:endParaRPr lang="en-US" sz="1400" dirty="0"/>
          </a:p>
        </p:txBody>
      </p:sp>
      <p:sp>
        <p:nvSpPr>
          <p:cNvPr id="21" name="Text 19"/>
          <p:cNvSpPr/>
          <p:nvPr/>
        </p:nvSpPr>
        <p:spPr>
          <a:xfrm>
            <a:off x="3154680" y="5724144"/>
            <a:ext cx="4206240" cy="457200"/>
          </a:xfrm>
          <a:prstGeom prst="rect">
            <a:avLst/>
          </a:prstGeom>
          <a:noFill/>
          <a:ln/>
        </p:spPr>
        <p:txBody>
          <a:bodyPr wrap="square" lIns="0" tIns="0" rIns="0" bIns="0" rtlCol="0" anchor="t"/>
          <a:lstStyle/>
          <a:p>
            <a:pPr indent="0" marL="0">
              <a:lnSpc>
                <a:spcPts val="1800"/>
              </a:lnSpc>
              <a:buNone/>
            </a:pPr>
            <a:r>
              <a:rPr lang="en-US" sz="1300" dirty="0">
                <a:solidFill>
                  <a:srgbClr val="8E8880"/>
                </a:solidFill>
                <a:latin typeface="Calibri" pitchFamily="34" charset="0"/>
                <a:ea typeface="Calibri" pitchFamily="34" charset="-122"/>
                <a:cs typeface="Calibri" pitchFamily="34" charset="-120"/>
              </a:rPr>
              <a:t>Katalog template, order, dan undangan aktif dengan subdomain sendiri.</a:t>
            </a:r>
            <a:endParaRPr lang="en-US" sz="1300" dirty="0"/>
          </a:p>
        </p:txBody>
      </p:sp>
      <p:pic>
        <p:nvPicPr>
          <p:cNvPr id="22" name="Image 0" descr="/root/deck/assets/shots/00_login.png">    </p:cNvPr>
          <p:cNvPicPr>
            <a:picLocks noChangeAspect="1"/>
          </p:cNvPicPr>
          <p:nvPr/>
        </p:nvPicPr>
        <p:blipFill>
          <a:blip r:embed="rId1"/>
          <a:stretch>
            <a:fillRect/>
          </a:stretch>
        </p:blipFill>
        <p:spPr>
          <a:xfrm>
            <a:off x="7772400" y="1481328"/>
            <a:ext cx="3794760" cy="2368296"/>
          </a:xfrm>
          <a:prstGeom prst="rect">
            <a:avLst/>
          </a:prstGeom>
          <a:effectLst>
            <a:outerShdw sx="100000" sy="100000" kx="0" ky="0" algn="bl" rotWithShape="0" blurRad="152400" dist="38100" dir="5400000">
              <a:srgbClr val="8A8078">
                <a:alpha val="28000"/>
              </a:srgbClr>
            </a:outerShdw>
          </a:effectLst>
        </p:spPr>
      </p:pic>
      <p:pic>
        <p:nvPicPr>
          <p:cNvPr id="23" name="Image 1" descr="/root/deck/assets/shots/vendors.png">    </p:cNvPr>
          <p:cNvPicPr>
            <a:picLocks noChangeAspect="1"/>
          </p:cNvPicPr>
          <p:nvPr/>
        </p:nvPicPr>
        <p:blipFill>
          <a:blip r:embed="rId2"/>
          <a:stretch>
            <a:fillRect/>
          </a:stretch>
        </p:blipFill>
        <p:spPr>
          <a:xfrm>
            <a:off x="7772400" y="3977640"/>
            <a:ext cx="3794760" cy="2368296"/>
          </a:xfrm>
          <a:prstGeom prst="rect">
            <a:avLst/>
          </a:prstGeom>
          <a:effectLst>
            <a:outerShdw sx="100000" sy="100000" kx="0" ky="0" algn="bl" rotWithShape="0" blurRad="152400" dist="38100" dir="5400000">
              <a:srgbClr val="8A8078">
                <a:alpha val="28000"/>
              </a:srgbClr>
            </a:outerShdw>
          </a:effectLst>
        </p:spPr>
      </p:pic>
      <p:sp>
        <p:nvSpPr>
          <p:cNvPr id="24" name="Text 20"/>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1 · RUANG LINGKUP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Pengguna &amp; Teknologi</a:t>
            </a:r>
            <a:endParaRPr lang="en-US" sz="3000" dirty="0"/>
          </a:p>
        </p:txBody>
      </p:sp>
      <p:sp>
        <p:nvSpPr>
          <p:cNvPr id="4" name="Text 2"/>
          <p:cNvSpPr/>
          <p:nvPr/>
        </p:nvSpPr>
        <p:spPr>
          <a:xfrm>
            <a:off x="640080" y="1481328"/>
            <a:ext cx="5120640" cy="274320"/>
          </a:xfrm>
          <a:prstGeom prst="rect">
            <a:avLst/>
          </a:prstGeom>
          <a:noFill/>
          <a:ln/>
        </p:spPr>
        <p:txBody>
          <a:bodyPr wrap="square" lIns="0" tIns="0" rIns="0" bIns="0" rtlCol="0" anchor="ctr"/>
          <a:lstStyle/>
          <a:p>
            <a:pPr indent="0" marL="0">
              <a:buNone/>
            </a:pPr>
            <a:r>
              <a:rPr lang="en-US" sz="1300" b="1" spc="140" kern="0" dirty="0">
                <a:solidFill>
                  <a:srgbClr val="8F7439"/>
                </a:solidFill>
                <a:latin typeface="Calibri" pitchFamily="34" charset="0"/>
                <a:ea typeface="Calibri" pitchFamily="34" charset="-122"/>
                <a:cs typeface="Calibri" pitchFamily="34" charset="-120"/>
              </a:rPr>
              <a:t>Pengguna sistem</a:t>
            </a:r>
            <a:endParaRPr lang="en-US" sz="1300" dirty="0"/>
          </a:p>
        </p:txBody>
      </p:sp>
      <p:sp>
        <p:nvSpPr>
          <p:cNvPr id="5" name="Shape 3"/>
          <p:cNvSpPr/>
          <p:nvPr/>
        </p:nvSpPr>
        <p:spPr>
          <a:xfrm>
            <a:off x="640080" y="1874520"/>
            <a:ext cx="5394960" cy="1097280"/>
          </a:xfrm>
          <a:prstGeom prst="roundRect">
            <a:avLst>
              <a:gd name="adj" fmla="val 10000"/>
            </a:avLst>
          </a:prstGeom>
          <a:solidFill>
            <a:srgbClr val="FAF8F5"/>
          </a:solidFill>
          <a:ln w="12700">
            <a:solidFill>
              <a:srgbClr val="E4DDD2"/>
            </a:solidFill>
            <a:prstDash val="solid"/>
          </a:ln>
        </p:spPr>
      </p:sp>
      <p:sp>
        <p:nvSpPr>
          <p:cNvPr id="6" name="Text 4"/>
          <p:cNvSpPr/>
          <p:nvPr/>
        </p:nvSpPr>
        <p:spPr>
          <a:xfrm>
            <a:off x="932688" y="2020824"/>
            <a:ext cx="2011680" cy="310896"/>
          </a:xfrm>
          <a:prstGeom prst="rect">
            <a:avLst/>
          </a:prstGeom>
          <a:noFill/>
          <a:ln/>
        </p:spPr>
        <p:txBody>
          <a:bodyPr wrap="square" lIns="0" tIns="0" rIns="0" bIns="0" rtlCol="0" anchor="ctr"/>
          <a:lstStyle/>
          <a:p>
            <a:pPr indent="0" marL="0">
              <a:buNone/>
            </a:pPr>
            <a:r>
              <a:rPr lang="en-US" sz="1700" b="1" dirty="0">
                <a:solidFill>
                  <a:srgbClr val="141414"/>
                </a:solidFill>
                <a:latin typeface="Cambria" pitchFamily="34" charset="0"/>
                <a:ea typeface="Cambria" pitchFamily="34" charset="-122"/>
                <a:cs typeface="Cambria" pitchFamily="34" charset="-120"/>
              </a:rPr>
              <a:t>Admin</a:t>
            </a:r>
            <a:endParaRPr lang="en-US" sz="1700" dirty="0"/>
          </a:p>
        </p:txBody>
      </p:sp>
      <p:sp>
        <p:nvSpPr>
          <p:cNvPr id="7" name="Text 5"/>
          <p:cNvSpPr/>
          <p:nvPr/>
        </p:nvSpPr>
        <p:spPr>
          <a:xfrm>
            <a:off x="932688" y="2350008"/>
            <a:ext cx="4809744"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Satu-satunya panel yang sudah dibangun. Mengelola seluruh data: vendor, jasa, booking, undangan, keuangan, dan konten.</a:t>
            </a:r>
            <a:endParaRPr lang="en-US" sz="1300" dirty="0"/>
          </a:p>
        </p:txBody>
      </p:sp>
      <p:sp>
        <p:nvSpPr>
          <p:cNvPr id="8" name="Shape 6"/>
          <p:cNvSpPr/>
          <p:nvPr/>
        </p:nvSpPr>
        <p:spPr>
          <a:xfrm>
            <a:off x="640080" y="3108960"/>
            <a:ext cx="5394960" cy="1097280"/>
          </a:xfrm>
          <a:prstGeom prst="roundRect">
            <a:avLst>
              <a:gd name="adj" fmla="val 10000"/>
            </a:avLst>
          </a:prstGeom>
          <a:solidFill>
            <a:srgbClr val="FAF8F5"/>
          </a:solidFill>
          <a:ln w="12700">
            <a:solidFill>
              <a:srgbClr val="E4DDD2"/>
            </a:solidFill>
            <a:prstDash val="solid"/>
          </a:ln>
        </p:spPr>
      </p:sp>
      <p:sp>
        <p:nvSpPr>
          <p:cNvPr id="9" name="Text 7"/>
          <p:cNvSpPr/>
          <p:nvPr/>
        </p:nvSpPr>
        <p:spPr>
          <a:xfrm>
            <a:off x="932688" y="3255264"/>
            <a:ext cx="2011680" cy="310896"/>
          </a:xfrm>
          <a:prstGeom prst="rect">
            <a:avLst/>
          </a:prstGeom>
          <a:noFill/>
          <a:ln/>
        </p:spPr>
        <p:txBody>
          <a:bodyPr wrap="square" lIns="0" tIns="0" rIns="0" bIns="0" rtlCol="0" anchor="ctr"/>
          <a:lstStyle/>
          <a:p>
            <a:pPr indent="0" marL="0">
              <a:buNone/>
            </a:pPr>
            <a:r>
              <a:rPr lang="en-US" sz="1700" b="1" dirty="0">
                <a:solidFill>
                  <a:srgbClr val="141414"/>
                </a:solidFill>
                <a:latin typeface="Cambria" pitchFamily="34" charset="0"/>
                <a:ea typeface="Cambria" pitchFamily="34" charset="-122"/>
                <a:cs typeface="Cambria" pitchFamily="34" charset="-120"/>
              </a:rPr>
              <a:t>Vendor</a:t>
            </a:r>
            <a:endParaRPr lang="en-US" sz="1700" dirty="0"/>
          </a:p>
        </p:txBody>
      </p:sp>
      <p:sp>
        <p:nvSpPr>
          <p:cNvPr id="10" name="Text 8"/>
          <p:cNvSpPr/>
          <p:nvPr/>
        </p:nvSpPr>
        <p:spPr>
          <a:xfrm>
            <a:off x="932688" y="3584448"/>
            <a:ext cx="4809744"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Tersimpan sebagai data (user_type = vendor). Profil, jasa, dan pencairan dananya dikelola admin lewat panel.</a:t>
            </a:r>
            <a:endParaRPr lang="en-US" sz="1300" dirty="0"/>
          </a:p>
        </p:txBody>
      </p:sp>
      <p:sp>
        <p:nvSpPr>
          <p:cNvPr id="11" name="Shape 9"/>
          <p:cNvSpPr/>
          <p:nvPr/>
        </p:nvSpPr>
        <p:spPr>
          <a:xfrm>
            <a:off x="640080" y="4343400"/>
            <a:ext cx="5394960" cy="1097280"/>
          </a:xfrm>
          <a:prstGeom prst="roundRect">
            <a:avLst>
              <a:gd name="adj" fmla="val 10000"/>
            </a:avLst>
          </a:prstGeom>
          <a:solidFill>
            <a:srgbClr val="FAF8F5"/>
          </a:solidFill>
          <a:ln w="12700">
            <a:solidFill>
              <a:srgbClr val="E4DDD2"/>
            </a:solidFill>
            <a:prstDash val="solid"/>
          </a:ln>
        </p:spPr>
      </p:sp>
      <p:sp>
        <p:nvSpPr>
          <p:cNvPr id="12" name="Text 10"/>
          <p:cNvSpPr/>
          <p:nvPr/>
        </p:nvSpPr>
        <p:spPr>
          <a:xfrm>
            <a:off x="932688" y="4489704"/>
            <a:ext cx="2011680" cy="310896"/>
          </a:xfrm>
          <a:prstGeom prst="rect">
            <a:avLst/>
          </a:prstGeom>
          <a:noFill/>
          <a:ln/>
        </p:spPr>
        <p:txBody>
          <a:bodyPr wrap="square" lIns="0" tIns="0" rIns="0" bIns="0" rtlCol="0" anchor="ctr"/>
          <a:lstStyle/>
          <a:p>
            <a:pPr indent="0" marL="0">
              <a:buNone/>
            </a:pPr>
            <a:r>
              <a:rPr lang="en-US" sz="1700" b="1" dirty="0">
                <a:solidFill>
                  <a:srgbClr val="141414"/>
                </a:solidFill>
                <a:latin typeface="Cambria" pitchFamily="34" charset="0"/>
                <a:ea typeface="Cambria" pitchFamily="34" charset="-122"/>
                <a:cs typeface="Cambria" pitchFamily="34" charset="-120"/>
              </a:rPr>
              <a:t>Couple</a:t>
            </a:r>
            <a:endParaRPr lang="en-US" sz="1700" dirty="0"/>
          </a:p>
        </p:txBody>
      </p:sp>
      <p:sp>
        <p:nvSpPr>
          <p:cNvPr id="13" name="Text 11"/>
          <p:cNvSpPr/>
          <p:nvPr/>
        </p:nvSpPr>
        <p:spPr>
          <a:xfrm>
            <a:off x="932688" y="4818888"/>
            <a:ext cx="4809744"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Calon pengantin, tersimpan sebagai data (user_type = couple). Menjadi pemilik booking dan order undangan.</a:t>
            </a:r>
            <a:endParaRPr lang="en-US" sz="1300" dirty="0"/>
          </a:p>
        </p:txBody>
      </p:sp>
      <p:sp>
        <p:nvSpPr>
          <p:cNvPr id="14" name="Text 12"/>
          <p:cNvSpPr/>
          <p:nvPr/>
        </p:nvSpPr>
        <p:spPr>
          <a:xfrm>
            <a:off x="640080" y="5623560"/>
            <a:ext cx="5394960" cy="457200"/>
          </a:xfrm>
          <a:prstGeom prst="rect">
            <a:avLst/>
          </a:prstGeom>
          <a:noFill/>
          <a:ln/>
        </p:spPr>
        <p:txBody>
          <a:bodyPr wrap="square" lIns="0" tIns="0" rIns="0" bIns="0" rtlCol="0" anchor="ctr"/>
          <a:lstStyle/>
          <a:p>
            <a:pPr indent="0" marL="0">
              <a:lnSpc>
                <a:spcPts val="1700"/>
              </a:lnSpc>
              <a:buNone/>
            </a:pPr>
            <a:r>
              <a:rPr lang="en-US" sz="1200" i="1" dirty="0">
                <a:solidFill>
                  <a:srgbClr val="6B6660"/>
                </a:solidFill>
                <a:latin typeface="Calibri" pitchFamily="34" charset="0"/>
                <a:ea typeface="Calibri" pitchFamily="34" charset="-122"/>
                <a:cs typeface="Calibri" pitchFamily="34" charset="-120"/>
              </a:rPr>
              <a:t>Catatan: panel terpisah untuk Vendor dan Couple belum dibangun pada tahap ini.</a:t>
            </a:r>
            <a:endParaRPr lang="en-US" sz="1200" dirty="0"/>
          </a:p>
        </p:txBody>
      </p:sp>
      <p:sp>
        <p:nvSpPr>
          <p:cNvPr id="15" name="Text 13"/>
          <p:cNvSpPr/>
          <p:nvPr/>
        </p:nvSpPr>
        <p:spPr>
          <a:xfrm>
            <a:off x="6492240" y="1481328"/>
            <a:ext cx="5120640" cy="274320"/>
          </a:xfrm>
          <a:prstGeom prst="rect">
            <a:avLst/>
          </a:prstGeom>
          <a:noFill/>
          <a:ln/>
        </p:spPr>
        <p:txBody>
          <a:bodyPr wrap="square" lIns="0" tIns="0" rIns="0" bIns="0" rtlCol="0" anchor="ctr"/>
          <a:lstStyle/>
          <a:p>
            <a:pPr indent="0" marL="0">
              <a:buNone/>
            </a:pPr>
            <a:r>
              <a:rPr lang="en-US" sz="1300" b="1" spc="140" kern="0" dirty="0">
                <a:solidFill>
                  <a:srgbClr val="8F7439"/>
                </a:solidFill>
                <a:latin typeface="Calibri" pitchFamily="34" charset="0"/>
                <a:ea typeface="Calibri" pitchFamily="34" charset="-122"/>
                <a:cs typeface="Calibri" pitchFamily="34" charset="-120"/>
              </a:rPr>
              <a:t>Teknologi yang digunakan</a:t>
            </a:r>
            <a:endParaRPr lang="en-US" sz="1300" dirty="0"/>
          </a:p>
        </p:txBody>
      </p:sp>
      <p:sp>
        <p:nvSpPr>
          <p:cNvPr id="16" name="Shape 14"/>
          <p:cNvSpPr/>
          <p:nvPr/>
        </p:nvSpPr>
        <p:spPr>
          <a:xfrm>
            <a:off x="6492240" y="1874520"/>
            <a:ext cx="2487168" cy="841248"/>
          </a:xfrm>
          <a:prstGeom prst="roundRect">
            <a:avLst>
              <a:gd name="adj" fmla="val 13043"/>
            </a:avLst>
          </a:prstGeom>
          <a:solidFill>
            <a:srgbClr val="FAF8F5"/>
          </a:solidFill>
          <a:ln w="12700">
            <a:solidFill>
              <a:srgbClr val="E4DDD2"/>
            </a:solidFill>
            <a:prstDash val="solid"/>
          </a:ln>
        </p:spPr>
      </p:sp>
      <p:sp>
        <p:nvSpPr>
          <p:cNvPr id="17" name="Text 15"/>
          <p:cNvSpPr/>
          <p:nvPr/>
        </p:nvSpPr>
        <p:spPr>
          <a:xfrm>
            <a:off x="6711696" y="1984248"/>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Laravel 11</a:t>
            </a:r>
            <a:endParaRPr lang="en-US" sz="1400" dirty="0"/>
          </a:p>
        </p:txBody>
      </p:sp>
      <p:sp>
        <p:nvSpPr>
          <p:cNvPr id="18" name="Text 16"/>
          <p:cNvSpPr/>
          <p:nvPr/>
        </p:nvSpPr>
        <p:spPr>
          <a:xfrm>
            <a:off x="6711696" y="2295144"/>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Framework backend</a:t>
            </a:r>
            <a:endParaRPr lang="en-US" sz="1200" dirty="0"/>
          </a:p>
        </p:txBody>
      </p:sp>
      <p:sp>
        <p:nvSpPr>
          <p:cNvPr id="19" name="Shape 17"/>
          <p:cNvSpPr/>
          <p:nvPr/>
        </p:nvSpPr>
        <p:spPr>
          <a:xfrm>
            <a:off x="9180576" y="1874520"/>
            <a:ext cx="2487168" cy="841248"/>
          </a:xfrm>
          <a:prstGeom prst="roundRect">
            <a:avLst>
              <a:gd name="adj" fmla="val 13043"/>
            </a:avLst>
          </a:prstGeom>
          <a:solidFill>
            <a:srgbClr val="FAF8F5"/>
          </a:solidFill>
          <a:ln w="12700">
            <a:solidFill>
              <a:srgbClr val="E4DDD2"/>
            </a:solidFill>
            <a:prstDash val="solid"/>
          </a:ln>
        </p:spPr>
      </p:sp>
      <p:sp>
        <p:nvSpPr>
          <p:cNvPr id="20" name="Text 18"/>
          <p:cNvSpPr/>
          <p:nvPr/>
        </p:nvSpPr>
        <p:spPr>
          <a:xfrm>
            <a:off x="9400032" y="1984248"/>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Filament v5</a:t>
            </a:r>
            <a:endParaRPr lang="en-US" sz="1400" dirty="0"/>
          </a:p>
        </p:txBody>
      </p:sp>
      <p:sp>
        <p:nvSpPr>
          <p:cNvPr id="21" name="Text 19"/>
          <p:cNvSpPr/>
          <p:nvPr/>
        </p:nvSpPr>
        <p:spPr>
          <a:xfrm>
            <a:off x="9400032" y="2295144"/>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Panel admin</a:t>
            </a:r>
            <a:endParaRPr lang="en-US" sz="1200" dirty="0"/>
          </a:p>
        </p:txBody>
      </p:sp>
      <p:sp>
        <p:nvSpPr>
          <p:cNvPr id="22" name="Shape 20"/>
          <p:cNvSpPr/>
          <p:nvPr/>
        </p:nvSpPr>
        <p:spPr>
          <a:xfrm>
            <a:off x="6492240" y="2898648"/>
            <a:ext cx="2487168" cy="841248"/>
          </a:xfrm>
          <a:prstGeom prst="roundRect">
            <a:avLst>
              <a:gd name="adj" fmla="val 13043"/>
            </a:avLst>
          </a:prstGeom>
          <a:solidFill>
            <a:srgbClr val="FAF8F5"/>
          </a:solidFill>
          <a:ln w="12700">
            <a:solidFill>
              <a:srgbClr val="E4DDD2"/>
            </a:solidFill>
            <a:prstDash val="solid"/>
          </a:ln>
        </p:spPr>
      </p:sp>
      <p:sp>
        <p:nvSpPr>
          <p:cNvPr id="23" name="Text 21"/>
          <p:cNvSpPr/>
          <p:nvPr/>
        </p:nvSpPr>
        <p:spPr>
          <a:xfrm>
            <a:off x="6711696" y="3008376"/>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PHP 8.2</a:t>
            </a:r>
            <a:endParaRPr lang="en-US" sz="1400" dirty="0"/>
          </a:p>
        </p:txBody>
      </p:sp>
      <p:sp>
        <p:nvSpPr>
          <p:cNvPr id="24" name="Text 22"/>
          <p:cNvSpPr/>
          <p:nvPr/>
        </p:nvSpPr>
        <p:spPr>
          <a:xfrm>
            <a:off x="6711696" y="3319272"/>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Bahasa pemrograman</a:t>
            </a:r>
            <a:endParaRPr lang="en-US" sz="1200" dirty="0"/>
          </a:p>
        </p:txBody>
      </p:sp>
      <p:sp>
        <p:nvSpPr>
          <p:cNvPr id="25" name="Shape 23"/>
          <p:cNvSpPr/>
          <p:nvPr/>
        </p:nvSpPr>
        <p:spPr>
          <a:xfrm>
            <a:off x="9180576" y="2898648"/>
            <a:ext cx="2487168" cy="841248"/>
          </a:xfrm>
          <a:prstGeom prst="roundRect">
            <a:avLst>
              <a:gd name="adj" fmla="val 13043"/>
            </a:avLst>
          </a:prstGeom>
          <a:solidFill>
            <a:srgbClr val="FAF8F5"/>
          </a:solidFill>
          <a:ln w="12700">
            <a:solidFill>
              <a:srgbClr val="E4DDD2"/>
            </a:solidFill>
            <a:prstDash val="solid"/>
          </a:ln>
        </p:spPr>
      </p:sp>
      <p:sp>
        <p:nvSpPr>
          <p:cNvPr id="26" name="Text 24"/>
          <p:cNvSpPr/>
          <p:nvPr/>
        </p:nvSpPr>
        <p:spPr>
          <a:xfrm>
            <a:off x="9400032" y="3008376"/>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SQLite / MySQL</a:t>
            </a:r>
            <a:endParaRPr lang="en-US" sz="1400" dirty="0"/>
          </a:p>
        </p:txBody>
      </p:sp>
      <p:sp>
        <p:nvSpPr>
          <p:cNvPr id="27" name="Text 25"/>
          <p:cNvSpPr/>
          <p:nvPr/>
        </p:nvSpPr>
        <p:spPr>
          <a:xfrm>
            <a:off x="9400032" y="3319272"/>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Basis data</a:t>
            </a:r>
            <a:endParaRPr lang="en-US" sz="1200" dirty="0"/>
          </a:p>
        </p:txBody>
      </p:sp>
      <p:sp>
        <p:nvSpPr>
          <p:cNvPr id="28" name="Shape 26"/>
          <p:cNvSpPr/>
          <p:nvPr/>
        </p:nvSpPr>
        <p:spPr>
          <a:xfrm>
            <a:off x="6492240" y="3922776"/>
            <a:ext cx="2487168" cy="841248"/>
          </a:xfrm>
          <a:prstGeom prst="roundRect">
            <a:avLst>
              <a:gd name="adj" fmla="val 13043"/>
            </a:avLst>
          </a:prstGeom>
          <a:solidFill>
            <a:srgbClr val="FAF8F5"/>
          </a:solidFill>
          <a:ln w="12700">
            <a:solidFill>
              <a:srgbClr val="E4DDD2"/>
            </a:solidFill>
            <a:prstDash val="solid"/>
          </a:ln>
        </p:spPr>
      </p:sp>
      <p:sp>
        <p:nvSpPr>
          <p:cNvPr id="29" name="Text 27"/>
          <p:cNvSpPr/>
          <p:nvPr/>
        </p:nvSpPr>
        <p:spPr>
          <a:xfrm>
            <a:off x="6711696" y="4032504"/>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Spatie Permission</a:t>
            </a:r>
            <a:endParaRPr lang="en-US" sz="1400" dirty="0"/>
          </a:p>
        </p:txBody>
      </p:sp>
      <p:sp>
        <p:nvSpPr>
          <p:cNvPr id="30" name="Text 28"/>
          <p:cNvSpPr/>
          <p:nvPr/>
        </p:nvSpPr>
        <p:spPr>
          <a:xfrm>
            <a:off x="6711696" y="4343400"/>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Role &amp; hak akses</a:t>
            </a:r>
            <a:endParaRPr lang="en-US" sz="1200" dirty="0"/>
          </a:p>
        </p:txBody>
      </p:sp>
      <p:sp>
        <p:nvSpPr>
          <p:cNvPr id="31" name="Shape 29"/>
          <p:cNvSpPr/>
          <p:nvPr/>
        </p:nvSpPr>
        <p:spPr>
          <a:xfrm>
            <a:off x="9180576" y="3922776"/>
            <a:ext cx="2487168" cy="841248"/>
          </a:xfrm>
          <a:prstGeom prst="roundRect">
            <a:avLst>
              <a:gd name="adj" fmla="val 13043"/>
            </a:avLst>
          </a:prstGeom>
          <a:solidFill>
            <a:srgbClr val="FAF8F5"/>
          </a:solidFill>
          <a:ln w="12700">
            <a:solidFill>
              <a:srgbClr val="E4DDD2"/>
            </a:solidFill>
            <a:prstDash val="solid"/>
          </a:ln>
        </p:spPr>
      </p:sp>
      <p:sp>
        <p:nvSpPr>
          <p:cNvPr id="32" name="Text 30"/>
          <p:cNvSpPr/>
          <p:nvPr/>
        </p:nvSpPr>
        <p:spPr>
          <a:xfrm>
            <a:off x="9400032" y="4032504"/>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Spatie Media Library</a:t>
            </a:r>
            <a:endParaRPr lang="en-US" sz="1400" dirty="0"/>
          </a:p>
        </p:txBody>
      </p:sp>
      <p:sp>
        <p:nvSpPr>
          <p:cNvPr id="33" name="Text 31"/>
          <p:cNvSpPr/>
          <p:nvPr/>
        </p:nvSpPr>
        <p:spPr>
          <a:xfrm>
            <a:off x="9400032" y="4343400"/>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Manajemen file</a:t>
            </a:r>
            <a:endParaRPr lang="en-US" sz="1200" dirty="0"/>
          </a:p>
        </p:txBody>
      </p:sp>
      <p:sp>
        <p:nvSpPr>
          <p:cNvPr id="34" name="Shape 32"/>
          <p:cNvSpPr/>
          <p:nvPr/>
        </p:nvSpPr>
        <p:spPr>
          <a:xfrm>
            <a:off x="6492240" y="4946904"/>
            <a:ext cx="2487168" cy="841248"/>
          </a:xfrm>
          <a:prstGeom prst="roundRect">
            <a:avLst>
              <a:gd name="adj" fmla="val 13043"/>
            </a:avLst>
          </a:prstGeom>
          <a:solidFill>
            <a:srgbClr val="FAF8F5"/>
          </a:solidFill>
          <a:ln w="12700">
            <a:solidFill>
              <a:srgbClr val="E4DDD2"/>
            </a:solidFill>
            <a:prstDash val="solid"/>
          </a:ln>
        </p:spPr>
      </p:sp>
      <p:sp>
        <p:nvSpPr>
          <p:cNvPr id="35" name="Text 33"/>
          <p:cNvSpPr/>
          <p:nvPr/>
        </p:nvSpPr>
        <p:spPr>
          <a:xfrm>
            <a:off x="6711696" y="5056632"/>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Maatwebsite Excel</a:t>
            </a:r>
            <a:endParaRPr lang="en-US" sz="1400" dirty="0"/>
          </a:p>
        </p:txBody>
      </p:sp>
      <p:sp>
        <p:nvSpPr>
          <p:cNvPr id="36" name="Text 34"/>
          <p:cNvSpPr/>
          <p:nvPr/>
        </p:nvSpPr>
        <p:spPr>
          <a:xfrm>
            <a:off x="6711696" y="5367528"/>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Ekspor laporan</a:t>
            </a:r>
            <a:endParaRPr lang="en-US" sz="1200" dirty="0"/>
          </a:p>
        </p:txBody>
      </p:sp>
      <p:sp>
        <p:nvSpPr>
          <p:cNvPr id="37" name="Shape 35"/>
          <p:cNvSpPr/>
          <p:nvPr/>
        </p:nvSpPr>
        <p:spPr>
          <a:xfrm>
            <a:off x="9180576" y="4946904"/>
            <a:ext cx="2487168" cy="841248"/>
          </a:xfrm>
          <a:prstGeom prst="roundRect">
            <a:avLst>
              <a:gd name="adj" fmla="val 13043"/>
            </a:avLst>
          </a:prstGeom>
          <a:solidFill>
            <a:srgbClr val="FAF8F5"/>
          </a:solidFill>
          <a:ln w="12700">
            <a:solidFill>
              <a:srgbClr val="E4DDD2"/>
            </a:solidFill>
            <a:prstDash val="solid"/>
          </a:ln>
        </p:spPr>
      </p:sp>
      <p:sp>
        <p:nvSpPr>
          <p:cNvPr id="38" name="Text 36"/>
          <p:cNvSpPr/>
          <p:nvPr/>
        </p:nvSpPr>
        <p:spPr>
          <a:xfrm>
            <a:off x="9400032" y="5056632"/>
            <a:ext cx="2103120" cy="292608"/>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Chart.js</a:t>
            </a:r>
            <a:endParaRPr lang="en-US" sz="1400" dirty="0"/>
          </a:p>
        </p:txBody>
      </p:sp>
      <p:sp>
        <p:nvSpPr>
          <p:cNvPr id="39" name="Text 37"/>
          <p:cNvSpPr/>
          <p:nvPr/>
        </p:nvSpPr>
        <p:spPr>
          <a:xfrm>
            <a:off x="9400032" y="5367528"/>
            <a:ext cx="2103120" cy="274320"/>
          </a:xfrm>
          <a:prstGeom prst="rect">
            <a:avLst/>
          </a:prstGeom>
          <a:noFill/>
          <a:ln/>
        </p:spPr>
        <p:txBody>
          <a:bodyPr wrap="square" lIns="0" tIns="0" rIns="0" bIns="0" rtlCol="0" anchor="ctr"/>
          <a:lstStyle/>
          <a:p>
            <a:pPr indent="0" marL="0">
              <a:buNone/>
            </a:pPr>
            <a:r>
              <a:rPr lang="en-US" sz="1200" dirty="0">
                <a:solidFill>
                  <a:srgbClr val="6B6660"/>
                </a:solidFill>
                <a:latin typeface="Calibri" pitchFamily="34" charset="0"/>
                <a:ea typeface="Calibri" pitchFamily="34" charset="-122"/>
                <a:cs typeface="Calibri" pitchFamily="34" charset="-120"/>
              </a:rPr>
              <a:t>Grafik dasbor</a:t>
            </a:r>
            <a:endParaRPr lang="en-US" sz="1200" dirty="0"/>
          </a:p>
        </p:txBody>
      </p:sp>
      <p:sp>
        <p:nvSpPr>
          <p:cNvPr id="40" name="Text 38"/>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Struktur Menu Panel Admin</a:t>
            </a:r>
            <a:endParaRPr lang="en-US" sz="3000" dirty="0"/>
          </a:p>
        </p:txBody>
      </p:sp>
      <p:sp>
        <p:nvSpPr>
          <p:cNvPr id="4" name="Text 2"/>
          <p:cNvSpPr/>
          <p:nvPr/>
        </p:nvSpPr>
        <p:spPr>
          <a:xfrm>
            <a:off x="640080" y="1371600"/>
            <a:ext cx="9509760" cy="548640"/>
          </a:xfrm>
          <a:prstGeom prst="rect">
            <a:avLst/>
          </a:prstGeom>
          <a:noFill/>
          <a:ln/>
        </p:spPr>
        <p:txBody>
          <a:bodyPr wrap="square" lIns="0" tIns="0" rIns="0" bIns="0" rtlCol="0" anchor="ctr"/>
          <a:lstStyle/>
          <a:p>
            <a:pPr indent="0" marL="0">
              <a:lnSpc>
                <a:spcPts val="2100"/>
              </a:lnSpc>
              <a:buNone/>
            </a:pPr>
            <a:r>
              <a:rPr lang="en-US" sz="1400" dirty="0">
                <a:solidFill>
                  <a:srgbClr val="6B6660"/>
                </a:solidFill>
                <a:latin typeface="Calibri" pitchFamily="34" charset="0"/>
                <a:ea typeface="Calibri" pitchFamily="34" charset="-122"/>
                <a:cs typeface="Calibri" pitchFamily="34" charset="-120"/>
              </a:rPr>
              <a:t>Panel memakai navigasi atas (top navigation) tanpa sidebar, sehingga area kerja lebih lega. Seluruh modul dikelompokkan ke dalam tujuh grup menu berikut.</a:t>
            </a:r>
            <a:endParaRPr lang="en-US" sz="1400" dirty="0"/>
          </a:p>
        </p:txBody>
      </p:sp>
      <p:pic>
        <p:nvPicPr>
          <p:cNvPr id="5" name="Image 0" descr="/root/deck/assets/modules.png">    </p:cNvPr>
          <p:cNvPicPr>
            <a:picLocks noChangeAspect="1"/>
          </p:cNvPicPr>
          <p:nvPr/>
        </p:nvPicPr>
        <p:blipFill>
          <a:blip r:embed="rId1"/>
          <a:stretch>
            <a:fillRect/>
          </a:stretch>
        </p:blipFill>
        <p:spPr>
          <a:xfrm>
            <a:off x="640080" y="2084832"/>
            <a:ext cx="10908792" cy="2018995"/>
          </a:xfrm>
          <a:prstGeom prst="rect">
            <a:avLst/>
          </a:prstGeom>
        </p:spPr>
      </p:pic>
      <p:sp>
        <p:nvSpPr>
          <p:cNvPr id="6" name="Text 3"/>
          <p:cNvSpPr/>
          <p:nvPr/>
        </p:nvSpPr>
        <p:spPr>
          <a:xfrm>
            <a:off x="640080" y="4434840"/>
            <a:ext cx="10881360" cy="329184"/>
          </a:xfrm>
          <a:prstGeom prst="rect">
            <a:avLst/>
          </a:prstGeom>
          <a:noFill/>
          <a:ln/>
        </p:spPr>
        <p:txBody>
          <a:bodyPr wrap="square" lIns="0" tIns="0" rIns="0" bIns="0" rtlCol="0" anchor="ctr"/>
          <a:lstStyle/>
          <a:p>
            <a:pPr indent="0" marL="0">
              <a:lnSpc>
                <a:spcPts val="2000"/>
              </a:lnSpc>
              <a:buNone/>
            </a:pPr>
            <a:r>
              <a:rPr lang="en-US" sz="1300" dirty="0">
                <a:solidFill>
                  <a:srgbClr val="6B6660"/>
                </a:solidFill>
                <a:latin typeface="Calibri" pitchFamily="34" charset="0"/>
                <a:ea typeface="Calibri" pitchFamily="34" charset="-122"/>
                <a:cs typeface="Calibri" pitchFamily="34" charset="-120"/>
              </a:rPr>
              <a:t>Warna panel mengikuti identitas BrightDor: hitam pekat, aksen emas lembut, dan latar krem. Pencarian global tersedia lewat pintasan Ctrl + K.</a:t>
            </a:r>
            <a:endParaRPr lang="en-US" sz="1300" dirty="0"/>
          </a:p>
        </p:txBody>
      </p:sp>
      <p:pic>
        <p:nvPicPr>
          <p:cNvPr id="7" name="Image 1" descr="/root/deck/assets/shots/01_after_login.png">    </p:cNvPr>
          <p:cNvPicPr>
            <a:picLocks noChangeAspect="1"/>
          </p:cNvPicPr>
          <p:nvPr/>
        </p:nvPicPr>
        <p:blipFill>
          <a:blip r:embed="rId2"/>
          <a:stretch>
            <a:fillRect/>
          </a:stretch>
        </p:blipFill>
        <p:spPr>
          <a:xfrm>
            <a:off x="822960" y="4937760"/>
            <a:ext cx="2414016" cy="1508760"/>
          </a:xfrm>
          <a:prstGeom prst="rect">
            <a:avLst/>
          </a:prstGeom>
          <a:effectLst>
            <a:outerShdw sx="100000" sy="100000" kx="0" ky="0" algn="bl" rotWithShape="0" blurRad="152400" dist="38100" dir="5400000">
              <a:srgbClr val="8A8078">
                <a:alpha val="28000"/>
              </a:srgbClr>
            </a:outerShdw>
          </a:effectLst>
        </p:spPr>
      </p:pic>
      <p:pic>
        <p:nvPicPr>
          <p:cNvPr id="8" name="Image 2" descr="/root/deck/assets/shots/settings.png">    </p:cNvPr>
          <p:cNvPicPr>
            <a:picLocks noChangeAspect="1"/>
          </p:cNvPicPr>
          <p:nvPr/>
        </p:nvPicPr>
        <p:blipFill>
          <a:blip r:embed="rId3"/>
          <a:stretch>
            <a:fillRect/>
          </a:stretch>
        </p:blipFill>
        <p:spPr>
          <a:xfrm>
            <a:off x="3529584" y="4937760"/>
            <a:ext cx="2414016" cy="1508760"/>
          </a:xfrm>
          <a:prstGeom prst="rect">
            <a:avLst/>
          </a:prstGeom>
          <a:effectLst>
            <a:outerShdw sx="100000" sy="100000" kx="0" ky="0" algn="bl" rotWithShape="0" blurRad="152400" dist="38100" dir="5400000">
              <a:srgbClr val="8A8078">
                <a:alpha val="28000"/>
              </a:srgbClr>
            </a:outerShdw>
          </a:effectLst>
        </p:spPr>
      </p:pic>
      <p:pic>
        <p:nvPicPr>
          <p:cNvPr id="9" name="Image 3" descr="/root/deck/assets/shots/commission-settings.png">    </p:cNvPr>
          <p:cNvPicPr>
            <a:picLocks noChangeAspect="1"/>
          </p:cNvPicPr>
          <p:nvPr/>
        </p:nvPicPr>
        <p:blipFill>
          <a:blip r:embed="rId4"/>
          <a:stretch>
            <a:fillRect/>
          </a:stretch>
        </p:blipFill>
        <p:spPr>
          <a:xfrm>
            <a:off x="6236208" y="4937760"/>
            <a:ext cx="2414016" cy="1508760"/>
          </a:xfrm>
          <a:prstGeom prst="rect">
            <a:avLst/>
          </a:prstGeom>
          <a:effectLst>
            <a:outerShdw sx="100000" sy="100000" kx="0" ky="0" algn="bl" rotWithShape="0" blurRad="152400" dist="38100" dir="5400000">
              <a:srgbClr val="8A8078">
                <a:alpha val="28000"/>
              </a:srgbClr>
            </a:outerShdw>
          </a:effectLst>
        </p:spPr>
      </p:pic>
      <p:pic>
        <p:nvPicPr>
          <p:cNvPr id="10" name="Image 4" descr="/root/deck/assets/shots/faqs.png">    </p:cNvPr>
          <p:cNvPicPr>
            <a:picLocks noChangeAspect="1"/>
          </p:cNvPicPr>
          <p:nvPr/>
        </p:nvPicPr>
        <p:blipFill>
          <a:blip r:embed="rId5"/>
          <a:stretch>
            <a:fillRect/>
          </a:stretch>
        </p:blipFill>
        <p:spPr>
          <a:xfrm>
            <a:off x="8942832" y="4937760"/>
            <a:ext cx="2414016" cy="1508760"/>
          </a:xfrm>
          <a:prstGeom prst="rect">
            <a:avLst/>
          </a:prstGeom>
          <a:effectLst>
            <a:outerShdw sx="100000" sy="100000" kx="0" ky="0" algn="bl" rotWithShape="0" blurRad="152400" dist="38100" dir="5400000">
              <a:srgbClr val="8A8078">
                <a:alpha val="28000"/>
              </a:srgbClr>
            </a:outerShdw>
          </a:effectLst>
        </p:spPr>
      </p:pic>
      <p:sp>
        <p:nvSpPr>
          <p:cNvPr id="11" name="Text 4"/>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Halaman Login</a:t>
            </a:r>
            <a:endParaRPr lang="en-US" sz="3000" dirty="0"/>
          </a:p>
        </p:txBody>
      </p:sp>
      <p:sp>
        <p:nvSpPr>
          <p:cNvPr id="4" name="Text 2"/>
          <p:cNvSpPr/>
          <p:nvPr/>
        </p:nvSpPr>
        <p:spPr>
          <a:xfrm>
            <a:off x="640080" y="1600200"/>
            <a:ext cx="4206240" cy="237744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400" dirty="0">
                <a:solidFill>
                  <a:srgbClr val="3D3934"/>
                </a:solidFill>
                <a:latin typeface="Calibri" pitchFamily="34" charset="0"/>
                <a:ea typeface="Calibri" pitchFamily="34" charset="-122"/>
                <a:cs typeface="Calibri" pitchFamily="34" charset="-120"/>
              </a:rPr>
              <a:t>Satu pintu masuk untuk seluruh pengelola di alamat /admin. Halaman lain tidak bisa dibuka sebelum berhasil masuk.</a:t>
            </a:r>
            <a:endParaRPr lang="en-US" sz="1400" dirty="0"/>
          </a:p>
          <a:p>
            <a:pPr marL="342900" indent="-342900">
              <a:lnSpc>
                <a:spcPts val="2100"/>
              </a:lnSpc>
              <a:spcAft>
                <a:spcPts val="1000"/>
              </a:spcAft>
              <a:buSzPct val="100000"/>
              <a:buChar char="•"/>
            </a:pPr>
            <a:r>
              <a:rPr lang="en-US" sz="1400" dirty="0">
                <a:solidFill>
                  <a:srgbClr val="3D3934"/>
                </a:solidFill>
                <a:latin typeface="Calibri" pitchFamily="34" charset="0"/>
                <a:ea typeface="Calibri" pitchFamily="34" charset="-122"/>
                <a:cs typeface="Calibri" pitchFamily="34" charset="-120"/>
              </a:rPr>
              <a:t>Autentikasi bawaan Filament: email, kata sandi, dan opsi ingat saya.</a:t>
            </a:r>
            <a:endParaRPr lang="en-US" sz="1400" dirty="0"/>
          </a:p>
          <a:p>
            <a:pPr marL="342900" indent="-342900">
              <a:lnSpc>
                <a:spcPts val="2100"/>
              </a:lnSpc>
              <a:spcAft>
                <a:spcPts val="1000"/>
              </a:spcAft>
              <a:buSzPct val="100000"/>
              <a:buChar char="•"/>
            </a:pPr>
            <a:r>
              <a:rPr lang="en-US" sz="1400" dirty="0">
                <a:solidFill>
                  <a:srgbClr val="3D3934"/>
                </a:solidFill>
                <a:latin typeface="Calibri" pitchFamily="34" charset="0"/>
                <a:ea typeface="Calibri" pitchFamily="34" charset="-122"/>
                <a:cs typeface="Calibri" pitchFamily="34" charset="-120"/>
              </a:rPr>
              <a:t>Percobaan masuk yang gagal dibatasi otomatis untuk mencegah brute force.</a:t>
            </a:r>
            <a:endParaRPr lang="en-US" sz="1400" dirty="0"/>
          </a:p>
          <a:p>
            <a:pPr marL="342900" indent="-342900">
              <a:lnSpc>
                <a:spcPts val="2100"/>
              </a:lnSpc>
              <a:spcAft>
                <a:spcPts val="1000"/>
              </a:spcAft>
              <a:buSzPct val="100000"/>
              <a:buChar char="•"/>
            </a:pPr>
            <a:r>
              <a:rPr lang="en-US" sz="1400" dirty="0">
                <a:solidFill>
                  <a:srgbClr val="3D3934"/>
                </a:solidFill>
                <a:latin typeface="Calibri" pitchFamily="34" charset="0"/>
                <a:ea typeface="Calibri" pitchFamily="34" charset="-122"/>
                <a:cs typeface="Calibri" pitchFamily="34" charset="-120"/>
              </a:rPr>
              <a:t>Kolom last_login_at pada tabel users diperbarui setiap kali admin masuk.</a:t>
            </a:r>
            <a:endParaRPr lang="en-US" sz="1400" dirty="0"/>
          </a:p>
        </p:txBody>
      </p:sp>
      <p:sp>
        <p:nvSpPr>
          <p:cNvPr id="5" name="Shape 3"/>
          <p:cNvSpPr/>
          <p:nvPr/>
        </p:nvSpPr>
        <p:spPr>
          <a:xfrm>
            <a:off x="640080" y="4526280"/>
            <a:ext cx="4206240" cy="1234440"/>
          </a:xfrm>
          <a:prstGeom prst="roundRect">
            <a:avLst>
              <a:gd name="adj" fmla="val 8889"/>
            </a:avLst>
          </a:prstGeom>
          <a:solidFill>
            <a:srgbClr val="FAF8F5"/>
          </a:solidFill>
          <a:ln w="12700">
            <a:solidFill>
              <a:srgbClr val="E4DDD2"/>
            </a:solidFill>
            <a:prstDash val="solid"/>
          </a:ln>
        </p:spPr>
      </p:sp>
      <p:sp>
        <p:nvSpPr>
          <p:cNvPr id="6" name="Text 4"/>
          <p:cNvSpPr/>
          <p:nvPr/>
        </p:nvSpPr>
        <p:spPr>
          <a:xfrm>
            <a:off x="896112" y="4681728"/>
            <a:ext cx="3657600" cy="237744"/>
          </a:xfrm>
          <a:prstGeom prst="rect">
            <a:avLst/>
          </a:prstGeom>
          <a:noFill/>
          <a:ln/>
        </p:spPr>
        <p:txBody>
          <a:bodyPr wrap="square" lIns="0" tIns="0" rIns="0" bIns="0" rtlCol="0" anchor="ctr"/>
          <a:lstStyle/>
          <a:p>
            <a:pPr indent="0" marL="0">
              <a:buNone/>
            </a:pPr>
            <a:r>
              <a:rPr lang="en-US" sz="1000" b="1" spc="160" kern="0" dirty="0">
                <a:solidFill>
                  <a:srgbClr val="8F7439"/>
                </a:solidFill>
                <a:latin typeface="Calibri" pitchFamily="34" charset="0"/>
                <a:ea typeface="Calibri" pitchFamily="34" charset="-122"/>
                <a:cs typeface="Calibri" pitchFamily="34" charset="-120"/>
              </a:rPr>
              <a:t>AKUN UJI COBA</a:t>
            </a:r>
            <a:endParaRPr lang="en-US" sz="1000" dirty="0"/>
          </a:p>
        </p:txBody>
      </p:sp>
      <p:sp>
        <p:nvSpPr>
          <p:cNvPr id="7" name="Text 5"/>
          <p:cNvSpPr/>
          <p:nvPr/>
        </p:nvSpPr>
        <p:spPr>
          <a:xfrm>
            <a:off x="896112" y="4956048"/>
            <a:ext cx="3657600" cy="27432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admin@brightdor.test</a:t>
            </a:r>
            <a:endParaRPr lang="en-US" sz="1400" dirty="0"/>
          </a:p>
        </p:txBody>
      </p:sp>
      <p:sp>
        <p:nvSpPr>
          <p:cNvPr id="8" name="Text 6"/>
          <p:cNvSpPr/>
          <p:nvPr/>
        </p:nvSpPr>
        <p:spPr>
          <a:xfrm>
            <a:off x="896112" y="5230368"/>
            <a:ext cx="3657600" cy="274320"/>
          </a:xfrm>
          <a:prstGeom prst="rect">
            <a:avLst/>
          </a:prstGeom>
          <a:noFill/>
          <a:ln/>
        </p:spPr>
        <p:txBody>
          <a:bodyPr wrap="square" lIns="0" tIns="0" rIns="0" bIns="0" rtlCol="0" anchor="ctr"/>
          <a:lstStyle/>
          <a:p>
            <a:pPr indent="0" marL="0">
              <a:buNone/>
            </a:pPr>
            <a:r>
              <a:rPr lang="en-US" sz="1300" dirty="0">
                <a:solidFill>
                  <a:srgbClr val="6B6660"/>
                </a:solidFill>
                <a:latin typeface="Calibri" pitchFamily="34" charset="0"/>
                <a:ea typeface="Calibri" pitchFamily="34" charset="-122"/>
                <a:cs typeface="Calibri" pitchFamily="34" charset="-120"/>
              </a:rPr>
              <a:t>Kata sandi: password</a:t>
            </a:r>
            <a:endParaRPr lang="en-US" sz="1300" dirty="0"/>
          </a:p>
        </p:txBody>
      </p:sp>
      <p:pic>
        <p:nvPicPr>
          <p:cNvPr id="9" name="Image 0" descr="/root/deck/assets/shots/00_login.png">    </p:cNvPr>
          <p:cNvPicPr>
            <a:picLocks noChangeAspect="1"/>
          </p:cNvPicPr>
          <p:nvPr/>
        </p:nvPicPr>
        <p:blipFill>
          <a:blip r:embed="rId1"/>
          <a:stretch>
            <a:fillRect/>
          </a:stretch>
        </p:blipFill>
        <p:spPr>
          <a:xfrm>
            <a:off x="5257800" y="1600200"/>
            <a:ext cx="6309360" cy="3943350"/>
          </a:xfrm>
          <a:prstGeom prst="rect">
            <a:avLst/>
          </a:prstGeom>
          <a:effectLst>
            <a:outerShdw sx="100000" sy="100000" kx="0" ky="0" algn="bl" rotWithShape="0" blurRad="152400" dist="38100" dir="5400000">
              <a:srgbClr val="8A8078">
                <a:alpha val="28000"/>
              </a:srgbClr>
            </a:outerShdw>
          </a:effectLst>
        </p:spPr>
      </p:pic>
      <p:sp>
        <p:nvSpPr>
          <p:cNvPr id="10" name="Text 7"/>
          <p:cNvSpPr/>
          <p:nvPr/>
        </p:nvSpPr>
        <p:spPr>
          <a:xfrm>
            <a:off x="5257800" y="5669280"/>
            <a:ext cx="6309360" cy="274320"/>
          </a:xfrm>
          <a:prstGeom prst="rect">
            <a:avLst/>
          </a:prstGeom>
          <a:noFill/>
          <a:ln/>
        </p:spPr>
        <p:txBody>
          <a:bodyPr wrap="square" lIns="0" tIns="0" rIns="0" bIns="0" rtlCol="0" anchor="ctr"/>
          <a:lstStyle/>
          <a:p>
            <a:pPr indent="0" marL="0">
              <a:buNone/>
            </a:pPr>
            <a:r>
              <a:rPr lang="en-US" sz="1100" i="1" dirty="0">
                <a:solidFill>
                  <a:srgbClr val="8E8880"/>
                </a:solidFill>
                <a:latin typeface="Calibri" pitchFamily="34" charset="0"/>
                <a:ea typeface="Calibri" pitchFamily="34" charset="-122"/>
                <a:cs typeface="Calibri" pitchFamily="34" charset="-120"/>
              </a:rPr>
              <a:t>Halaman login panel admin BrightDor</a:t>
            </a:r>
            <a:endParaRPr lang="en-US" sz="1100" dirty="0"/>
          </a:p>
        </p:txBody>
      </p:sp>
      <p:sp>
        <p:nvSpPr>
          <p:cNvPr id="11" name="Text 8"/>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Dasbor Utama</a:t>
            </a:r>
            <a:endParaRPr lang="en-US" sz="3000" dirty="0"/>
          </a:p>
        </p:txBody>
      </p:sp>
      <p:sp>
        <p:nvSpPr>
          <p:cNvPr id="4" name="Shape 2"/>
          <p:cNvSpPr/>
          <p:nvPr/>
        </p:nvSpPr>
        <p:spPr>
          <a:xfrm>
            <a:off x="640080" y="1627632"/>
            <a:ext cx="274320" cy="274320"/>
          </a:xfrm>
          <a:prstGeom prst="ellipse">
            <a:avLst/>
          </a:prstGeom>
          <a:solidFill>
            <a:srgbClr val="141414"/>
          </a:solidFill>
          <a:ln/>
        </p:spPr>
      </p:sp>
      <p:sp>
        <p:nvSpPr>
          <p:cNvPr id="5" name="Text 3"/>
          <p:cNvSpPr/>
          <p:nvPr/>
        </p:nvSpPr>
        <p:spPr>
          <a:xfrm>
            <a:off x="640080" y="1627632"/>
            <a:ext cx="274320" cy="274320"/>
          </a:xfrm>
          <a:prstGeom prst="rect">
            <a:avLst/>
          </a:prstGeom>
          <a:noFill/>
          <a:ln/>
        </p:spPr>
        <p:txBody>
          <a:bodyPr wrap="square" lIns="0" tIns="0" rIns="0" bIns="0" rtlCol="0" anchor="ctr"/>
          <a:lstStyle/>
          <a:p>
            <a:pPr algn="ctr" indent="0" marL="0">
              <a:buNone/>
            </a:pPr>
            <a:r>
              <a:rPr lang="en-US" sz="1100" b="1" dirty="0">
                <a:solidFill>
                  <a:srgbClr val="C4A574"/>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060704" y="1572768"/>
            <a:ext cx="3566160" cy="292608"/>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Kartu statistik</a:t>
            </a:r>
            <a:endParaRPr lang="en-US" sz="1500" dirty="0"/>
          </a:p>
        </p:txBody>
      </p:sp>
      <p:sp>
        <p:nvSpPr>
          <p:cNvPr id="7" name="Text 5"/>
          <p:cNvSpPr/>
          <p:nvPr/>
        </p:nvSpPr>
        <p:spPr>
          <a:xfrm>
            <a:off x="1060704" y="1883664"/>
            <a:ext cx="3566160"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Total vendor, pemesanan, pendapatan, couple, dan undangan digital aktif.</a:t>
            </a:r>
            <a:endParaRPr lang="en-US" sz="1300" dirty="0"/>
          </a:p>
        </p:txBody>
      </p:sp>
      <p:sp>
        <p:nvSpPr>
          <p:cNvPr id="8" name="Shape 6"/>
          <p:cNvSpPr/>
          <p:nvPr/>
        </p:nvSpPr>
        <p:spPr>
          <a:xfrm>
            <a:off x="640080" y="2560320"/>
            <a:ext cx="274320" cy="274320"/>
          </a:xfrm>
          <a:prstGeom prst="ellipse">
            <a:avLst/>
          </a:prstGeom>
          <a:solidFill>
            <a:srgbClr val="141414"/>
          </a:solidFill>
          <a:ln/>
        </p:spPr>
      </p:sp>
      <p:sp>
        <p:nvSpPr>
          <p:cNvPr id="9" name="Text 7"/>
          <p:cNvSpPr/>
          <p:nvPr/>
        </p:nvSpPr>
        <p:spPr>
          <a:xfrm>
            <a:off x="640080" y="2560320"/>
            <a:ext cx="274320" cy="274320"/>
          </a:xfrm>
          <a:prstGeom prst="rect">
            <a:avLst/>
          </a:prstGeom>
          <a:noFill/>
          <a:ln/>
        </p:spPr>
        <p:txBody>
          <a:bodyPr wrap="square" lIns="0" tIns="0" rIns="0" bIns="0" rtlCol="0" anchor="ctr"/>
          <a:lstStyle/>
          <a:p>
            <a:pPr algn="ctr" indent="0" marL="0">
              <a:buNone/>
            </a:pPr>
            <a:r>
              <a:rPr lang="en-US" sz="1100" b="1" dirty="0">
                <a:solidFill>
                  <a:srgbClr val="C4A574"/>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060704" y="2505456"/>
            <a:ext cx="3566160" cy="292608"/>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Grafik pendapatan</a:t>
            </a:r>
            <a:endParaRPr lang="en-US" sz="1500" dirty="0"/>
          </a:p>
        </p:txBody>
      </p:sp>
      <p:sp>
        <p:nvSpPr>
          <p:cNvPr id="11" name="Text 9"/>
          <p:cNvSpPr/>
          <p:nvPr/>
        </p:nvSpPr>
        <p:spPr>
          <a:xfrm>
            <a:off x="1060704" y="2816352"/>
            <a:ext cx="3566160"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Tren transaksi berhasil selama enam bulan terakhir.</a:t>
            </a:r>
            <a:endParaRPr lang="en-US" sz="1300" dirty="0"/>
          </a:p>
        </p:txBody>
      </p:sp>
      <p:sp>
        <p:nvSpPr>
          <p:cNvPr id="12" name="Shape 10"/>
          <p:cNvSpPr/>
          <p:nvPr/>
        </p:nvSpPr>
        <p:spPr>
          <a:xfrm>
            <a:off x="640080" y="3493008"/>
            <a:ext cx="274320" cy="274320"/>
          </a:xfrm>
          <a:prstGeom prst="ellipse">
            <a:avLst/>
          </a:prstGeom>
          <a:solidFill>
            <a:srgbClr val="141414"/>
          </a:solidFill>
          <a:ln/>
        </p:spPr>
      </p:sp>
      <p:sp>
        <p:nvSpPr>
          <p:cNvPr id="13" name="Text 11"/>
          <p:cNvSpPr/>
          <p:nvPr/>
        </p:nvSpPr>
        <p:spPr>
          <a:xfrm>
            <a:off x="640080" y="3493008"/>
            <a:ext cx="274320" cy="274320"/>
          </a:xfrm>
          <a:prstGeom prst="rect">
            <a:avLst/>
          </a:prstGeom>
          <a:noFill/>
          <a:ln/>
        </p:spPr>
        <p:txBody>
          <a:bodyPr wrap="square" lIns="0" tIns="0" rIns="0" bIns="0" rtlCol="0" anchor="ctr"/>
          <a:lstStyle/>
          <a:p>
            <a:pPr algn="ctr" indent="0" marL="0">
              <a:buNone/>
            </a:pPr>
            <a:r>
              <a:rPr lang="en-US" sz="1100" b="1" dirty="0">
                <a:solidFill>
                  <a:srgbClr val="C4A574"/>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1060704" y="3438144"/>
            <a:ext cx="3566160" cy="292608"/>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Pesanan per kategori</a:t>
            </a:r>
            <a:endParaRPr lang="en-US" sz="1500" dirty="0"/>
          </a:p>
        </p:txBody>
      </p:sp>
      <p:sp>
        <p:nvSpPr>
          <p:cNvPr id="15" name="Text 13"/>
          <p:cNvSpPr/>
          <p:nvPr/>
        </p:nvSpPr>
        <p:spPr>
          <a:xfrm>
            <a:off x="1060704" y="3749040"/>
            <a:ext cx="3566160"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Donat sebaran permintaan jasa di sembilan kategori vendor.</a:t>
            </a:r>
            <a:endParaRPr lang="en-US" sz="1300" dirty="0"/>
          </a:p>
        </p:txBody>
      </p:sp>
      <p:sp>
        <p:nvSpPr>
          <p:cNvPr id="16" name="Shape 14"/>
          <p:cNvSpPr/>
          <p:nvPr/>
        </p:nvSpPr>
        <p:spPr>
          <a:xfrm>
            <a:off x="640080" y="4425696"/>
            <a:ext cx="274320" cy="274320"/>
          </a:xfrm>
          <a:prstGeom prst="ellipse">
            <a:avLst/>
          </a:prstGeom>
          <a:solidFill>
            <a:srgbClr val="141414"/>
          </a:solidFill>
          <a:ln/>
        </p:spPr>
      </p:sp>
      <p:sp>
        <p:nvSpPr>
          <p:cNvPr id="17" name="Text 15"/>
          <p:cNvSpPr/>
          <p:nvPr/>
        </p:nvSpPr>
        <p:spPr>
          <a:xfrm>
            <a:off x="640080" y="4425696"/>
            <a:ext cx="274320" cy="274320"/>
          </a:xfrm>
          <a:prstGeom prst="rect">
            <a:avLst/>
          </a:prstGeom>
          <a:noFill/>
          <a:ln/>
        </p:spPr>
        <p:txBody>
          <a:bodyPr wrap="square" lIns="0" tIns="0" rIns="0" bIns="0" rtlCol="0" anchor="ctr"/>
          <a:lstStyle/>
          <a:p>
            <a:pPr algn="ctr" indent="0" marL="0">
              <a:buNone/>
            </a:pPr>
            <a:r>
              <a:rPr lang="en-US" sz="1100" b="1" dirty="0">
                <a:solidFill>
                  <a:srgbClr val="C4A574"/>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1060704" y="4370832"/>
            <a:ext cx="3566160" cy="292608"/>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Aksi cepat</a:t>
            </a:r>
            <a:endParaRPr lang="en-US" sz="1500" dirty="0"/>
          </a:p>
        </p:txBody>
      </p:sp>
      <p:sp>
        <p:nvSpPr>
          <p:cNvPr id="19" name="Text 17"/>
          <p:cNvSpPr/>
          <p:nvPr/>
        </p:nvSpPr>
        <p:spPr>
          <a:xfrm>
            <a:off x="1060704" y="4681728"/>
            <a:ext cx="3566160"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Pintasan ke tugas penting: tinjau vendor, kelola pesanan, pencairan.</a:t>
            </a:r>
            <a:endParaRPr lang="en-US" sz="1300" dirty="0"/>
          </a:p>
        </p:txBody>
      </p:sp>
      <p:sp>
        <p:nvSpPr>
          <p:cNvPr id="20" name="Shape 18"/>
          <p:cNvSpPr/>
          <p:nvPr/>
        </p:nvSpPr>
        <p:spPr>
          <a:xfrm>
            <a:off x="640080" y="5358384"/>
            <a:ext cx="274320" cy="274320"/>
          </a:xfrm>
          <a:prstGeom prst="ellipse">
            <a:avLst/>
          </a:prstGeom>
          <a:solidFill>
            <a:srgbClr val="141414"/>
          </a:solidFill>
          <a:ln/>
        </p:spPr>
      </p:sp>
      <p:sp>
        <p:nvSpPr>
          <p:cNvPr id="21" name="Text 19"/>
          <p:cNvSpPr/>
          <p:nvPr/>
        </p:nvSpPr>
        <p:spPr>
          <a:xfrm>
            <a:off x="640080" y="5358384"/>
            <a:ext cx="274320" cy="274320"/>
          </a:xfrm>
          <a:prstGeom prst="rect">
            <a:avLst/>
          </a:prstGeom>
          <a:noFill/>
          <a:ln/>
        </p:spPr>
        <p:txBody>
          <a:bodyPr wrap="square" lIns="0" tIns="0" rIns="0" bIns="0" rtlCol="0" anchor="ctr"/>
          <a:lstStyle/>
          <a:p>
            <a:pPr algn="ctr" indent="0" marL="0">
              <a:buNone/>
            </a:pPr>
            <a:r>
              <a:rPr lang="en-US" sz="1100" b="1" dirty="0">
                <a:solidFill>
                  <a:srgbClr val="C4A574"/>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1060704" y="5303520"/>
            <a:ext cx="3566160" cy="292608"/>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Aktivitas terbaru</a:t>
            </a:r>
            <a:endParaRPr lang="en-US" sz="1500" dirty="0"/>
          </a:p>
        </p:txBody>
      </p:sp>
      <p:sp>
        <p:nvSpPr>
          <p:cNvPr id="23" name="Text 21"/>
          <p:cNvSpPr/>
          <p:nvPr/>
        </p:nvSpPr>
        <p:spPr>
          <a:xfrm>
            <a:off x="1060704" y="5614416"/>
            <a:ext cx="3566160" cy="548640"/>
          </a:xfrm>
          <a:prstGeom prst="rect">
            <a:avLst/>
          </a:prstGeom>
          <a:noFill/>
          <a:ln/>
        </p:spPr>
        <p:txBody>
          <a:bodyPr wrap="square" lIns="0" tIns="0" rIns="0" bIns="0" rtlCol="0" anchor="t"/>
          <a:lstStyle/>
          <a:p>
            <a:pPr indent="0" marL="0">
              <a:lnSpc>
                <a:spcPts val="1800"/>
              </a:lnSpc>
              <a:buNone/>
            </a:pPr>
            <a:r>
              <a:rPr lang="en-US" sz="1300" dirty="0">
                <a:solidFill>
                  <a:srgbClr val="6B6660"/>
                </a:solidFill>
                <a:latin typeface="Calibri" pitchFamily="34" charset="0"/>
                <a:ea typeface="Calibri" pitchFamily="34" charset="-122"/>
                <a:cs typeface="Calibri" pitchFamily="34" charset="-120"/>
              </a:rPr>
              <a:t>Vendor menunggu persetujuan dan pemesanan terbaru beserta statusnya.</a:t>
            </a:r>
            <a:endParaRPr lang="en-US" sz="1300" dirty="0"/>
          </a:p>
        </p:txBody>
      </p:sp>
      <p:pic>
        <p:nvPicPr>
          <p:cNvPr id="24" name="Image 0" descr="/root/deck/assets/shots/dashboard.png">    </p:cNvPr>
          <p:cNvPicPr>
            <a:picLocks noChangeAspect="1"/>
          </p:cNvPicPr>
          <p:nvPr/>
        </p:nvPicPr>
        <p:blipFill>
          <a:blip r:embed="rId1"/>
          <a:stretch>
            <a:fillRect/>
          </a:stretch>
        </p:blipFill>
        <p:spPr>
          <a:xfrm>
            <a:off x="5029200" y="1572768"/>
            <a:ext cx="6537960" cy="4086454"/>
          </a:xfrm>
          <a:prstGeom prst="rect">
            <a:avLst/>
          </a:prstGeom>
          <a:effectLst>
            <a:outerShdw sx="100000" sy="100000" kx="0" ky="0" algn="bl" rotWithShape="0" blurRad="152400" dist="38100" dir="5400000">
              <a:srgbClr val="8A8078">
                <a:alpha val="28000"/>
              </a:srgbClr>
            </a:outerShdw>
          </a:effectLst>
        </p:spPr>
      </p:pic>
      <p:sp>
        <p:nvSpPr>
          <p:cNvPr id="25" name="Text 22"/>
          <p:cNvSpPr/>
          <p:nvPr/>
        </p:nvSpPr>
        <p:spPr>
          <a:xfrm>
            <a:off x="5029200" y="5760720"/>
            <a:ext cx="6537960" cy="365760"/>
          </a:xfrm>
          <a:prstGeom prst="rect">
            <a:avLst/>
          </a:prstGeom>
          <a:noFill/>
          <a:ln/>
        </p:spPr>
        <p:txBody>
          <a:bodyPr wrap="square" lIns="0" tIns="0" rIns="0" bIns="0" rtlCol="0" anchor="ctr"/>
          <a:lstStyle/>
          <a:p>
            <a:pPr indent="0" marL="0">
              <a:lnSpc>
                <a:spcPts val="1600"/>
              </a:lnSpc>
              <a:buNone/>
            </a:pPr>
            <a:r>
              <a:rPr lang="en-US" sz="1100" i="1" dirty="0">
                <a:solidFill>
                  <a:srgbClr val="8E8880"/>
                </a:solidFill>
                <a:latin typeface="Calibri" pitchFamily="34" charset="0"/>
                <a:ea typeface="Calibri" pitchFamily="34" charset="-122"/>
                <a:cs typeface="Calibri" pitchFamily="34" charset="-120"/>
              </a:rPr>
              <a:t>Dasbor menyapa admin sesuai waktu hari dan menampilkan ringkasan marketplace secara langsung.</a:t>
            </a:r>
            <a:endParaRPr lang="en-US" sz="1100" dirty="0"/>
          </a:p>
        </p:txBody>
      </p:sp>
      <p:sp>
        <p:nvSpPr>
          <p:cNvPr id="26" name="Text 23"/>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Modul Vendor</a:t>
            </a:r>
            <a:endParaRPr lang="en-US" sz="3000" dirty="0"/>
          </a:p>
        </p:txBody>
      </p:sp>
      <p:sp>
        <p:nvSpPr>
          <p:cNvPr id="4" name="Text 2"/>
          <p:cNvSpPr/>
          <p:nvPr/>
        </p:nvSpPr>
        <p:spPr>
          <a:xfrm>
            <a:off x="640080" y="1298448"/>
            <a:ext cx="10881360" cy="329184"/>
          </a:xfrm>
          <a:prstGeom prst="rect">
            <a:avLst/>
          </a:prstGeom>
          <a:noFill/>
          <a:ln/>
        </p:spPr>
        <p:txBody>
          <a:bodyPr wrap="square" lIns="0" tIns="0" rIns="0" bIns="0" rtlCol="0" anchor="ctr"/>
          <a:lstStyle/>
          <a:p>
            <a:pPr indent="0" marL="0">
              <a:buNone/>
            </a:pPr>
            <a:r>
              <a:rPr lang="en-US" sz="1400" dirty="0">
                <a:solidFill>
                  <a:srgbClr val="6B6660"/>
                </a:solidFill>
                <a:latin typeface="Calibri" pitchFamily="34" charset="0"/>
                <a:ea typeface="Calibri" pitchFamily="34" charset="-122"/>
                <a:cs typeface="Calibri" pitchFamily="34" charset="-120"/>
              </a:rPr>
              <a:t>Grup menu Vendor menangani pendaftaran mitra sampai disetujui tayang, termasuk verifikasi berkas dan data rekening pencairan.</a:t>
            </a:r>
            <a:endParaRPr lang="en-US" sz="1400" dirty="0"/>
          </a:p>
        </p:txBody>
      </p:sp>
      <p:sp>
        <p:nvSpPr>
          <p:cNvPr id="5" name="Text 3"/>
          <p:cNvSpPr/>
          <p:nvPr/>
        </p:nvSpPr>
        <p:spPr>
          <a:xfrm>
            <a:off x="1030072" y="1783080"/>
            <a:ext cx="49377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Manajemen Vendor</a:t>
            </a:r>
            <a:endParaRPr lang="en-US" sz="1300" dirty="0"/>
          </a:p>
        </p:txBody>
      </p:sp>
      <p:pic>
        <p:nvPicPr>
          <p:cNvPr id="6" name="Image 0" descr="/root/deck/assets/shots/vendors.png">    </p:cNvPr>
          <p:cNvPicPr>
            <a:picLocks noChangeAspect="1"/>
          </p:cNvPicPr>
          <p:nvPr/>
        </p:nvPicPr>
        <p:blipFill>
          <a:blip r:embed="rId1"/>
          <a:stretch>
            <a:fillRect/>
          </a:stretch>
        </p:blipFill>
        <p:spPr>
          <a:xfrm>
            <a:off x="1030072" y="2112264"/>
            <a:ext cx="4937760" cy="3086100"/>
          </a:xfrm>
          <a:prstGeom prst="rect">
            <a:avLst/>
          </a:prstGeom>
          <a:effectLst>
            <a:outerShdw sx="100000" sy="100000" kx="0" ky="0" algn="bl" rotWithShape="0" blurRad="152400" dist="38100" dir="5400000">
              <a:srgbClr val="8A8078">
                <a:alpha val="28000"/>
              </a:srgbClr>
            </a:outerShdw>
          </a:effectLst>
        </p:spPr>
      </p:pic>
      <p:sp>
        <p:nvSpPr>
          <p:cNvPr id="7" name="Text 4"/>
          <p:cNvSpPr/>
          <p:nvPr/>
        </p:nvSpPr>
        <p:spPr>
          <a:xfrm>
            <a:off x="1030072" y="5344668"/>
            <a:ext cx="4937760" cy="982980"/>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Daftar seluruh mitra dengan status pending, approved, rejected, atau suspended. Menyimpan profil usaha, alamat, titik koordinat, kontak, media sosial, rating, serta data rekening bank. Vendor unggulan bisa ditandai agar tampil lebih dulu.</a:t>
            </a:r>
            <a:endParaRPr lang="en-US" sz="1250" dirty="0"/>
          </a:p>
        </p:txBody>
      </p:sp>
      <p:sp>
        <p:nvSpPr>
          <p:cNvPr id="8" name="Text 5"/>
          <p:cNvSpPr/>
          <p:nvPr/>
        </p:nvSpPr>
        <p:spPr>
          <a:xfrm>
            <a:off x="6223864" y="1783080"/>
            <a:ext cx="49377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Kategori Vendor</a:t>
            </a:r>
            <a:endParaRPr lang="en-US" sz="1300" dirty="0"/>
          </a:p>
        </p:txBody>
      </p:sp>
      <p:pic>
        <p:nvPicPr>
          <p:cNvPr id="9" name="Image 1" descr="/root/deck/assets/shots/vendor-categories.png">    </p:cNvPr>
          <p:cNvPicPr>
            <a:picLocks noChangeAspect="1"/>
          </p:cNvPicPr>
          <p:nvPr/>
        </p:nvPicPr>
        <p:blipFill>
          <a:blip r:embed="rId2"/>
          <a:stretch>
            <a:fillRect/>
          </a:stretch>
        </p:blipFill>
        <p:spPr>
          <a:xfrm>
            <a:off x="6223864" y="2112264"/>
            <a:ext cx="4937760" cy="3086100"/>
          </a:xfrm>
          <a:prstGeom prst="rect">
            <a:avLst/>
          </a:prstGeom>
          <a:effectLst>
            <a:outerShdw sx="100000" sy="100000" kx="0" ky="0" algn="bl" rotWithShape="0" blurRad="152400" dist="38100" dir="5400000">
              <a:srgbClr val="8A8078">
                <a:alpha val="28000"/>
              </a:srgbClr>
            </a:outerShdw>
          </a:effectLst>
        </p:spPr>
      </p:pic>
      <p:sp>
        <p:nvSpPr>
          <p:cNvPr id="10" name="Text 6"/>
          <p:cNvSpPr/>
          <p:nvPr/>
        </p:nvSpPr>
        <p:spPr>
          <a:xfrm>
            <a:off x="6223864" y="5344668"/>
            <a:ext cx="4937760" cy="982980"/>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Sembilan kategori jasa seperti venue, catering, dekorasi, MUA, dan fotografer. Setiap kategori memiliki tarif komisi bawaan, ikon, urutan tampil, dan saklar aktif atau nonaktif.</a:t>
            </a:r>
            <a:endParaRPr lang="en-US" sz="1250" dirty="0"/>
          </a:p>
        </p:txBody>
      </p:sp>
      <p:sp>
        <p:nvSpPr>
          <p:cNvPr id="11" name="Text 7"/>
          <p:cNvSpPr/>
          <p:nvPr/>
        </p:nvSpPr>
        <p:spPr>
          <a:xfrm>
            <a:off x="640080" y="6382512"/>
            <a:ext cx="10881360" cy="292608"/>
          </a:xfrm>
          <a:prstGeom prst="rect">
            <a:avLst/>
          </a:prstGeom>
          <a:noFill/>
          <a:ln/>
        </p:spPr>
        <p:txBody>
          <a:bodyPr wrap="square" lIns="0" tIns="0" rIns="0" bIns="0" rtlCol="0" anchor="ctr"/>
          <a:lstStyle/>
          <a:p>
            <a:pPr indent="0" marL="0">
              <a:buNone/>
            </a:pPr>
            <a:r>
              <a:rPr lang="en-US" sz="1150" i="1" dirty="0">
                <a:solidFill>
                  <a:srgbClr val="8E8880"/>
                </a:solidFill>
                <a:latin typeface="Calibri" pitchFamily="34" charset="0"/>
                <a:ea typeface="Calibri" pitchFamily="34" charset="-122"/>
                <a:cs typeface="Calibri" pitchFamily="34" charset="-120"/>
              </a:rPr>
              <a:t>Penghapusan memakai soft delete, sehingga data vendor lama tetap bisa ditelusuri.</a:t>
            </a:r>
            <a:endParaRPr lang="en-US" sz="1150" dirty="0"/>
          </a:p>
        </p:txBody>
      </p:sp>
      <p:sp>
        <p:nvSpPr>
          <p:cNvPr id="12" name="Text 8"/>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Modul Marketplace</a:t>
            </a:r>
            <a:endParaRPr lang="en-US" sz="3000" dirty="0"/>
          </a:p>
        </p:txBody>
      </p:sp>
      <p:sp>
        <p:nvSpPr>
          <p:cNvPr id="4" name="Text 2"/>
          <p:cNvSpPr/>
          <p:nvPr/>
        </p:nvSpPr>
        <p:spPr>
          <a:xfrm>
            <a:off x="640080" y="1298448"/>
            <a:ext cx="10881360" cy="329184"/>
          </a:xfrm>
          <a:prstGeom prst="rect">
            <a:avLst/>
          </a:prstGeom>
          <a:noFill/>
          <a:ln/>
        </p:spPr>
        <p:txBody>
          <a:bodyPr wrap="square" lIns="0" tIns="0" rIns="0" bIns="0" rtlCol="0" anchor="ctr"/>
          <a:lstStyle/>
          <a:p>
            <a:pPr indent="0" marL="0">
              <a:buNone/>
            </a:pPr>
            <a:r>
              <a:rPr lang="en-US" sz="1400" dirty="0">
                <a:solidFill>
                  <a:srgbClr val="6B6660"/>
                </a:solidFill>
                <a:latin typeface="Calibri" pitchFamily="34" charset="0"/>
                <a:ea typeface="Calibri" pitchFamily="34" charset="-122"/>
                <a:cs typeface="Calibri" pitchFamily="34" charset="-120"/>
              </a:rPr>
              <a:t>Inti transaksi platform: katalog jasa milik vendor, pemesanan dari calon pengantin, dan data seluruh pengguna yang terlibat.</a:t>
            </a:r>
            <a:endParaRPr lang="en-US" sz="1400" dirty="0"/>
          </a:p>
        </p:txBody>
      </p:sp>
      <p:sp>
        <p:nvSpPr>
          <p:cNvPr id="5" name="Text 3"/>
          <p:cNvSpPr/>
          <p:nvPr/>
        </p:nvSpPr>
        <p:spPr>
          <a:xfrm>
            <a:off x="640080" y="1783080"/>
            <a:ext cx="346649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Produk / Jasa</a:t>
            </a:r>
            <a:endParaRPr lang="en-US" sz="1300" dirty="0"/>
          </a:p>
        </p:txBody>
      </p:sp>
      <p:pic>
        <p:nvPicPr>
          <p:cNvPr id="6" name="Image 0" descr="/root/deck/assets/shots/services.png">    </p:cNvPr>
          <p:cNvPicPr>
            <a:picLocks noChangeAspect="1"/>
          </p:cNvPicPr>
          <p:nvPr/>
        </p:nvPicPr>
        <p:blipFill>
          <a:blip r:embed="rId1"/>
          <a:stretch>
            <a:fillRect/>
          </a:stretch>
        </p:blipFill>
        <p:spPr>
          <a:xfrm>
            <a:off x="640080" y="2112264"/>
            <a:ext cx="3466490" cy="2166557"/>
          </a:xfrm>
          <a:prstGeom prst="rect">
            <a:avLst/>
          </a:prstGeom>
          <a:effectLst>
            <a:outerShdw sx="100000" sy="100000" kx="0" ky="0" algn="bl" rotWithShape="0" blurRad="152400" dist="38100" dir="5400000">
              <a:srgbClr val="8A8078">
                <a:alpha val="28000"/>
              </a:srgbClr>
            </a:outerShdw>
          </a:effectLst>
        </p:spPr>
      </p:pic>
      <p:sp>
        <p:nvSpPr>
          <p:cNvPr id="7" name="Text 4"/>
          <p:cNvSpPr/>
          <p:nvPr/>
        </p:nvSpPr>
        <p:spPr>
          <a:xfrm>
            <a:off x="640080" y="4425125"/>
            <a:ext cx="3466490" cy="1902523"/>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Paket layanan milik vendor lengkap dengan harga, harga diskon, satuan harga, kapasitas, durasi, dan daftar fasilitas. Status draft, published, moderated, atau rejected dipakai untuk moderasi.</a:t>
            </a:r>
            <a:endParaRPr lang="en-US" sz="1250" dirty="0"/>
          </a:p>
        </p:txBody>
      </p:sp>
      <p:sp>
        <p:nvSpPr>
          <p:cNvPr id="8" name="Text 5"/>
          <p:cNvSpPr/>
          <p:nvPr/>
        </p:nvSpPr>
        <p:spPr>
          <a:xfrm>
            <a:off x="4362602" y="1783080"/>
            <a:ext cx="346649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Booking &amp; Order</a:t>
            </a:r>
            <a:endParaRPr lang="en-US" sz="1300" dirty="0"/>
          </a:p>
        </p:txBody>
      </p:sp>
      <p:pic>
        <p:nvPicPr>
          <p:cNvPr id="9" name="Image 1" descr="/root/deck/assets/shots/bookings.png">    </p:cNvPr>
          <p:cNvPicPr>
            <a:picLocks noChangeAspect="1"/>
          </p:cNvPicPr>
          <p:nvPr/>
        </p:nvPicPr>
        <p:blipFill>
          <a:blip r:embed="rId2"/>
          <a:stretch>
            <a:fillRect/>
          </a:stretch>
        </p:blipFill>
        <p:spPr>
          <a:xfrm>
            <a:off x="4362602" y="2112264"/>
            <a:ext cx="3466490" cy="2166557"/>
          </a:xfrm>
          <a:prstGeom prst="rect">
            <a:avLst/>
          </a:prstGeom>
          <a:effectLst>
            <a:outerShdw sx="100000" sy="100000" kx="0" ky="0" algn="bl" rotWithShape="0" blurRad="152400" dist="38100" dir="5400000">
              <a:srgbClr val="8A8078">
                <a:alpha val="28000"/>
              </a:srgbClr>
            </a:outerShdw>
          </a:effectLst>
        </p:spPr>
      </p:pic>
      <p:sp>
        <p:nvSpPr>
          <p:cNvPr id="10" name="Text 6"/>
          <p:cNvSpPr/>
          <p:nvPr/>
        </p:nvSpPr>
        <p:spPr>
          <a:xfrm>
            <a:off x="4362602" y="4425125"/>
            <a:ext cx="3466490" cy="1902523"/>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Pemesanan dengan kode unik, tanggal dan lokasi acara, jumlah tamu, subtotal, diskon, biaya admin, komisi, dan total. Status berjalan dari pending, confirmed, on_progress, hingga completed.</a:t>
            </a:r>
            <a:endParaRPr lang="en-US" sz="1250" dirty="0"/>
          </a:p>
        </p:txBody>
      </p:sp>
      <p:sp>
        <p:nvSpPr>
          <p:cNvPr id="11" name="Text 7"/>
          <p:cNvSpPr/>
          <p:nvPr/>
        </p:nvSpPr>
        <p:spPr>
          <a:xfrm>
            <a:off x="8085125" y="1783080"/>
            <a:ext cx="346649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Pengguna &amp; Couple</a:t>
            </a:r>
            <a:endParaRPr lang="en-US" sz="1300" dirty="0"/>
          </a:p>
        </p:txBody>
      </p:sp>
      <p:pic>
        <p:nvPicPr>
          <p:cNvPr id="12" name="Image 2" descr="/root/deck/assets/shots/users.png">    </p:cNvPr>
          <p:cNvPicPr>
            <a:picLocks noChangeAspect="1"/>
          </p:cNvPicPr>
          <p:nvPr/>
        </p:nvPicPr>
        <p:blipFill>
          <a:blip r:embed="rId3"/>
          <a:stretch>
            <a:fillRect/>
          </a:stretch>
        </p:blipFill>
        <p:spPr>
          <a:xfrm>
            <a:off x="8085125" y="2112264"/>
            <a:ext cx="3466490" cy="2166557"/>
          </a:xfrm>
          <a:prstGeom prst="rect">
            <a:avLst/>
          </a:prstGeom>
          <a:effectLst>
            <a:outerShdw sx="100000" sy="100000" kx="0" ky="0" algn="bl" rotWithShape="0" blurRad="152400" dist="38100" dir="5400000">
              <a:srgbClr val="8A8078">
                <a:alpha val="28000"/>
              </a:srgbClr>
            </a:outerShdw>
          </a:effectLst>
        </p:spPr>
      </p:pic>
      <p:sp>
        <p:nvSpPr>
          <p:cNvPr id="13" name="Text 8"/>
          <p:cNvSpPr/>
          <p:nvPr/>
        </p:nvSpPr>
        <p:spPr>
          <a:xfrm>
            <a:off x="8085125" y="4425125"/>
            <a:ext cx="3466490" cy="1902523"/>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Seluruh akun terdaftar beserta jenisnya (admin, vendor, couple), status aktif atau ditangguhkan, nomor telepon, foto profil, dan catatan waktu terakhir masuk.</a:t>
            </a:r>
            <a:endParaRPr lang="en-US" sz="1250" dirty="0"/>
          </a:p>
        </p:txBody>
      </p:sp>
      <p:sp>
        <p:nvSpPr>
          <p:cNvPr id="14" name="Text 9"/>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Modul Undangan Digital</a:t>
            </a:r>
            <a:endParaRPr lang="en-US" sz="3000" dirty="0"/>
          </a:p>
        </p:txBody>
      </p:sp>
      <p:sp>
        <p:nvSpPr>
          <p:cNvPr id="4" name="Text 2"/>
          <p:cNvSpPr/>
          <p:nvPr/>
        </p:nvSpPr>
        <p:spPr>
          <a:xfrm>
            <a:off x="640080" y="1298448"/>
            <a:ext cx="10881360" cy="329184"/>
          </a:xfrm>
          <a:prstGeom prst="rect">
            <a:avLst/>
          </a:prstGeom>
          <a:noFill/>
          <a:ln/>
        </p:spPr>
        <p:txBody>
          <a:bodyPr wrap="square" lIns="0" tIns="0" rIns="0" bIns="0" rtlCol="0" anchor="ctr"/>
          <a:lstStyle/>
          <a:p>
            <a:pPr indent="0" marL="0">
              <a:buNone/>
            </a:pPr>
            <a:r>
              <a:rPr lang="en-US" sz="1400" dirty="0">
                <a:solidFill>
                  <a:srgbClr val="6B6660"/>
                </a:solidFill>
                <a:latin typeface="Calibri" pitchFamily="34" charset="0"/>
                <a:ea typeface="Calibri" pitchFamily="34" charset="-122"/>
                <a:cs typeface="Calibri" pitchFamily="34" charset="-120"/>
              </a:rPr>
              <a:t>Lini produk kedua BrightDor: admin mengurasi desain, memantau pesanan masuk, lalu mengaktifkan undangan agar bisa dibagikan ke tamu.</a:t>
            </a:r>
            <a:endParaRPr lang="en-US" sz="1400" dirty="0"/>
          </a:p>
        </p:txBody>
      </p:sp>
      <p:sp>
        <p:nvSpPr>
          <p:cNvPr id="5" name="Text 3"/>
          <p:cNvSpPr/>
          <p:nvPr/>
        </p:nvSpPr>
        <p:spPr>
          <a:xfrm>
            <a:off x="640080" y="1783080"/>
            <a:ext cx="25358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Kategori Template</a:t>
            </a:r>
            <a:endParaRPr lang="en-US" sz="1300" dirty="0"/>
          </a:p>
        </p:txBody>
      </p:sp>
      <p:pic>
        <p:nvPicPr>
          <p:cNvPr id="6" name="Image 0" descr="/root/deck/assets/shots/invitation-template-categories.png">    </p:cNvPr>
          <p:cNvPicPr>
            <a:picLocks noChangeAspect="1"/>
          </p:cNvPicPr>
          <p:nvPr/>
        </p:nvPicPr>
        <p:blipFill>
          <a:blip r:embed="rId1"/>
          <a:stretch>
            <a:fillRect/>
          </a:stretch>
        </p:blipFill>
        <p:spPr>
          <a:xfrm>
            <a:off x="640080" y="2112264"/>
            <a:ext cx="2535860" cy="1584912"/>
          </a:xfrm>
          <a:prstGeom prst="rect">
            <a:avLst/>
          </a:prstGeom>
          <a:effectLst>
            <a:outerShdw sx="100000" sy="100000" kx="0" ky="0" algn="bl" rotWithShape="0" blurRad="152400" dist="38100" dir="5400000">
              <a:srgbClr val="8A8078">
                <a:alpha val="28000"/>
              </a:srgbClr>
            </a:outerShdw>
          </a:effectLst>
        </p:spPr>
      </p:pic>
      <p:sp>
        <p:nvSpPr>
          <p:cNvPr id="7" name="Text 4"/>
          <p:cNvSpPr/>
          <p:nvPr/>
        </p:nvSpPr>
        <p:spPr>
          <a:xfrm>
            <a:off x="640080" y="3843480"/>
            <a:ext cx="2535860" cy="2484168"/>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Pengelompokan desain undangan beserta urutan tampil dan status aktif.</a:t>
            </a:r>
            <a:endParaRPr lang="en-US" sz="1250" dirty="0"/>
          </a:p>
        </p:txBody>
      </p:sp>
      <p:sp>
        <p:nvSpPr>
          <p:cNvPr id="8" name="Text 5"/>
          <p:cNvSpPr/>
          <p:nvPr/>
        </p:nvSpPr>
        <p:spPr>
          <a:xfrm>
            <a:off x="3431972" y="1783080"/>
            <a:ext cx="25358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Template Undangan</a:t>
            </a:r>
            <a:endParaRPr lang="en-US" sz="1300" dirty="0"/>
          </a:p>
        </p:txBody>
      </p:sp>
      <p:pic>
        <p:nvPicPr>
          <p:cNvPr id="9" name="Image 1" descr="/root/deck/assets/shots/invitation-templates.png">    </p:cNvPr>
          <p:cNvPicPr>
            <a:picLocks noChangeAspect="1"/>
          </p:cNvPicPr>
          <p:nvPr/>
        </p:nvPicPr>
        <p:blipFill>
          <a:blip r:embed="rId2"/>
          <a:stretch>
            <a:fillRect/>
          </a:stretch>
        </p:blipFill>
        <p:spPr>
          <a:xfrm>
            <a:off x="3431972" y="2112264"/>
            <a:ext cx="2535860" cy="1584912"/>
          </a:xfrm>
          <a:prstGeom prst="rect">
            <a:avLst/>
          </a:prstGeom>
          <a:effectLst>
            <a:outerShdw sx="100000" sy="100000" kx="0" ky="0" algn="bl" rotWithShape="0" blurRad="152400" dist="38100" dir="5400000">
              <a:srgbClr val="8A8078">
                <a:alpha val="28000"/>
              </a:srgbClr>
            </a:outerShdw>
          </a:effectLst>
        </p:spPr>
      </p:pic>
      <p:sp>
        <p:nvSpPr>
          <p:cNvPr id="10" name="Text 6"/>
          <p:cNvSpPr/>
          <p:nvPr/>
        </p:nvSpPr>
        <p:spPr>
          <a:xfrm>
            <a:off x="3431972" y="3843480"/>
            <a:ext cx="2535860" cy="2484168"/>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Katalog desain dengan harga, gambar pratinjau, tautan demo, label premium dan unggulan, serta jumlah penjualan.</a:t>
            </a:r>
            <a:endParaRPr lang="en-US" sz="1250" dirty="0"/>
          </a:p>
        </p:txBody>
      </p:sp>
      <p:sp>
        <p:nvSpPr>
          <p:cNvPr id="11" name="Text 7"/>
          <p:cNvSpPr/>
          <p:nvPr/>
        </p:nvSpPr>
        <p:spPr>
          <a:xfrm>
            <a:off x="6223864" y="1783080"/>
            <a:ext cx="25358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Order Undangan</a:t>
            </a:r>
            <a:endParaRPr lang="en-US" sz="1300" dirty="0"/>
          </a:p>
        </p:txBody>
      </p:sp>
      <p:pic>
        <p:nvPicPr>
          <p:cNvPr id="12" name="Image 2" descr="/root/deck/assets/shots/invitation-orders.png">    </p:cNvPr>
          <p:cNvPicPr>
            <a:picLocks noChangeAspect="1"/>
          </p:cNvPicPr>
          <p:nvPr/>
        </p:nvPicPr>
        <p:blipFill>
          <a:blip r:embed="rId3"/>
          <a:stretch>
            <a:fillRect/>
          </a:stretch>
        </p:blipFill>
        <p:spPr>
          <a:xfrm>
            <a:off x="6223864" y="2112264"/>
            <a:ext cx="2535860" cy="1584912"/>
          </a:xfrm>
          <a:prstGeom prst="rect">
            <a:avLst/>
          </a:prstGeom>
          <a:effectLst>
            <a:outerShdw sx="100000" sy="100000" kx="0" ky="0" algn="bl" rotWithShape="0" blurRad="152400" dist="38100" dir="5400000">
              <a:srgbClr val="8A8078">
                <a:alpha val="28000"/>
              </a:srgbClr>
            </a:outerShdw>
          </a:effectLst>
        </p:spPr>
      </p:pic>
      <p:sp>
        <p:nvSpPr>
          <p:cNvPr id="13" name="Text 8"/>
          <p:cNvSpPr/>
          <p:nvPr/>
        </p:nvSpPr>
        <p:spPr>
          <a:xfrm>
            <a:off x="6223864" y="3843480"/>
            <a:ext cx="2535860" cy="2484168"/>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Pesanan berisi nama mempelai, tanggal dan lokasi akad, subdomain atau domain khusus, serta masa berlaku.</a:t>
            </a:r>
            <a:endParaRPr lang="en-US" sz="1250" dirty="0"/>
          </a:p>
        </p:txBody>
      </p:sp>
      <p:sp>
        <p:nvSpPr>
          <p:cNvPr id="14" name="Text 9"/>
          <p:cNvSpPr/>
          <p:nvPr/>
        </p:nvSpPr>
        <p:spPr>
          <a:xfrm>
            <a:off x="9015755" y="1783080"/>
            <a:ext cx="25358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Undangan Aktif</a:t>
            </a:r>
            <a:endParaRPr lang="en-US" sz="1300" dirty="0"/>
          </a:p>
        </p:txBody>
      </p:sp>
      <p:pic>
        <p:nvPicPr>
          <p:cNvPr id="15" name="Image 3" descr="/root/deck/assets/shots/invitations.png">    </p:cNvPr>
          <p:cNvPicPr>
            <a:picLocks noChangeAspect="1"/>
          </p:cNvPicPr>
          <p:nvPr/>
        </p:nvPicPr>
        <p:blipFill>
          <a:blip r:embed="rId4"/>
          <a:stretch>
            <a:fillRect/>
          </a:stretch>
        </p:blipFill>
        <p:spPr>
          <a:xfrm>
            <a:off x="9015755" y="2112264"/>
            <a:ext cx="2535860" cy="1584912"/>
          </a:xfrm>
          <a:prstGeom prst="rect">
            <a:avLst/>
          </a:prstGeom>
          <a:effectLst>
            <a:outerShdw sx="100000" sy="100000" kx="0" ky="0" algn="bl" rotWithShape="0" blurRad="152400" dist="38100" dir="5400000">
              <a:srgbClr val="8A8078">
                <a:alpha val="28000"/>
              </a:srgbClr>
            </a:outerShdw>
          </a:effectLst>
        </p:spPr>
      </p:pic>
      <p:sp>
        <p:nvSpPr>
          <p:cNvPr id="16" name="Text 10"/>
          <p:cNvSpPr/>
          <p:nvPr/>
        </p:nvSpPr>
        <p:spPr>
          <a:xfrm>
            <a:off x="9015755" y="3843480"/>
            <a:ext cx="2535860" cy="2484168"/>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Undangan yang sudah terbit. Konten dan tema disimpan sebagai JSON, lengkap dengan jumlah kunjungan dan rekap RSVP.</a:t>
            </a:r>
            <a:endParaRPr lang="en-US" sz="1250" dirty="0"/>
          </a:p>
        </p:txBody>
      </p:sp>
      <p:sp>
        <p:nvSpPr>
          <p:cNvPr id="17" name="Text 11"/>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Modul Keuangan</a:t>
            </a:r>
            <a:endParaRPr lang="en-US" sz="3000" dirty="0"/>
          </a:p>
        </p:txBody>
      </p:sp>
      <p:sp>
        <p:nvSpPr>
          <p:cNvPr id="4" name="Text 2"/>
          <p:cNvSpPr/>
          <p:nvPr/>
        </p:nvSpPr>
        <p:spPr>
          <a:xfrm>
            <a:off x="640080" y="1298448"/>
            <a:ext cx="10881360" cy="329184"/>
          </a:xfrm>
          <a:prstGeom prst="rect">
            <a:avLst/>
          </a:prstGeom>
          <a:noFill/>
          <a:ln/>
        </p:spPr>
        <p:txBody>
          <a:bodyPr wrap="square" lIns="0" tIns="0" rIns="0" bIns="0" rtlCol="0" anchor="ctr"/>
          <a:lstStyle/>
          <a:p>
            <a:pPr indent="0" marL="0">
              <a:buNone/>
            </a:pPr>
            <a:r>
              <a:rPr lang="en-US" sz="1400" dirty="0">
                <a:solidFill>
                  <a:srgbClr val="6B6660"/>
                </a:solidFill>
                <a:latin typeface="Calibri" pitchFamily="34" charset="0"/>
                <a:ea typeface="Calibri" pitchFamily="34" charset="-122"/>
                <a:cs typeface="Calibri" pitchFamily="34" charset="-120"/>
              </a:rPr>
              <a:t>Semua arus uang tercatat di sini: pembayaran masuk, potongan komisi BrightDor, hingga pencairan dana ke rekening vendor.</a:t>
            </a:r>
            <a:endParaRPr lang="en-US" sz="1400" dirty="0"/>
          </a:p>
        </p:txBody>
      </p:sp>
      <p:sp>
        <p:nvSpPr>
          <p:cNvPr id="5" name="Text 3"/>
          <p:cNvSpPr/>
          <p:nvPr/>
        </p:nvSpPr>
        <p:spPr>
          <a:xfrm>
            <a:off x="640080" y="1783080"/>
            <a:ext cx="346649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Transaksi</a:t>
            </a:r>
            <a:endParaRPr lang="en-US" sz="1300" dirty="0"/>
          </a:p>
        </p:txBody>
      </p:sp>
      <p:pic>
        <p:nvPicPr>
          <p:cNvPr id="6" name="Image 0" descr="/root/deck/assets/shots/transactions.png">    </p:cNvPr>
          <p:cNvPicPr>
            <a:picLocks noChangeAspect="1"/>
          </p:cNvPicPr>
          <p:nvPr/>
        </p:nvPicPr>
        <p:blipFill>
          <a:blip r:embed="rId1"/>
          <a:stretch>
            <a:fillRect/>
          </a:stretch>
        </p:blipFill>
        <p:spPr>
          <a:xfrm>
            <a:off x="640080" y="2112264"/>
            <a:ext cx="3466490" cy="2166557"/>
          </a:xfrm>
          <a:prstGeom prst="rect">
            <a:avLst/>
          </a:prstGeom>
          <a:effectLst>
            <a:outerShdw sx="100000" sy="100000" kx="0" ky="0" algn="bl" rotWithShape="0" blurRad="152400" dist="38100" dir="5400000">
              <a:srgbClr val="8A8078">
                <a:alpha val="28000"/>
              </a:srgbClr>
            </a:outerShdw>
          </a:effectLst>
        </p:spPr>
      </p:pic>
      <p:sp>
        <p:nvSpPr>
          <p:cNvPr id="7" name="Text 4"/>
          <p:cNvSpPr/>
          <p:nvPr/>
        </p:nvSpPr>
        <p:spPr>
          <a:xfrm>
            <a:off x="640080" y="4425125"/>
            <a:ext cx="3466490" cy="1902523"/>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Catatan pembayaran, refund, komisi, dan payout dengan kode unik. Relasi polymorphic membuat satu transaksi bisa menunjuk ke booking maupun order undangan. Sudah disiapkan untuk Midtrans dan Xendit.</a:t>
            </a:r>
            <a:endParaRPr lang="en-US" sz="1250" dirty="0"/>
          </a:p>
        </p:txBody>
      </p:sp>
      <p:sp>
        <p:nvSpPr>
          <p:cNvPr id="8" name="Text 5"/>
          <p:cNvSpPr/>
          <p:nvPr/>
        </p:nvSpPr>
        <p:spPr>
          <a:xfrm>
            <a:off x="4362602" y="1783080"/>
            <a:ext cx="346649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Payout Vendor</a:t>
            </a:r>
            <a:endParaRPr lang="en-US" sz="1300" dirty="0"/>
          </a:p>
        </p:txBody>
      </p:sp>
      <p:pic>
        <p:nvPicPr>
          <p:cNvPr id="9" name="Image 1" descr="/root/deck/assets/shots/payouts.png">    </p:cNvPr>
          <p:cNvPicPr>
            <a:picLocks noChangeAspect="1"/>
          </p:cNvPicPr>
          <p:nvPr/>
        </p:nvPicPr>
        <p:blipFill>
          <a:blip r:embed="rId2"/>
          <a:stretch>
            <a:fillRect/>
          </a:stretch>
        </p:blipFill>
        <p:spPr>
          <a:xfrm>
            <a:off x="4362602" y="2112264"/>
            <a:ext cx="3466490" cy="2166557"/>
          </a:xfrm>
          <a:prstGeom prst="rect">
            <a:avLst/>
          </a:prstGeom>
          <a:effectLst>
            <a:outerShdw sx="100000" sy="100000" kx="0" ky="0" algn="bl" rotWithShape="0" blurRad="152400" dist="38100" dir="5400000">
              <a:srgbClr val="8A8078">
                <a:alpha val="28000"/>
              </a:srgbClr>
            </a:outerShdw>
          </a:effectLst>
        </p:spPr>
      </p:pic>
      <p:sp>
        <p:nvSpPr>
          <p:cNvPr id="10" name="Text 6"/>
          <p:cNvSpPr/>
          <p:nvPr/>
        </p:nvSpPr>
        <p:spPr>
          <a:xfrm>
            <a:off x="4362602" y="4425125"/>
            <a:ext cx="3466490" cy="1902523"/>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Permintaan pencairan dana vendor beserta jumlah kotor, biaya, dan jumlah bersih. Menyimpan data rekening tujuan, catatan admin, siapa yang memproses, dan kapan diproses.</a:t>
            </a:r>
            <a:endParaRPr lang="en-US" sz="1250" dirty="0"/>
          </a:p>
        </p:txBody>
      </p:sp>
      <p:sp>
        <p:nvSpPr>
          <p:cNvPr id="11" name="Text 7"/>
          <p:cNvSpPr/>
          <p:nvPr/>
        </p:nvSpPr>
        <p:spPr>
          <a:xfrm>
            <a:off x="8085125" y="1783080"/>
            <a:ext cx="346649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Pengaturan Komisi</a:t>
            </a:r>
            <a:endParaRPr lang="en-US" sz="1300" dirty="0"/>
          </a:p>
        </p:txBody>
      </p:sp>
      <p:pic>
        <p:nvPicPr>
          <p:cNvPr id="12" name="Image 2" descr="/root/deck/assets/shots/commission-settings.png">    </p:cNvPr>
          <p:cNvPicPr>
            <a:picLocks noChangeAspect="1"/>
          </p:cNvPicPr>
          <p:nvPr/>
        </p:nvPicPr>
        <p:blipFill>
          <a:blip r:embed="rId3"/>
          <a:stretch>
            <a:fillRect/>
          </a:stretch>
        </p:blipFill>
        <p:spPr>
          <a:xfrm>
            <a:off x="8085125" y="2112264"/>
            <a:ext cx="3466490" cy="2166557"/>
          </a:xfrm>
          <a:prstGeom prst="rect">
            <a:avLst/>
          </a:prstGeom>
          <a:effectLst>
            <a:outerShdw sx="100000" sy="100000" kx="0" ky="0" algn="bl" rotWithShape="0" blurRad="152400" dist="38100" dir="5400000">
              <a:srgbClr val="8A8078">
                <a:alpha val="28000"/>
              </a:srgbClr>
            </a:outerShdw>
          </a:effectLst>
        </p:spPr>
      </p:pic>
      <p:sp>
        <p:nvSpPr>
          <p:cNvPr id="13" name="Text 8"/>
          <p:cNvSpPr/>
          <p:nvPr/>
        </p:nvSpPr>
        <p:spPr>
          <a:xfrm>
            <a:off x="8085125" y="4425125"/>
            <a:ext cx="3466490" cy="1902523"/>
          </a:xfrm>
          <a:prstGeom prst="rect">
            <a:avLst/>
          </a:prstGeom>
          <a:noFill/>
          <a:ln/>
        </p:spPr>
        <p:txBody>
          <a:bodyPr wrap="square" lIns="0" tIns="0" rIns="0" bIns="0" rtlCol="0" anchor="t"/>
          <a:lstStyle/>
          <a:p>
            <a:pPr indent="0" marL="0">
              <a:lnSpc>
                <a:spcPts val="1800"/>
              </a:lnSpc>
              <a:buNone/>
            </a:pPr>
            <a:r>
              <a:rPr lang="en-US" sz="1250" dirty="0">
                <a:solidFill>
                  <a:srgbClr val="6B6660"/>
                </a:solidFill>
                <a:latin typeface="Calibri" pitchFamily="34" charset="0"/>
                <a:ea typeface="Calibri" pitchFamily="34" charset="-122"/>
                <a:cs typeface="Calibri" pitchFamily="34" charset="-120"/>
              </a:rPr>
              <a:t>Tarif komisi dalam bentuk persentase maupun nominal tetap. Bisa diatur secara global untuk seluruh transaksi atau khusus per kategori vendor tertentu.</a:t>
            </a:r>
            <a:endParaRPr lang="en-US" sz="1250" dirty="0"/>
          </a:p>
        </p:txBody>
      </p:sp>
      <p:sp>
        <p:nvSpPr>
          <p:cNvPr id="14" name="Text 9"/>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MOCK UP</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Modul Konten &amp; Pengaturan</a:t>
            </a:r>
            <a:endParaRPr lang="en-US" sz="3000" dirty="0"/>
          </a:p>
        </p:txBody>
      </p:sp>
      <p:sp>
        <p:nvSpPr>
          <p:cNvPr id="4" name="Text 2"/>
          <p:cNvSpPr/>
          <p:nvPr/>
        </p:nvSpPr>
        <p:spPr>
          <a:xfrm>
            <a:off x="640080" y="1316736"/>
            <a:ext cx="10881360" cy="292608"/>
          </a:xfrm>
          <a:prstGeom prst="rect">
            <a:avLst/>
          </a:prstGeom>
          <a:noFill/>
          <a:ln/>
        </p:spPr>
        <p:txBody>
          <a:bodyPr wrap="square" lIns="0" tIns="0" rIns="0" bIns="0" rtlCol="0" anchor="ctr"/>
          <a:lstStyle/>
          <a:p>
            <a:pPr indent="0" marL="0">
              <a:buNone/>
            </a:pPr>
            <a:r>
              <a:rPr lang="en-US" sz="1400" dirty="0">
                <a:solidFill>
                  <a:srgbClr val="6B6660"/>
                </a:solidFill>
                <a:latin typeface="Calibri" pitchFamily="34" charset="0"/>
                <a:ea typeface="Calibri" pitchFamily="34" charset="-122"/>
                <a:cs typeface="Calibri" pitchFamily="34" charset="-120"/>
              </a:rPr>
              <a:t>Grup terakhir mengurus wajah publik situs dan konfigurasi sistem, agar halaman depan bisa diperbarui tanpa menyentuh kode.</a:t>
            </a:r>
            <a:endParaRPr lang="en-US" sz="1400" dirty="0"/>
          </a:p>
        </p:txBody>
      </p:sp>
      <p:sp>
        <p:nvSpPr>
          <p:cNvPr id="5" name="Text 3"/>
          <p:cNvSpPr/>
          <p:nvPr/>
        </p:nvSpPr>
        <p:spPr>
          <a:xfrm>
            <a:off x="1523848" y="1691640"/>
            <a:ext cx="2852928" cy="457200"/>
          </a:xfrm>
          <a:prstGeom prst="rect">
            <a:avLst/>
          </a:prstGeom>
          <a:noFill/>
          <a:ln/>
        </p:spPr>
        <p:txBody>
          <a:bodyPr wrap="square" lIns="0" tIns="0" rIns="0" bIns="0" rtlCol="0" anchor="b"/>
          <a:lstStyle/>
          <a:p>
            <a:pPr indent="0" marL="0">
              <a:lnSpc>
                <a:spcPts val="1600"/>
              </a:lnSpc>
              <a:buNone/>
            </a:pPr>
            <a:r>
              <a:rPr lang="en-US" sz="1200" b="1" dirty="0">
                <a:solidFill>
                  <a:srgbClr val="141414"/>
                </a:solidFill>
                <a:latin typeface="Calibri" pitchFamily="34" charset="0"/>
                <a:ea typeface="Calibri" pitchFamily="34" charset="-122"/>
                <a:cs typeface="Calibri" pitchFamily="34" charset="-120"/>
              </a:rPr>
              <a:t>Blog  </a:t>
            </a:r>
            <a:pPr indent="0" marL="0">
              <a:lnSpc>
                <a:spcPts val="1600"/>
              </a:lnSpc>
              <a:buNone/>
            </a:pPr>
            <a:r>
              <a:rPr lang="en-US" sz="1200" dirty="0">
                <a:solidFill>
                  <a:srgbClr val="6B6660"/>
                </a:solidFill>
                <a:latin typeface="Calibri" pitchFamily="34" charset="0"/>
                <a:ea typeface="Calibri" pitchFamily="34" charset="-122"/>
                <a:cs typeface="Calibri" pitchFamily="34" charset="-120"/>
              </a:rPr>
              <a:t>Artikel tips pernikahan, status draft atau terbit.</a:t>
            </a:r>
            <a:endParaRPr lang="en-US" sz="1200" dirty="0"/>
          </a:p>
        </p:txBody>
      </p:sp>
      <p:pic>
        <p:nvPicPr>
          <p:cNvPr id="6" name="Image 0" descr="/root/deck/assets/shots/blogs.png">    </p:cNvPr>
          <p:cNvPicPr>
            <a:picLocks noChangeAspect="1"/>
          </p:cNvPicPr>
          <p:nvPr/>
        </p:nvPicPr>
        <p:blipFill>
          <a:blip r:embed="rId1"/>
          <a:stretch>
            <a:fillRect/>
          </a:stretch>
        </p:blipFill>
        <p:spPr>
          <a:xfrm>
            <a:off x="1523848" y="2167128"/>
            <a:ext cx="2852928" cy="1783080"/>
          </a:xfrm>
          <a:prstGeom prst="rect">
            <a:avLst/>
          </a:prstGeom>
          <a:effectLst>
            <a:outerShdw sx="100000" sy="100000" kx="0" ky="0" algn="bl" rotWithShape="0" blurRad="152400" dist="38100" dir="5400000">
              <a:srgbClr val="8A8078">
                <a:alpha val="28000"/>
              </a:srgbClr>
            </a:outerShdw>
          </a:effectLst>
        </p:spPr>
      </p:pic>
      <p:sp>
        <p:nvSpPr>
          <p:cNvPr id="7" name="Text 4"/>
          <p:cNvSpPr/>
          <p:nvPr/>
        </p:nvSpPr>
        <p:spPr>
          <a:xfrm>
            <a:off x="4669384" y="1691640"/>
            <a:ext cx="2852928" cy="457200"/>
          </a:xfrm>
          <a:prstGeom prst="rect">
            <a:avLst/>
          </a:prstGeom>
          <a:noFill/>
          <a:ln/>
        </p:spPr>
        <p:txBody>
          <a:bodyPr wrap="square" lIns="0" tIns="0" rIns="0" bIns="0" rtlCol="0" anchor="b"/>
          <a:lstStyle/>
          <a:p>
            <a:pPr indent="0" marL="0">
              <a:lnSpc>
                <a:spcPts val="1600"/>
              </a:lnSpc>
              <a:buNone/>
            </a:pPr>
            <a:r>
              <a:rPr lang="en-US" sz="1200" b="1" dirty="0">
                <a:solidFill>
                  <a:srgbClr val="141414"/>
                </a:solidFill>
                <a:latin typeface="Calibri" pitchFamily="34" charset="0"/>
                <a:ea typeface="Calibri" pitchFamily="34" charset="-122"/>
                <a:cs typeface="Calibri" pitchFamily="34" charset="-120"/>
              </a:rPr>
              <a:t>Testimoni  </a:t>
            </a:r>
            <a:pPr indent="0" marL="0">
              <a:lnSpc>
                <a:spcPts val="1600"/>
              </a:lnSpc>
              <a:buNone/>
            </a:pPr>
            <a:r>
              <a:rPr lang="en-US" sz="1200" dirty="0">
                <a:solidFill>
                  <a:srgbClr val="6B6660"/>
                </a:solidFill>
                <a:latin typeface="Calibri" pitchFamily="34" charset="0"/>
                <a:ea typeface="Calibri" pitchFamily="34" charset="-122"/>
                <a:cs typeface="Calibri" pitchFamily="34" charset="-120"/>
              </a:rPr>
              <a:t>Ulasan pasangan dengan nilai bintang dan tanggal acara.</a:t>
            </a:r>
            <a:endParaRPr lang="en-US" sz="1200" dirty="0"/>
          </a:p>
        </p:txBody>
      </p:sp>
      <p:pic>
        <p:nvPicPr>
          <p:cNvPr id="8" name="Image 1" descr="/root/deck/assets/shots/testimonials.png">    </p:cNvPr>
          <p:cNvPicPr>
            <a:picLocks noChangeAspect="1"/>
          </p:cNvPicPr>
          <p:nvPr/>
        </p:nvPicPr>
        <p:blipFill>
          <a:blip r:embed="rId2"/>
          <a:stretch>
            <a:fillRect/>
          </a:stretch>
        </p:blipFill>
        <p:spPr>
          <a:xfrm>
            <a:off x="4669384" y="2167128"/>
            <a:ext cx="2852928" cy="1783080"/>
          </a:xfrm>
          <a:prstGeom prst="rect">
            <a:avLst/>
          </a:prstGeom>
          <a:effectLst>
            <a:outerShdw sx="100000" sy="100000" kx="0" ky="0" algn="bl" rotWithShape="0" blurRad="152400" dist="38100" dir="5400000">
              <a:srgbClr val="8A8078">
                <a:alpha val="28000"/>
              </a:srgbClr>
            </a:outerShdw>
          </a:effectLst>
        </p:spPr>
      </p:pic>
      <p:sp>
        <p:nvSpPr>
          <p:cNvPr id="9" name="Text 5"/>
          <p:cNvSpPr/>
          <p:nvPr/>
        </p:nvSpPr>
        <p:spPr>
          <a:xfrm>
            <a:off x="7814920" y="1691640"/>
            <a:ext cx="2852928" cy="457200"/>
          </a:xfrm>
          <a:prstGeom prst="rect">
            <a:avLst/>
          </a:prstGeom>
          <a:noFill/>
          <a:ln/>
        </p:spPr>
        <p:txBody>
          <a:bodyPr wrap="square" lIns="0" tIns="0" rIns="0" bIns="0" rtlCol="0" anchor="b"/>
          <a:lstStyle/>
          <a:p>
            <a:pPr indent="0" marL="0">
              <a:lnSpc>
                <a:spcPts val="1600"/>
              </a:lnSpc>
              <a:buNone/>
            </a:pPr>
            <a:r>
              <a:rPr lang="en-US" sz="1200" b="1" dirty="0">
                <a:solidFill>
                  <a:srgbClr val="141414"/>
                </a:solidFill>
                <a:latin typeface="Calibri" pitchFamily="34" charset="0"/>
                <a:ea typeface="Calibri" pitchFamily="34" charset="-122"/>
                <a:cs typeface="Calibri" pitchFamily="34" charset="-120"/>
              </a:rPr>
              <a:t>Banner  </a:t>
            </a:r>
            <a:pPr indent="0" marL="0">
              <a:lnSpc>
                <a:spcPts val="1600"/>
              </a:lnSpc>
              <a:buNone/>
            </a:pPr>
            <a:r>
              <a:rPr lang="en-US" sz="1200" dirty="0">
                <a:solidFill>
                  <a:srgbClr val="6B6660"/>
                </a:solidFill>
                <a:latin typeface="Calibri" pitchFamily="34" charset="0"/>
                <a:ea typeface="Calibri" pitchFamily="34" charset="-122"/>
                <a:cs typeface="Calibri" pitchFamily="34" charset="-120"/>
              </a:rPr>
              <a:t>Materi promosi beranda dengan periode tayang.</a:t>
            </a:r>
            <a:endParaRPr lang="en-US" sz="1200" dirty="0"/>
          </a:p>
        </p:txBody>
      </p:sp>
      <p:pic>
        <p:nvPicPr>
          <p:cNvPr id="10" name="Image 2" descr="/root/deck/assets/shots/banners.png">    </p:cNvPr>
          <p:cNvPicPr>
            <a:picLocks noChangeAspect="1"/>
          </p:cNvPicPr>
          <p:nvPr/>
        </p:nvPicPr>
        <p:blipFill>
          <a:blip r:embed="rId3"/>
          <a:stretch>
            <a:fillRect/>
          </a:stretch>
        </p:blipFill>
        <p:spPr>
          <a:xfrm>
            <a:off x="7814920" y="2167128"/>
            <a:ext cx="2852928" cy="1783080"/>
          </a:xfrm>
          <a:prstGeom prst="rect">
            <a:avLst/>
          </a:prstGeom>
          <a:effectLst>
            <a:outerShdw sx="100000" sy="100000" kx="0" ky="0" algn="bl" rotWithShape="0" blurRad="152400" dist="38100" dir="5400000">
              <a:srgbClr val="8A8078">
                <a:alpha val="28000"/>
              </a:srgbClr>
            </a:outerShdw>
          </a:effectLst>
        </p:spPr>
      </p:pic>
      <p:sp>
        <p:nvSpPr>
          <p:cNvPr id="11" name="Text 6"/>
          <p:cNvSpPr/>
          <p:nvPr/>
        </p:nvSpPr>
        <p:spPr>
          <a:xfrm>
            <a:off x="1523848" y="4133088"/>
            <a:ext cx="2852928" cy="457200"/>
          </a:xfrm>
          <a:prstGeom prst="rect">
            <a:avLst/>
          </a:prstGeom>
          <a:noFill/>
          <a:ln/>
        </p:spPr>
        <p:txBody>
          <a:bodyPr wrap="square" lIns="0" tIns="0" rIns="0" bIns="0" rtlCol="0" anchor="b"/>
          <a:lstStyle/>
          <a:p>
            <a:pPr indent="0" marL="0">
              <a:lnSpc>
                <a:spcPts val="1600"/>
              </a:lnSpc>
              <a:buNone/>
            </a:pPr>
            <a:r>
              <a:rPr lang="en-US" sz="1200" b="1" dirty="0">
                <a:solidFill>
                  <a:srgbClr val="141414"/>
                </a:solidFill>
                <a:latin typeface="Calibri" pitchFamily="34" charset="0"/>
                <a:ea typeface="Calibri" pitchFamily="34" charset="-122"/>
                <a:cs typeface="Calibri" pitchFamily="34" charset="-120"/>
              </a:rPr>
              <a:t>FAQ  </a:t>
            </a:r>
            <a:pPr indent="0" marL="0">
              <a:lnSpc>
                <a:spcPts val="1600"/>
              </a:lnSpc>
              <a:buNone/>
            </a:pPr>
            <a:r>
              <a:rPr lang="en-US" sz="1200" dirty="0">
                <a:solidFill>
                  <a:srgbClr val="6B6660"/>
                </a:solidFill>
                <a:latin typeface="Calibri" pitchFamily="34" charset="0"/>
                <a:ea typeface="Calibri" pitchFamily="34" charset="-122"/>
                <a:cs typeface="Calibri" pitchFamily="34" charset="-120"/>
              </a:rPr>
              <a:t>Tanya jawab yang dikelompokkan per kategori.</a:t>
            </a:r>
            <a:endParaRPr lang="en-US" sz="1200" dirty="0"/>
          </a:p>
        </p:txBody>
      </p:sp>
      <p:pic>
        <p:nvPicPr>
          <p:cNvPr id="12" name="Image 3" descr="/root/deck/assets/shots/faqs.png">    </p:cNvPr>
          <p:cNvPicPr>
            <a:picLocks noChangeAspect="1"/>
          </p:cNvPicPr>
          <p:nvPr/>
        </p:nvPicPr>
        <p:blipFill>
          <a:blip r:embed="rId4"/>
          <a:stretch>
            <a:fillRect/>
          </a:stretch>
        </p:blipFill>
        <p:spPr>
          <a:xfrm>
            <a:off x="1523848" y="4608576"/>
            <a:ext cx="2852928" cy="1783080"/>
          </a:xfrm>
          <a:prstGeom prst="rect">
            <a:avLst/>
          </a:prstGeom>
          <a:effectLst>
            <a:outerShdw sx="100000" sy="100000" kx="0" ky="0" algn="bl" rotWithShape="0" blurRad="152400" dist="38100" dir="5400000">
              <a:srgbClr val="8A8078">
                <a:alpha val="28000"/>
              </a:srgbClr>
            </a:outerShdw>
          </a:effectLst>
        </p:spPr>
      </p:pic>
      <p:sp>
        <p:nvSpPr>
          <p:cNvPr id="13" name="Text 7"/>
          <p:cNvSpPr/>
          <p:nvPr/>
        </p:nvSpPr>
        <p:spPr>
          <a:xfrm>
            <a:off x="4669384" y="4133088"/>
            <a:ext cx="2852928" cy="457200"/>
          </a:xfrm>
          <a:prstGeom prst="rect">
            <a:avLst/>
          </a:prstGeom>
          <a:noFill/>
          <a:ln/>
        </p:spPr>
        <p:txBody>
          <a:bodyPr wrap="square" lIns="0" tIns="0" rIns="0" bIns="0" rtlCol="0" anchor="b"/>
          <a:lstStyle/>
          <a:p>
            <a:pPr indent="0" marL="0">
              <a:lnSpc>
                <a:spcPts val="1600"/>
              </a:lnSpc>
              <a:buNone/>
            </a:pPr>
            <a:r>
              <a:rPr lang="en-US" sz="1200" b="1" dirty="0">
                <a:solidFill>
                  <a:srgbClr val="141414"/>
                </a:solidFill>
                <a:latin typeface="Calibri" pitchFamily="34" charset="0"/>
                <a:ea typeface="Calibri" pitchFamily="34" charset="-122"/>
                <a:cs typeface="Calibri" pitchFamily="34" charset="-120"/>
              </a:rPr>
              <a:t>Galeri  </a:t>
            </a:r>
            <a:pPr indent="0" marL="0">
              <a:lnSpc>
                <a:spcPts val="1600"/>
              </a:lnSpc>
              <a:buNone/>
            </a:pPr>
            <a:r>
              <a:rPr lang="en-US" sz="1200" dirty="0">
                <a:solidFill>
                  <a:srgbClr val="6B6660"/>
                </a:solidFill>
                <a:latin typeface="Calibri" pitchFamily="34" charset="0"/>
                <a:ea typeface="Calibri" pitchFamily="34" charset="-122"/>
                <a:cs typeface="Calibri" pitchFamily="34" charset="-120"/>
              </a:rPr>
              <a:t>Foto dokumentasi, bisa ditautkan ke vendor tertentu.</a:t>
            </a:r>
            <a:endParaRPr lang="en-US" sz="1200" dirty="0"/>
          </a:p>
        </p:txBody>
      </p:sp>
      <p:pic>
        <p:nvPicPr>
          <p:cNvPr id="14" name="Image 4" descr="/root/deck/assets/shots/galleries.png">    </p:cNvPr>
          <p:cNvPicPr>
            <a:picLocks noChangeAspect="1"/>
          </p:cNvPicPr>
          <p:nvPr/>
        </p:nvPicPr>
        <p:blipFill>
          <a:blip r:embed="rId5"/>
          <a:stretch>
            <a:fillRect/>
          </a:stretch>
        </p:blipFill>
        <p:spPr>
          <a:xfrm>
            <a:off x="4669384" y="4608576"/>
            <a:ext cx="2852928" cy="1783080"/>
          </a:xfrm>
          <a:prstGeom prst="rect">
            <a:avLst/>
          </a:prstGeom>
          <a:effectLst>
            <a:outerShdw sx="100000" sy="100000" kx="0" ky="0" algn="bl" rotWithShape="0" blurRad="152400" dist="38100" dir="5400000">
              <a:srgbClr val="8A8078">
                <a:alpha val="28000"/>
              </a:srgbClr>
            </a:outerShdw>
          </a:effectLst>
        </p:spPr>
      </p:pic>
      <p:sp>
        <p:nvSpPr>
          <p:cNvPr id="15" name="Text 8"/>
          <p:cNvSpPr/>
          <p:nvPr/>
        </p:nvSpPr>
        <p:spPr>
          <a:xfrm>
            <a:off x="7814920" y="4133088"/>
            <a:ext cx="2852928" cy="457200"/>
          </a:xfrm>
          <a:prstGeom prst="rect">
            <a:avLst/>
          </a:prstGeom>
          <a:noFill/>
          <a:ln/>
        </p:spPr>
        <p:txBody>
          <a:bodyPr wrap="square" lIns="0" tIns="0" rIns="0" bIns="0" rtlCol="0" anchor="b"/>
          <a:lstStyle/>
          <a:p>
            <a:pPr indent="0" marL="0">
              <a:lnSpc>
                <a:spcPts val="1600"/>
              </a:lnSpc>
              <a:buNone/>
            </a:pPr>
            <a:r>
              <a:rPr lang="en-US" sz="1200" b="1" dirty="0">
                <a:solidFill>
                  <a:srgbClr val="141414"/>
                </a:solidFill>
                <a:latin typeface="Calibri" pitchFamily="34" charset="0"/>
                <a:ea typeface="Calibri" pitchFamily="34" charset="-122"/>
                <a:cs typeface="Calibri" pitchFamily="34" charset="-120"/>
              </a:rPr>
              <a:t>Pengaturan  </a:t>
            </a:r>
            <a:pPr indent="0" marL="0">
              <a:lnSpc>
                <a:spcPts val="1600"/>
              </a:lnSpc>
              <a:buNone/>
            </a:pPr>
            <a:r>
              <a:rPr lang="en-US" sz="1200" dirty="0">
                <a:solidFill>
                  <a:srgbClr val="6B6660"/>
                </a:solidFill>
                <a:latin typeface="Calibri" pitchFamily="34" charset="0"/>
                <a:ea typeface="Calibri" pitchFamily="34" charset="-122"/>
                <a:cs typeface="Calibri" pitchFamily="34" charset="-120"/>
              </a:rPr>
              <a:t>Konfigurasi general, payment, social, dan email.</a:t>
            </a:r>
            <a:endParaRPr lang="en-US" sz="1200" dirty="0"/>
          </a:p>
        </p:txBody>
      </p:sp>
      <p:pic>
        <p:nvPicPr>
          <p:cNvPr id="16" name="Image 5" descr="/root/deck/assets/shots/settings.png">    </p:cNvPr>
          <p:cNvPicPr>
            <a:picLocks noChangeAspect="1"/>
          </p:cNvPicPr>
          <p:nvPr/>
        </p:nvPicPr>
        <p:blipFill>
          <a:blip r:embed="rId6"/>
          <a:stretch>
            <a:fillRect/>
          </a:stretch>
        </p:blipFill>
        <p:spPr>
          <a:xfrm>
            <a:off x="7814920" y="4608576"/>
            <a:ext cx="2852928" cy="1783080"/>
          </a:xfrm>
          <a:prstGeom prst="rect">
            <a:avLst/>
          </a:prstGeom>
          <a:effectLst>
            <a:outerShdw sx="100000" sy="100000" kx="0" ky="0" algn="bl" rotWithShape="0" blurRad="152400" dist="38100" dir="5400000">
              <a:srgbClr val="8A8078">
                <a:alpha val="28000"/>
              </a:srgbClr>
            </a:outerShdw>
          </a:effectLst>
        </p:spPr>
      </p:pic>
      <p:sp>
        <p:nvSpPr>
          <p:cNvPr id="17" name="Text 9"/>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2 · PENJELASAN</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Alur Proses Utama</a:t>
            </a:r>
            <a:endParaRPr lang="en-US" sz="3000" dirty="0"/>
          </a:p>
        </p:txBody>
      </p:sp>
      <p:sp>
        <p:nvSpPr>
          <p:cNvPr id="4" name="Text 2"/>
          <p:cNvSpPr/>
          <p:nvPr/>
        </p:nvSpPr>
        <p:spPr>
          <a:xfrm>
            <a:off x="640080" y="1298448"/>
            <a:ext cx="7315200" cy="274320"/>
          </a:xfrm>
          <a:prstGeom prst="rect">
            <a:avLst/>
          </a:prstGeom>
          <a:noFill/>
          <a:ln/>
        </p:spPr>
        <p:txBody>
          <a:bodyPr wrap="square" lIns="0" tIns="0" rIns="0" bIns="0" rtlCol="0" anchor="ctr"/>
          <a:lstStyle/>
          <a:p>
            <a:pPr indent="0" marL="0">
              <a:buNone/>
            </a:pPr>
            <a:r>
              <a:rPr lang="en-US" sz="1300" b="1" spc="140" kern="0" dirty="0">
                <a:solidFill>
                  <a:srgbClr val="8F7439"/>
                </a:solidFill>
                <a:latin typeface="Calibri" pitchFamily="34" charset="0"/>
                <a:ea typeface="Calibri" pitchFamily="34" charset="-122"/>
                <a:cs typeface="Calibri" pitchFamily="34" charset="-120"/>
              </a:rPr>
              <a:t>Alur pemesanan jasa vendor</a:t>
            </a:r>
            <a:endParaRPr lang="en-US" sz="1300" dirty="0"/>
          </a:p>
        </p:txBody>
      </p:sp>
      <p:pic>
        <p:nvPicPr>
          <p:cNvPr id="5" name="Image 0" descr="/root/deck/assets/flow_booking.png">    </p:cNvPr>
          <p:cNvPicPr>
            <a:picLocks noChangeAspect="1"/>
          </p:cNvPicPr>
          <p:nvPr/>
        </p:nvPicPr>
        <p:blipFill>
          <a:blip r:embed="rId1"/>
          <a:stretch>
            <a:fillRect/>
          </a:stretch>
        </p:blipFill>
        <p:spPr>
          <a:xfrm>
            <a:off x="640080" y="1645920"/>
            <a:ext cx="10908792" cy="1663294"/>
          </a:xfrm>
          <a:prstGeom prst="rect">
            <a:avLst/>
          </a:prstGeom>
        </p:spPr>
      </p:pic>
      <p:sp>
        <p:nvSpPr>
          <p:cNvPr id="6" name="Text 3"/>
          <p:cNvSpPr/>
          <p:nvPr/>
        </p:nvSpPr>
        <p:spPr>
          <a:xfrm>
            <a:off x="640080" y="3566160"/>
            <a:ext cx="7315200" cy="274320"/>
          </a:xfrm>
          <a:prstGeom prst="rect">
            <a:avLst/>
          </a:prstGeom>
          <a:noFill/>
          <a:ln/>
        </p:spPr>
        <p:txBody>
          <a:bodyPr wrap="square" lIns="0" tIns="0" rIns="0" bIns="0" rtlCol="0" anchor="ctr"/>
          <a:lstStyle/>
          <a:p>
            <a:pPr indent="0" marL="0">
              <a:buNone/>
            </a:pPr>
            <a:r>
              <a:rPr lang="en-US" sz="1300" b="1" spc="140" kern="0" dirty="0">
                <a:solidFill>
                  <a:srgbClr val="8F7439"/>
                </a:solidFill>
                <a:latin typeface="Calibri" pitchFamily="34" charset="0"/>
                <a:ea typeface="Calibri" pitchFamily="34" charset="-122"/>
                <a:cs typeface="Calibri" pitchFamily="34" charset="-120"/>
              </a:rPr>
              <a:t>Alur pemesanan undangan digital</a:t>
            </a:r>
            <a:endParaRPr lang="en-US" sz="1300" dirty="0"/>
          </a:p>
        </p:txBody>
      </p:sp>
      <p:pic>
        <p:nvPicPr>
          <p:cNvPr id="7" name="Image 1" descr="/root/deck/assets/flow_invitation.png">    </p:cNvPr>
          <p:cNvPicPr>
            <a:picLocks noChangeAspect="1"/>
          </p:cNvPicPr>
          <p:nvPr/>
        </p:nvPicPr>
        <p:blipFill>
          <a:blip r:embed="rId2"/>
          <a:stretch>
            <a:fillRect/>
          </a:stretch>
        </p:blipFill>
        <p:spPr>
          <a:xfrm>
            <a:off x="640080" y="3913632"/>
            <a:ext cx="10908792" cy="1809598"/>
          </a:xfrm>
          <a:prstGeom prst="rect">
            <a:avLst/>
          </a:prstGeom>
        </p:spPr>
      </p:pic>
      <p:sp>
        <p:nvSpPr>
          <p:cNvPr id="8" name="Text 4"/>
          <p:cNvSpPr/>
          <p:nvPr/>
        </p:nvSpPr>
        <p:spPr>
          <a:xfrm>
            <a:off x="640080" y="5897880"/>
            <a:ext cx="10881360" cy="329184"/>
          </a:xfrm>
          <a:prstGeom prst="rect">
            <a:avLst/>
          </a:prstGeom>
          <a:noFill/>
          <a:ln/>
        </p:spPr>
        <p:txBody>
          <a:bodyPr wrap="square" lIns="0" tIns="0" rIns="0" bIns="0" rtlCol="0" anchor="ctr"/>
          <a:lstStyle/>
          <a:p>
            <a:pPr indent="0" marL="0">
              <a:lnSpc>
                <a:spcPts val="1900"/>
              </a:lnSpc>
              <a:buNone/>
            </a:pPr>
            <a:r>
              <a:rPr lang="en-US" sz="1300" dirty="0">
                <a:solidFill>
                  <a:srgbClr val="6B6660"/>
                </a:solidFill>
                <a:latin typeface="Calibri" pitchFamily="34" charset="0"/>
                <a:ea typeface="Calibri" pitchFamily="34" charset="-122"/>
                <a:cs typeface="Calibri" pitchFamily="34" charset="-120"/>
              </a:rPr>
              <a:t>Setiap kotak memuat nama tabel penyimpannya, sehingga alur di atas bisa langsung dicocokkan dengan rancangan basis data berikut.</a:t>
            </a:r>
            <a:endParaRPr lang="en-US" sz="1300" dirty="0"/>
          </a:p>
        </p:txBody>
      </p:sp>
      <p:sp>
        <p:nvSpPr>
          <p:cNvPr id="9" name="Text 5"/>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8F7439"/>
                </a:solidFill>
                <a:latin typeface="Calibri" pitchFamily="34" charset="0"/>
                <a:ea typeface="Calibri" pitchFamily="34" charset="-122"/>
                <a:cs typeface="Calibri" pitchFamily="34" charset="-120"/>
              </a:rPr>
              <a:t>POIN 3 · DESAIN DATABASE</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141414"/>
                </a:solidFill>
                <a:latin typeface="Cambria" pitchFamily="34" charset="0"/>
                <a:ea typeface="Cambria" pitchFamily="34" charset="-122"/>
                <a:cs typeface="Cambria" pitchFamily="34" charset="-120"/>
              </a:rPr>
              <a:t>Entity Relationship Diagram</a:t>
            </a:r>
            <a:endParaRPr lang="en-US" sz="3000" dirty="0"/>
          </a:p>
        </p:txBody>
      </p:sp>
      <p:pic>
        <p:nvPicPr>
          <p:cNvPr id="4" name="Image 0" descr="/root/deck/assets/erd_tight.png">    </p:cNvPr>
          <p:cNvPicPr>
            <a:picLocks noChangeAspect="1"/>
          </p:cNvPicPr>
          <p:nvPr/>
        </p:nvPicPr>
        <p:blipFill>
          <a:blip r:embed="rId1"/>
          <a:stretch>
            <a:fillRect/>
          </a:stretch>
        </p:blipFill>
        <p:spPr>
          <a:xfrm>
            <a:off x="1481328" y="1417320"/>
            <a:ext cx="9223553" cy="4937760"/>
          </a:xfrm>
          <a:prstGeom prst="rect">
            <a:avLst/>
          </a:prstGeom>
          <a:effectLst>
            <a:outerShdw sx="100000" sy="100000" kx="0" ky="0" algn="bl" rotWithShape="0" blurRad="152400" dist="38100" dir="5400000">
              <a:srgbClr val="8A8078">
                <a:alpha val="28000"/>
              </a:srgbClr>
            </a:outerShdw>
          </a:effectLst>
        </p:spPr>
      </p:pic>
      <p:sp>
        <p:nvSpPr>
          <p:cNvPr id="5" name="Text 2"/>
          <p:cNvSpPr/>
          <p:nvPr/>
        </p:nvSpPr>
        <p:spPr>
          <a:xfrm>
            <a:off x="11155680" y="6327648"/>
            <a:ext cx="548640" cy="274320"/>
          </a:xfrm>
          <a:prstGeom prst="rect">
            <a:avLst/>
          </a:prstGeom>
          <a:noFill/>
          <a:ln/>
        </p:spPr>
        <p:txBody>
          <a:bodyPr wrap="square" lIns="0" tIns="0" rIns="0" bIns="0" rtlCol="0" anchor="ctr"/>
          <a:lstStyle/>
          <a:p>
            <a:pPr algn="r" indent="0" marL="0">
              <a:buNone/>
            </a:pPr>
            <a:r>
              <a:rPr lang="en-US" sz="1000" dirty="0">
                <a:solidFill>
                  <a:srgbClr val="A9A29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640080" y="384048"/>
            <a:ext cx="10058400" cy="256032"/>
          </a:xfrm>
          <a:prstGeom prst="rect">
            <a:avLst/>
          </a:prstGeom>
          <a:noFill/>
          <a:ln/>
        </p:spPr>
        <p:txBody>
          <a:bodyPr wrap="square" lIns="0" tIns="0" rIns="0" bIns="0" rtlCol="0" anchor="ctr"/>
          <a:lstStyle/>
          <a:p>
            <a:pPr indent="0" marL="0">
              <a:buNone/>
            </a:pPr>
            <a:r>
              <a:rPr lang="en-US" sz="1100" b="1" spc="220" kern="0" dirty="0">
                <a:solidFill>
                  <a:srgbClr val="C4A574"/>
                </a:solidFill>
                <a:latin typeface="Calibri" pitchFamily="34" charset="0"/>
                <a:ea typeface="Calibri" pitchFamily="34" charset="-122"/>
                <a:cs typeface="Calibri" pitchFamily="34" charset="-120"/>
              </a:rPr>
              <a:t>POIN 3 · DESAIN DATABASE</a:t>
            </a:r>
            <a:endParaRPr lang="en-US" sz="1100" dirty="0"/>
          </a:p>
        </p:txBody>
      </p:sp>
      <p:sp>
        <p:nvSpPr>
          <p:cNvPr id="3" name="Text 1"/>
          <p:cNvSpPr/>
          <p:nvPr/>
        </p:nvSpPr>
        <p:spPr>
          <a:xfrm>
            <a:off x="640080" y="658368"/>
            <a:ext cx="1097280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Ringkasan 33 Tabel per Domain</a:t>
            </a:r>
            <a:endParaRPr lang="en-US" sz="3000" dirty="0"/>
          </a:p>
        </p:txBody>
      </p:sp>
      <p:sp>
        <p:nvSpPr>
          <p:cNvPr id="4" name="Shape 2"/>
          <p:cNvSpPr/>
          <p:nvPr/>
        </p:nvSpPr>
        <p:spPr>
          <a:xfrm>
            <a:off x="640080" y="1481328"/>
            <a:ext cx="3529584" cy="1691640"/>
          </a:xfrm>
          <a:prstGeom prst="roundRect">
            <a:avLst>
              <a:gd name="adj" fmla="val 6486"/>
            </a:avLst>
          </a:prstGeom>
          <a:solidFill>
            <a:srgbClr val="1F1F1F"/>
          </a:solidFill>
          <a:ln w="12700">
            <a:solidFill>
              <a:srgbClr val="2E2E2E"/>
            </a:solidFill>
            <a:prstDash val="solid"/>
          </a:ln>
        </p:spPr>
      </p:sp>
      <p:sp>
        <p:nvSpPr>
          <p:cNvPr id="5" name="Text 3"/>
          <p:cNvSpPr/>
          <p:nvPr/>
        </p:nvSpPr>
        <p:spPr>
          <a:xfrm>
            <a:off x="896112" y="1664208"/>
            <a:ext cx="3017520" cy="310896"/>
          </a:xfrm>
          <a:prstGeom prst="rect">
            <a:avLst/>
          </a:prstGeom>
          <a:noFill/>
          <a:ln/>
        </p:spPr>
        <p:txBody>
          <a:bodyPr wrap="square" lIns="0" tIns="0" rIns="0" bIns="0" rtlCol="0" anchor="ctr"/>
          <a:lstStyle/>
          <a:p>
            <a:pPr indent="0" marL="0">
              <a:buNone/>
            </a:pPr>
            <a:r>
              <a:rPr lang="en-US" sz="1600" b="1" dirty="0">
                <a:solidFill>
                  <a:srgbClr val="C4A574"/>
                </a:solidFill>
                <a:latin typeface="Cambria" pitchFamily="34" charset="0"/>
                <a:ea typeface="Cambria" pitchFamily="34" charset="-122"/>
                <a:cs typeface="Cambria" pitchFamily="34" charset="-120"/>
              </a:rPr>
              <a:t>Autentikasi &amp; Pengguna</a:t>
            </a:r>
            <a:endParaRPr lang="en-US" sz="1600" dirty="0"/>
          </a:p>
        </p:txBody>
      </p:sp>
      <p:sp>
        <p:nvSpPr>
          <p:cNvPr id="6" name="Text 4"/>
          <p:cNvSpPr/>
          <p:nvPr/>
        </p:nvSpPr>
        <p:spPr>
          <a:xfrm>
            <a:off x="896112" y="2029968"/>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B9B3AA"/>
                </a:solidFill>
                <a:latin typeface="Calibri" pitchFamily="34" charset="0"/>
                <a:ea typeface="Calibri" pitchFamily="34" charset="-122"/>
                <a:cs typeface="Calibri" pitchFamily="34" charset="-120"/>
              </a:rPr>
              <a:t>users · password_reset_tokens · sessions · roles · permissions · model_has_roles · model_has_permissions · role_has_permissions</a:t>
            </a:r>
            <a:endParaRPr lang="en-US" sz="1150" dirty="0"/>
          </a:p>
        </p:txBody>
      </p:sp>
      <p:sp>
        <p:nvSpPr>
          <p:cNvPr id="7" name="Shape 5"/>
          <p:cNvSpPr/>
          <p:nvPr/>
        </p:nvSpPr>
        <p:spPr>
          <a:xfrm>
            <a:off x="4398264" y="1481328"/>
            <a:ext cx="3529584" cy="1691640"/>
          </a:xfrm>
          <a:prstGeom prst="roundRect">
            <a:avLst>
              <a:gd name="adj" fmla="val 6486"/>
            </a:avLst>
          </a:prstGeom>
          <a:solidFill>
            <a:srgbClr val="1F1F1F"/>
          </a:solidFill>
          <a:ln w="12700">
            <a:solidFill>
              <a:srgbClr val="2E2E2E"/>
            </a:solidFill>
            <a:prstDash val="solid"/>
          </a:ln>
        </p:spPr>
      </p:sp>
      <p:sp>
        <p:nvSpPr>
          <p:cNvPr id="8" name="Text 6"/>
          <p:cNvSpPr/>
          <p:nvPr/>
        </p:nvSpPr>
        <p:spPr>
          <a:xfrm>
            <a:off x="4654296" y="1664208"/>
            <a:ext cx="3017520" cy="310896"/>
          </a:xfrm>
          <a:prstGeom prst="rect">
            <a:avLst/>
          </a:prstGeom>
          <a:noFill/>
          <a:ln/>
        </p:spPr>
        <p:txBody>
          <a:bodyPr wrap="square" lIns="0" tIns="0" rIns="0" bIns="0" rtlCol="0" anchor="ctr"/>
          <a:lstStyle/>
          <a:p>
            <a:pPr indent="0" marL="0">
              <a:buNone/>
            </a:pPr>
            <a:r>
              <a:rPr lang="en-US" sz="1600" b="1" dirty="0">
                <a:solidFill>
                  <a:srgbClr val="C4A574"/>
                </a:solidFill>
                <a:latin typeface="Cambria" pitchFamily="34" charset="0"/>
                <a:ea typeface="Cambria" pitchFamily="34" charset="-122"/>
                <a:cs typeface="Cambria" pitchFamily="34" charset="-120"/>
              </a:rPr>
              <a:t>Sistem Vendor</a:t>
            </a:r>
            <a:endParaRPr lang="en-US" sz="1600" dirty="0"/>
          </a:p>
        </p:txBody>
      </p:sp>
      <p:sp>
        <p:nvSpPr>
          <p:cNvPr id="9" name="Text 7"/>
          <p:cNvSpPr/>
          <p:nvPr/>
        </p:nvSpPr>
        <p:spPr>
          <a:xfrm>
            <a:off x="4654296" y="2029968"/>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B9B3AA"/>
                </a:solidFill>
                <a:latin typeface="Calibri" pitchFamily="34" charset="0"/>
                <a:ea typeface="Calibri" pitchFamily="34" charset="-122"/>
                <a:cs typeface="Calibri" pitchFamily="34" charset="-120"/>
              </a:rPr>
              <a:t>vendor_categories · vendors · services</a:t>
            </a:r>
            <a:endParaRPr lang="en-US" sz="1150" dirty="0"/>
          </a:p>
        </p:txBody>
      </p:sp>
      <p:sp>
        <p:nvSpPr>
          <p:cNvPr id="10" name="Shape 8"/>
          <p:cNvSpPr/>
          <p:nvPr/>
        </p:nvSpPr>
        <p:spPr>
          <a:xfrm>
            <a:off x="8156448" y="1481328"/>
            <a:ext cx="3529584" cy="1691640"/>
          </a:xfrm>
          <a:prstGeom prst="roundRect">
            <a:avLst>
              <a:gd name="adj" fmla="val 6486"/>
            </a:avLst>
          </a:prstGeom>
          <a:solidFill>
            <a:srgbClr val="1F1F1F"/>
          </a:solidFill>
          <a:ln w="12700">
            <a:solidFill>
              <a:srgbClr val="2E2E2E"/>
            </a:solidFill>
            <a:prstDash val="solid"/>
          </a:ln>
        </p:spPr>
      </p:sp>
      <p:sp>
        <p:nvSpPr>
          <p:cNvPr id="11" name="Text 9"/>
          <p:cNvSpPr/>
          <p:nvPr/>
        </p:nvSpPr>
        <p:spPr>
          <a:xfrm>
            <a:off x="8412480" y="1664208"/>
            <a:ext cx="3017520" cy="310896"/>
          </a:xfrm>
          <a:prstGeom prst="rect">
            <a:avLst/>
          </a:prstGeom>
          <a:noFill/>
          <a:ln/>
        </p:spPr>
        <p:txBody>
          <a:bodyPr wrap="square" lIns="0" tIns="0" rIns="0" bIns="0" rtlCol="0" anchor="ctr"/>
          <a:lstStyle/>
          <a:p>
            <a:pPr indent="0" marL="0">
              <a:buNone/>
            </a:pPr>
            <a:r>
              <a:rPr lang="en-US" sz="1600" b="1" dirty="0">
                <a:solidFill>
                  <a:srgbClr val="C4A574"/>
                </a:solidFill>
                <a:latin typeface="Cambria" pitchFamily="34" charset="0"/>
                <a:ea typeface="Cambria" pitchFamily="34" charset="-122"/>
                <a:cs typeface="Cambria" pitchFamily="34" charset="-120"/>
              </a:rPr>
              <a:t>Pemesanan</a:t>
            </a:r>
            <a:endParaRPr lang="en-US" sz="1600" dirty="0"/>
          </a:p>
        </p:txBody>
      </p:sp>
      <p:sp>
        <p:nvSpPr>
          <p:cNvPr id="12" name="Text 10"/>
          <p:cNvSpPr/>
          <p:nvPr/>
        </p:nvSpPr>
        <p:spPr>
          <a:xfrm>
            <a:off x="8412480" y="2029968"/>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B9B3AA"/>
                </a:solidFill>
                <a:latin typeface="Calibri" pitchFamily="34" charset="0"/>
                <a:ea typeface="Calibri" pitchFamily="34" charset="-122"/>
                <a:cs typeface="Calibri" pitchFamily="34" charset="-120"/>
              </a:rPr>
              <a:t>bookings</a:t>
            </a:r>
            <a:endParaRPr lang="en-US" sz="1150" dirty="0"/>
          </a:p>
        </p:txBody>
      </p:sp>
      <p:sp>
        <p:nvSpPr>
          <p:cNvPr id="13" name="Shape 11"/>
          <p:cNvSpPr/>
          <p:nvPr/>
        </p:nvSpPr>
        <p:spPr>
          <a:xfrm>
            <a:off x="640080" y="3429000"/>
            <a:ext cx="3529584" cy="1691640"/>
          </a:xfrm>
          <a:prstGeom prst="roundRect">
            <a:avLst>
              <a:gd name="adj" fmla="val 6486"/>
            </a:avLst>
          </a:prstGeom>
          <a:solidFill>
            <a:srgbClr val="1F1F1F"/>
          </a:solidFill>
          <a:ln w="12700">
            <a:solidFill>
              <a:srgbClr val="2E2E2E"/>
            </a:solidFill>
            <a:prstDash val="solid"/>
          </a:ln>
        </p:spPr>
      </p:sp>
      <p:sp>
        <p:nvSpPr>
          <p:cNvPr id="14" name="Text 12"/>
          <p:cNvSpPr/>
          <p:nvPr/>
        </p:nvSpPr>
        <p:spPr>
          <a:xfrm>
            <a:off x="896112" y="3611880"/>
            <a:ext cx="3017520" cy="310896"/>
          </a:xfrm>
          <a:prstGeom prst="rect">
            <a:avLst/>
          </a:prstGeom>
          <a:noFill/>
          <a:ln/>
        </p:spPr>
        <p:txBody>
          <a:bodyPr wrap="square" lIns="0" tIns="0" rIns="0" bIns="0" rtlCol="0" anchor="ctr"/>
          <a:lstStyle/>
          <a:p>
            <a:pPr indent="0" marL="0">
              <a:buNone/>
            </a:pPr>
            <a:r>
              <a:rPr lang="en-US" sz="1600" b="1" dirty="0">
                <a:solidFill>
                  <a:srgbClr val="C4A574"/>
                </a:solidFill>
                <a:latin typeface="Cambria" pitchFamily="34" charset="0"/>
                <a:ea typeface="Cambria" pitchFamily="34" charset="-122"/>
                <a:cs typeface="Cambria" pitchFamily="34" charset="-120"/>
              </a:rPr>
              <a:t>Undangan Digital</a:t>
            </a:r>
            <a:endParaRPr lang="en-US" sz="1600" dirty="0"/>
          </a:p>
        </p:txBody>
      </p:sp>
      <p:sp>
        <p:nvSpPr>
          <p:cNvPr id="15" name="Text 13"/>
          <p:cNvSpPr/>
          <p:nvPr/>
        </p:nvSpPr>
        <p:spPr>
          <a:xfrm>
            <a:off x="896112" y="3977640"/>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B9B3AA"/>
                </a:solidFill>
                <a:latin typeface="Calibri" pitchFamily="34" charset="0"/>
                <a:ea typeface="Calibri" pitchFamily="34" charset="-122"/>
                <a:cs typeface="Calibri" pitchFamily="34" charset="-120"/>
              </a:rPr>
              <a:t>invitation_template_categories · invitation_templates · invitation_orders · invitations · invitation_rsvps</a:t>
            </a:r>
            <a:endParaRPr lang="en-US" sz="1150" dirty="0"/>
          </a:p>
        </p:txBody>
      </p:sp>
      <p:sp>
        <p:nvSpPr>
          <p:cNvPr id="16" name="Shape 14"/>
          <p:cNvSpPr/>
          <p:nvPr/>
        </p:nvSpPr>
        <p:spPr>
          <a:xfrm>
            <a:off x="4398264" y="3429000"/>
            <a:ext cx="3529584" cy="1691640"/>
          </a:xfrm>
          <a:prstGeom prst="roundRect">
            <a:avLst>
              <a:gd name="adj" fmla="val 6486"/>
            </a:avLst>
          </a:prstGeom>
          <a:solidFill>
            <a:srgbClr val="1F1F1F"/>
          </a:solidFill>
          <a:ln w="12700">
            <a:solidFill>
              <a:srgbClr val="2E2E2E"/>
            </a:solidFill>
            <a:prstDash val="solid"/>
          </a:ln>
        </p:spPr>
      </p:sp>
      <p:sp>
        <p:nvSpPr>
          <p:cNvPr id="17" name="Text 15"/>
          <p:cNvSpPr/>
          <p:nvPr/>
        </p:nvSpPr>
        <p:spPr>
          <a:xfrm>
            <a:off x="4654296" y="3611880"/>
            <a:ext cx="3017520" cy="310896"/>
          </a:xfrm>
          <a:prstGeom prst="rect">
            <a:avLst/>
          </a:prstGeom>
          <a:noFill/>
          <a:ln/>
        </p:spPr>
        <p:txBody>
          <a:bodyPr wrap="square" lIns="0" tIns="0" rIns="0" bIns="0" rtlCol="0" anchor="ctr"/>
          <a:lstStyle/>
          <a:p>
            <a:pPr indent="0" marL="0">
              <a:buNone/>
            </a:pPr>
            <a:r>
              <a:rPr lang="en-US" sz="1600" b="1" dirty="0">
                <a:solidFill>
                  <a:srgbClr val="C4A574"/>
                </a:solidFill>
                <a:latin typeface="Cambria" pitchFamily="34" charset="0"/>
                <a:ea typeface="Cambria" pitchFamily="34" charset="-122"/>
                <a:cs typeface="Cambria" pitchFamily="34" charset="-120"/>
              </a:rPr>
              <a:t>Keuangan</a:t>
            </a:r>
            <a:endParaRPr lang="en-US" sz="1600" dirty="0"/>
          </a:p>
        </p:txBody>
      </p:sp>
      <p:sp>
        <p:nvSpPr>
          <p:cNvPr id="18" name="Text 16"/>
          <p:cNvSpPr/>
          <p:nvPr/>
        </p:nvSpPr>
        <p:spPr>
          <a:xfrm>
            <a:off x="4654296" y="3977640"/>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B9B3AA"/>
                </a:solidFill>
                <a:latin typeface="Calibri" pitchFamily="34" charset="0"/>
                <a:ea typeface="Calibri" pitchFamily="34" charset="-122"/>
                <a:cs typeface="Calibri" pitchFamily="34" charset="-120"/>
              </a:rPr>
              <a:t>transactions · commission_settings · payouts</a:t>
            </a:r>
            <a:endParaRPr lang="en-US" sz="1150" dirty="0"/>
          </a:p>
        </p:txBody>
      </p:sp>
      <p:sp>
        <p:nvSpPr>
          <p:cNvPr id="19" name="Shape 17"/>
          <p:cNvSpPr/>
          <p:nvPr/>
        </p:nvSpPr>
        <p:spPr>
          <a:xfrm>
            <a:off x="8156448" y="3429000"/>
            <a:ext cx="3529584" cy="1691640"/>
          </a:xfrm>
          <a:prstGeom prst="roundRect">
            <a:avLst>
              <a:gd name="adj" fmla="val 6486"/>
            </a:avLst>
          </a:prstGeom>
          <a:solidFill>
            <a:srgbClr val="1F1F1F"/>
          </a:solidFill>
          <a:ln w="12700">
            <a:solidFill>
              <a:srgbClr val="2E2E2E"/>
            </a:solidFill>
            <a:prstDash val="solid"/>
          </a:ln>
        </p:spPr>
      </p:sp>
      <p:sp>
        <p:nvSpPr>
          <p:cNvPr id="20" name="Text 18"/>
          <p:cNvSpPr/>
          <p:nvPr/>
        </p:nvSpPr>
        <p:spPr>
          <a:xfrm>
            <a:off x="8412480" y="3611880"/>
            <a:ext cx="3017520" cy="310896"/>
          </a:xfrm>
          <a:prstGeom prst="rect">
            <a:avLst/>
          </a:prstGeom>
          <a:noFill/>
          <a:ln/>
        </p:spPr>
        <p:txBody>
          <a:bodyPr wrap="square" lIns="0" tIns="0" rIns="0" bIns="0" rtlCol="0" anchor="ctr"/>
          <a:lstStyle/>
          <a:p>
            <a:pPr indent="0" marL="0">
              <a:buNone/>
            </a:pPr>
            <a:r>
              <a:rPr lang="en-US" sz="1600" b="1" dirty="0">
                <a:solidFill>
                  <a:srgbClr val="C4A574"/>
                </a:solidFill>
                <a:latin typeface="Cambria" pitchFamily="34" charset="0"/>
                <a:ea typeface="Cambria" pitchFamily="34" charset="-122"/>
                <a:cs typeface="Cambria" pitchFamily="34" charset="-120"/>
              </a:rPr>
              <a:t>Konten &amp; Sistem</a:t>
            </a:r>
            <a:endParaRPr lang="en-US" sz="1600" dirty="0"/>
          </a:p>
        </p:txBody>
      </p:sp>
      <p:sp>
        <p:nvSpPr>
          <p:cNvPr id="21" name="Text 19"/>
          <p:cNvSpPr/>
          <p:nvPr/>
        </p:nvSpPr>
        <p:spPr>
          <a:xfrm>
            <a:off x="8412480" y="3977640"/>
            <a:ext cx="3017520" cy="1005840"/>
          </a:xfrm>
          <a:prstGeom prst="rect">
            <a:avLst/>
          </a:prstGeom>
          <a:noFill/>
          <a:ln/>
        </p:spPr>
        <p:txBody>
          <a:bodyPr wrap="square" lIns="0" tIns="0" rIns="0" bIns="0" rtlCol="0" anchor="t"/>
          <a:lstStyle/>
          <a:p>
            <a:pPr indent="0" marL="0">
              <a:lnSpc>
                <a:spcPts val="1600"/>
              </a:lnSpc>
              <a:buNone/>
            </a:pPr>
            <a:r>
              <a:rPr lang="en-US" sz="1150" dirty="0">
                <a:solidFill>
                  <a:srgbClr val="B9B3AA"/>
                </a:solidFill>
                <a:latin typeface="Calibri" pitchFamily="34" charset="0"/>
                <a:ea typeface="Calibri" pitchFamily="34" charset="-122"/>
                <a:cs typeface="Calibri" pitchFamily="34" charset="-120"/>
              </a:rPr>
              <a:t>blogs · testimonials · banners · faqs · galleries · settings · activity_logs · media · cache · jobs</a:t>
            </a:r>
            <a:endParaRPr lang="en-US" sz="1150" dirty="0"/>
          </a:p>
        </p:txBody>
      </p:sp>
      <p:sp>
        <p:nvSpPr>
          <p:cNvPr id="22" name="Text 20"/>
          <p:cNvSpPr/>
          <p:nvPr/>
        </p:nvSpPr>
        <p:spPr>
          <a:xfrm>
            <a:off x="640080" y="5440680"/>
            <a:ext cx="35661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Soft delete</a:t>
            </a:r>
            <a:endParaRPr lang="en-US" sz="1200" dirty="0"/>
          </a:p>
        </p:txBody>
      </p:sp>
      <p:sp>
        <p:nvSpPr>
          <p:cNvPr id="23" name="Text 21"/>
          <p:cNvSpPr/>
          <p:nvPr/>
        </p:nvSpPr>
        <p:spPr>
          <a:xfrm>
            <a:off x="640080" y="5705856"/>
            <a:ext cx="3566160" cy="274320"/>
          </a:xfrm>
          <a:prstGeom prst="rect">
            <a:avLst/>
          </a:prstGeom>
          <a:noFill/>
          <a:ln/>
        </p:spPr>
        <p:txBody>
          <a:bodyPr wrap="square" lIns="0" tIns="0" rIns="0" bIns="0" rtlCol="0" anchor="ctr"/>
          <a:lstStyle/>
          <a:p>
            <a:pPr indent="0" marL="0">
              <a:buNone/>
            </a:pPr>
            <a:r>
              <a:rPr lang="en-US" sz="1150" dirty="0">
                <a:solidFill>
                  <a:srgbClr val="8E8880"/>
                </a:solidFill>
                <a:latin typeface="Calibri" pitchFamily="34" charset="0"/>
                <a:ea typeface="Calibri" pitchFamily="34" charset="-122"/>
                <a:cs typeface="Calibri" pitchFamily="34" charset="-120"/>
              </a:rPr>
              <a:t>vendors, services, bookings, invitations</a:t>
            </a:r>
            <a:endParaRPr lang="en-US" sz="1150" dirty="0"/>
          </a:p>
        </p:txBody>
      </p:sp>
      <p:sp>
        <p:nvSpPr>
          <p:cNvPr id="24" name="Text 22"/>
          <p:cNvSpPr/>
          <p:nvPr/>
        </p:nvSpPr>
        <p:spPr>
          <a:xfrm>
            <a:off x="4398264" y="5440680"/>
            <a:ext cx="35661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Relasi polymorphic</a:t>
            </a:r>
            <a:endParaRPr lang="en-US" sz="1200" dirty="0"/>
          </a:p>
        </p:txBody>
      </p:sp>
      <p:sp>
        <p:nvSpPr>
          <p:cNvPr id="25" name="Text 23"/>
          <p:cNvSpPr/>
          <p:nvPr/>
        </p:nvSpPr>
        <p:spPr>
          <a:xfrm>
            <a:off x="4398264" y="5705856"/>
            <a:ext cx="3566160" cy="274320"/>
          </a:xfrm>
          <a:prstGeom prst="rect">
            <a:avLst/>
          </a:prstGeom>
          <a:noFill/>
          <a:ln/>
        </p:spPr>
        <p:txBody>
          <a:bodyPr wrap="square" lIns="0" tIns="0" rIns="0" bIns="0" rtlCol="0" anchor="ctr"/>
          <a:lstStyle/>
          <a:p>
            <a:pPr indent="0" marL="0">
              <a:buNone/>
            </a:pPr>
            <a:r>
              <a:rPr lang="en-US" sz="1150" dirty="0">
                <a:solidFill>
                  <a:srgbClr val="8E8880"/>
                </a:solidFill>
                <a:latin typeface="Calibri" pitchFamily="34" charset="0"/>
                <a:ea typeface="Calibri" pitchFamily="34" charset="-122"/>
                <a:cs typeface="Calibri" pitchFamily="34" charset="-120"/>
              </a:rPr>
              <a:t>transactions, activity_logs, media</a:t>
            </a:r>
            <a:endParaRPr lang="en-US" sz="1150" dirty="0"/>
          </a:p>
        </p:txBody>
      </p:sp>
      <p:sp>
        <p:nvSpPr>
          <p:cNvPr id="26" name="Text 24"/>
          <p:cNvSpPr/>
          <p:nvPr/>
        </p:nvSpPr>
        <p:spPr>
          <a:xfrm>
            <a:off x="8156448" y="5440680"/>
            <a:ext cx="35661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Kolom JSON</a:t>
            </a:r>
            <a:endParaRPr lang="en-US" sz="1200" dirty="0"/>
          </a:p>
        </p:txBody>
      </p:sp>
      <p:sp>
        <p:nvSpPr>
          <p:cNvPr id="27" name="Text 25"/>
          <p:cNvSpPr/>
          <p:nvPr/>
        </p:nvSpPr>
        <p:spPr>
          <a:xfrm>
            <a:off x="8156448" y="5705856"/>
            <a:ext cx="3566160" cy="274320"/>
          </a:xfrm>
          <a:prstGeom prst="rect">
            <a:avLst/>
          </a:prstGeom>
          <a:noFill/>
          <a:ln/>
        </p:spPr>
        <p:txBody>
          <a:bodyPr wrap="square" lIns="0" tIns="0" rIns="0" bIns="0" rtlCol="0" anchor="ctr"/>
          <a:lstStyle/>
          <a:p>
            <a:pPr indent="0" marL="0">
              <a:buNone/>
            </a:pPr>
            <a:r>
              <a:rPr lang="en-US" sz="1150" dirty="0">
                <a:solidFill>
                  <a:srgbClr val="8E8880"/>
                </a:solidFill>
                <a:latin typeface="Calibri" pitchFamily="34" charset="0"/>
                <a:ea typeface="Calibri" pitchFamily="34" charset="-122"/>
                <a:cs typeface="Calibri" pitchFamily="34" charset="-120"/>
              </a:rPr>
              <a:t>features, content, theme_settings, properties</a:t>
            </a:r>
            <a:endParaRPr lang="en-US" sz="1150" dirty="0"/>
          </a:p>
        </p:txBody>
      </p:sp>
      <p:sp>
        <p:nvSpPr>
          <p:cNvPr id="28" name="Text 26"/>
          <p:cNvSpPr/>
          <p:nvPr/>
        </p:nvSpPr>
        <p:spPr>
          <a:xfrm>
            <a:off x="640080" y="6263640"/>
            <a:ext cx="10881360" cy="274320"/>
          </a:xfrm>
          <a:prstGeom prst="rect">
            <a:avLst/>
          </a:prstGeom>
          <a:noFill/>
          <a:ln/>
        </p:spPr>
        <p:txBody>
          <a:bodyPr wrap="square" lIns="0" tIns="0" rIns="0" bIns="0" rtlCol="0" anchor="ctr"/>
          <a:lstStyle/>
          <a:p>
            <a:pPr indent="0" marL="0">
              <a:buNone/>
            </a:pPr>
            <a:r>
              <a:rPr lang="en-US" sz="1100" dirty="0">
                <a:solidFill>
                  <a:srgbClr val="5F5A55"/>
                </a:solidFill>
                <a:latin typeface="Calibri" pitchFamily="34" charset="0"/>
                <a:ea typeface="Calibri" pitchFamily="34" charset="-122"/>
                <a:cs typeface="Calibri" pitchFamily="34" charset="-120"/>
              </a:rPr>
              <a:t>Terima kasih — BrightDor · Presentasi 1 · 27 Juli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Dokumentasi Aplikasi Website BrightDor</dc:title>
  <dc:subject>PptxGenJS Presentation</dc:subject>
  <dc:creator>BrightDor</dc:creator>
  <cp:lastModifiedBy>BrightDor</cp:lastModifiedBy>
  <cp:revision>1</cp:revision>
  <dcterms:created xsi:type="dcterms:W3CDTF">2026-07-26T10:48:18Z</dcterms:created>
  <dcterms:modified xsi:type="dcterms:W3CDTF">2026-07-26T10:48:18Z</dcterms:modified>
</cp:coreProperties>
</file>